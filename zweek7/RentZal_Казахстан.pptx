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8288000" cy="10287000"/>
  <p:notesSz cx="6858000" cy="9144000"/>
  <p:embeddedFontLst>
    <p:embeddedFont>
      <p:font typeface="Evolventa" panose="020B0604020202020204" charset="0"/>
      <p:regular r:id="rId10"/>
    </p:embeddedFont>
    <p:embeddedFont>
      <p:font typeface="Evolventa Bold" panose="020B0604020202020204" charset="0"/>
      <p:regular r:id="rId11"/>
    </p:embeddedFont>
    <p:embeddedFont>
      <p:font typeface="HK Grotesk Bold" panose="020B0604020202020204" charset="-52"/>
      <p:regular r:id="rId12"/>
    </p:embeddedFont>
    <p:embeddedFont>
      <p:font typeface="HK Grotesk Medium" panose="020B0604020202020204" charset="-52"/>
      <p:regular r:id="rId13"/>
    </p:embeddedFont>
    <p:embeddedFont>
      <p:font typeface="HK Grotesk Semi-Bold" panose="020B0604020202020204" charset="-52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828" y="3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5493" y="1306222"/>
            <a:ext cx="5423319" cy="190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30"/>
              </a:lnSpc>
            </a:pPr>
            <a:r>
              <a:rPr lang="en-US" sz="11630" b="1" spc="-346">
                <a:solidFill>
                  <a:srgbClr val="FFFFFF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RentZal: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1381" y="2931168"/>
            <a:ext cx="8834533" cy="1286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36"/>
              </a:lnSpc>
            </a:pPr>
            <a:r>
              <a:rPr lang="en-US" sz="9636" b="1" spc="-287">
                <a:solidFill>
                  <a:srgbClr val="FFFFFF">
                    <a:alpha val="84706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выход на рынок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2327" y="4105913"/>
            <a:ext cx="6739933" cy="1286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36"/>
              </a:lnSpc>
            </a:pPr>
            <a:r>
              <a:rPr lang="en-US" sz="9636" b="1" spc="-287">
                <a:solidFill>
                  <a:srgbClr val="FFFFFF">
                    <a:alpha val="84706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Казахстана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5564382"/>
            <a:ext cx="1323474" cy="437279"/>
          </a:xfrm>
          <a:custGeom>
            <a:avLst/>
            <a:gdLst/>
            <a:ahLst/>
            <a:cxnLst/>
            <a:rect l="l" t="t" r="r" b="b"/>
            <a:pathLst>
              <a:path w="1323474" h="437279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58052" y="6283793"/>
            <a:ext cx="3846345" cy="987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953" spc="-59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Совместная аренда спортивных залов.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1617" y="7298366"/>
            <a:ext cx="3489831" cy="614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b="1" spc="-67">
                <a:solidFill>
                  <a:srgbClr val="A2B923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Пилот в Алматы</a:t>
            </a:r>
          </a:p>
        </p:txBody>
      </p:sp>
      <p:sp>
        <p:nvSpPr>
          <p:cNvPr id="9" name="Freeform 9"/>
          <p:cNvSpPr/>
          <p:nvPr/>
        </p:nvSpPr>
        <p:spPr>
          <a:xfrm>
            <a:off x="645330" y="8570678"/>
            <a:ext cx="3281340" cy="863627"/>
          </a:xfrm>
          <a:custGeom>
            <a:avLst/>
            <a:gdLst/>
            <a:ahLst/>
            <a:cxnLst/>
            <a:rect l="l" t="t" r="r" b="b"/>
            <a:pathLst>
              <a:path w="3281340" h="863627">
                <a:moveTo>
                  <a:pt x="0" y="0"/>
                </a:moveTo>
                <a:lnTo>
                  <a:pt x="3281340" y="0"/>
                </a:lnTo>
                <a:lnTo>
                  <a:pt x="328134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42063" y="8749436"/>
            <a:ext cx="2685551" cy="387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8"/>
              </a:lnSpc>
            </a:pPr>
            <a:r>
              <a:rPr lang="en-US" sz="2223" b="1" spc="-44">
                <a:solidFill>
                  <a:srgbClr val="A2B923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Учебный сценарий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01866" y="0"/>
            <a:ext cx="7186134" cy="10287000"/>
          </a:xfrm>
          <a:custGeom>
            <a:avLst/>
            <a:gdLst/>
            <a:ahLst/>
            <a:cxnLst/>
            <a:rect l="l" t="t" r="r" b="b"/>
            <a:pathLst>
              <a:path w="7186134" h="10287000">
                <a:moveTo>
                  <a:pt x="0" y="0"/>
                </a:moveTo>
                <a:lnTo>
                  <a:pt x="7186134" y="0"/>
                </a:lnTo>
                <a:lnTo>
                  <a:pt x="71861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883110" y="0"/>
            <a:ext cx="2625072" cy="10287000"/>
          </a:xfrm>
          <a:custGeom>
            <a:avLst/>
            <a:gdLst/>
            <a:ahLst/>
            <a:cxnLst/>
            <a:rect l="l" t="t" r="r" b="b"/>
            <a:pathLst>
              <a:path w="2625072" h="10287000">
                <a:moveTo>
                  <a:pt x="0" y="0"/>
                </a:moveTo>
                <a:lnTo>
                  <a:pt x="2625072" y="0"/>
                </a:lnTo>
                <a:lnTo>
                  <a:pt x="262507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19223" y="751518"/>
            <a:ext cx="4334712" cy="1211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03"/>
              </a:lnSpc>
            </a:pPr>
            <a:r>
              <a:rPr lang="en-US" sz="7403" b="1" spc="-72">
                <a:solidFill>
                  <a:srgbClr val="FFFFFF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ПРОДУКТ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8993" y="1754366"/>
            <a:ext cx="8357768" cy="1180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64"/>
              </a:lnSpc>
            </a:pPr>
            <a:r>
              <a:rPr lang="en-US" sz="7264" b="1" spc="-70">
                <a:solidFill>
                  <a:srgbClr val="FFFFFF">
                    <a:alpha val="80000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И ПОЛЬЗОВАТЕЛИ</a:t>
            </a:r>
          </a:p>
        </p:txBody>
      </p:sp>
      <p:sp>
        <p:nvSpPr>
          <p:cNvPr id="7" name="Freeform 7"/>
          <p:cNvSpPr/>
          <p:nvPr/>
        </p:nvSpPr>
        <p:spPr>
          <a:xfrm>
            <a:off x="426574" y="3214004"/>
            <a:ext cx="1104718" cy="218640"/>
          </a:xfrm>
          <a:custGeom>
            <a:avLst/>
            <a:gdLst/>
            <a:ahLst/>
            <a:cxnLst/>
            <a:rect l="l" t="t" r="r" b="b"/>
            <a:pathLst>
              <a:path w="1104718" h="218640">
                <a:moveTo>
                  <a:pt x="0" y="0"/>
                </a:moveTo>
                <a:lnTo>
                  <a:pt x="1104718" y="0"/>
                </a:lnTo>
                <a:lnTo>
                  <a:pt x="110471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31822" y="3738288"/>
            <a:ext cx="3074878" cy="449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1" spc="-22">
                <a:solidFill>
                  <a:srgbClr val="B7C429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ДЛЯ СПОРТСМЕНОВ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9645" y="4307309"/>
            <a:ext cx="5292548" cy="74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179" b="1" spc="-21">
                <a:solidFill>
                  <a:srgbClr val="FFFFFF">
                    <a:alpha val="80000"/>
                  </a:srgbClr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находят подходящий зал, удобный слот и соарендаторов для игры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3663" y="5530528"/>
            <a:ext cx="3890760" cy="449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1" spc="-22">
                <a:solidFill>
                  <a:srgbClr val="B7C429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ДЛЯ ВЛАДЕЛЬЦЕВ ЗАЛОВ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6882" y="6084846"/>
            <a:ext cx="5568784" cy="382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 b="1" spc="-22">
                <a:solidFill>
                  <a:srgbClr val="FFFFFF">
                    <a:alpha val="80000"/>
                  </a:srgbClr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публикуют свободные слоты для аренды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958" y="6946247"/>
            <a:ext cx="1961190" cy="449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1" spc="-22">
                <a:solidFill>
                  <a:srgbClr val="B7C429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ПЛАТФОРМА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8725" y="7523843"/>
            <a:ext cx="5384534" cy="367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179" b="1" spc="-21">
                <a:solidFill>
                  <a:srgbClr val="FFFFFF">
                    <a:alpha val="80000"/>
                  </a:srgbClr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объединяет разные виды спорта и залы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3659" y="8946287"/>
            <a:ext cx="4891083" cy="39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-23">
                <a:solidFill>
                  <a:srgbClr val="FFFFFF">
                    <a:alpha val="80000"/>
                  </a:srgbClr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комиссия с каждого бронирования</a:t>
            </a:r>
          </a:p>
        </p:txBody>
      </p:sp>
      <p:sp>
        <p:nvSpPr>
          <p:cNvPr id="15" name="Freeform 15"/>
          <p:cNvSpPr/>
          <p:nvPr/>
        </p:nvSpPr>
        <p:spPr>
          <a:xfrm>
            <a:off x="6311110" y="3848060"/>
            <a:ext cx="229694" cy="5586245"/>
          </a:xfrm>
          <a:custGeom>
            <a:avLst/>
            <a:gdLst/>
            <a:ahLst/>
            <a:cxnLst/>
            <a:rect l="l" t="t" r="r" b="b"/>
            <a:pathLst>
              <a:path w="229694" h="5586245">
                <a:moveTo>
                  <a:pt x="0" y="0"/>
                </a:moveTo>
                <a:lnTo>
                  <a:pt x="229694" y="0"/>
                </a:lnTo>
                <a:lnTo>
                  <a:pt x="229694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833538" y="4307309"/>
            <a:ext cx="2446231" cy="74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179" b="1" spc="-21">
                <a:solidFill>
                  <a:srgbClr val="FFFFFF">
                    <a:alpha val="80000"/>
                  </a:srgbClr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основные функции реализованы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26518" y="5261598"/>
            <a:ext cx="3148199" cy="1330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b="1" spc="-25">
                <a:solidFill>
                  <a:srgbClr val="FFFFFF">
                    <a:alpha val="80000"/>
                  </a:srgbClr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онлайн-оплаты нет</a:t>
            </a:r>
          </a:p>
          <a:p>
            <a:pPr algn="l">
              <a:lnSpc>
                <a:spcPts val="3605"/>
              </a:lnSpc>
            </a:pPr>
            <a:endParaRPr lang="en-US" sz="2575" b="1" spc="-25">
              <a:solidFill>
                <a:srgbClr val="FFFFFF">
                  <a:alpha val="80000"/>
                </a:srgbClr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algn="l">
              <a:lnSpc>
                <a:spcPts val="3605"/>
              </a:lnSpc>
            </a:pPr>
            <a:r>
              <a:rPr lang="en-US" sz="2575" b="1" spc="-25">
                <a:solidFill>
                  <a:srgbClr val="FFFFFF">
                    <a:alpha val="80000"/>
                  </a:srgbClr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в разработке</a:t>
            </a:r>
          </a:p>
        </p:txBody>
      </p:sp>
      <p:sp>
        <p:nvSpPr>
          <p:cNvPr id="18" name="Freeform 18"/>
          <p:cNvSpPr/>
          <p:nvPr/>
        </p:nvSpPr>
        <p:spPr>
          <a:xfrm>
            <a:off x="6748622" y="6854356"/>
            <a:ext cx="3926670" cy="218640"/>
          </a:xfrm>
          <a:custGeom>
            <a:avLst/>
            <a:gdLst/>
            <a:ahLst/>
            <a:cxnLst/>
            <a:rect l="l" t="t" r="r" b="b"/>
            <a:pathLst>
              <a:path w="3926670" h="218640">
                <a:moveTo>
                  <a:pt x="0" y="0"/>
                </a:moveTo>
                <a:lnTo>
                  <a:pt x="3926670" y="0"/>
                </a:lnTo>
                <a:lnTo>
                  <a:pt x="392667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820375" y="7187221"/>
            <a:ext cx="3762484" cy="824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1" spc="-22">
                <a:solidFill>
                  <a:srgbClr val="B7C429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ГИПОТЕЗА СОВМЕСТНОЙ АРЕНДЫ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17821" y="8144020"/>
            <a:ext cx="4017926" cy="1116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179" b="1" spc="-21">
                <a:solidFill>
                  <a:srgbClr val="FFFFFF">
                    <a:alpha val="80000"/>
                  </a:srgbClr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организатор выбирает слот, участники делят стоимость (рабочая гипотеза)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31708" y="3738288"/>
            <a:ext cx="2629221" cy="449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1" spc="-22" dirty="0">
                <a:solidFill>
                  <a:srgbClr val="B7C429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ТЕКУЩИЙ СТАТУС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3557" y="8392088"/>
            <a:ext cx="2901284" cy="449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1" spc="-22">
                <a:solidFill>
                  <a:srgbClr val="B7C429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МОДЕЛЬ ДОХОДА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6974" y="242807"/>
            <a:ext cx="10238563" cy="1487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95"/>
              </a:lnSpc>
            </a:pPr>
            <a:r>
              <a:rPr lang="en-US" sz="7354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ПЕРВЫЙ РЫНОК В СНГ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7046" y="1622145"/>
            <a:ext cx="9910257" cy="56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6"/>
              </a:lnSpc>
            </a:pPr>
            <a:r>
              <a:rPr lang="en-US" sz="3304" b="1">
                <a:solidFill>
                  <a:srgbClr val="ACBD32">
                    <a:alpha val="94902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сравнительный анализ для пилотного запуска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2350377"/>
            <a:ext cx="1104718" cy="229572"/>
          </a:xfrm>
          <a:custGeom>
            <a:avLst/>
            <a:gdLst/>
            <a:ahLst/>
            <a:cxnLst/>
            <a:rect l="l" t="t" r="r" b="b"/>
            <a:pathLst>
              <a:path w="1104718" h="229572">
                <a:moveTo>
                  <a:pt x="0" y="0"/>
                </a:moveTo>
                <a:lnTo>
                  <a:pt x="1104718" y="0"/>
                </a:lnTo>
                <a:lnTo>
                  <a:pt x="1104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6574" y="2776725"/>
            <a:ext cx="17434852" cy="874559"/>
          </a:xfrm>
          <a:custGeom>
            <a:avLst/>
            <a:gdLst/>
            <a:ahLst/>
            <a:cxnLst/>
            <a:rect l="l" t="t" r="r" b="b"/>
            <a:pathLst>
              <a:path w="17434852" h="874559">
                <a:moveTo>
                  <a:pt x="0" y="0"/>
                </a:moveTo>
                <a:lnTo>
                  <a:pt x="17434852" y="0"/>
                </a:lnTo>
                <a:lnTo>
                  <a:pt x="1743485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38933" y="2881185"/>
            <a:ext cx="2819863" cy="54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59" b="1">
                <a:solidFill>
                  <a:srgbClr val="081A26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Страна / Город</a:t>
            </a:r>
          </a:p>
        </p:txBody>
      </p:sp>
      <p:sp>
        <p:nvSpPr>
          <p:cNvPr id="8" name="Freeform 8"/>
          <p:cNvSpPr/>
          <p:nvPr/>
        </p:nvSpPr>
        <p:spPr>
          <a:xfrm>
            <a:off x="4134488" y="2776725"/>
            <a:ext cx="229694" cy="874559"/>
          </a:xfrm>
          <a:custGeom>
            <a:avLst/>
            <a:gdLst/>
            <a:ahLst/>
            <a:cxnLst/>
            <a:rect l="l" t="t" r="r" b="b"/>
            <a:pathLst>
              <a:path w="229694" h="874559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981778" y="2881185"/>
            <a:ext cx="3041999" cy="54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59" b="1">
                <a:solidFill>
                  <a:srgbClr val="081A26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Причины выбора</a:t>
            </a:r>
          </a:p>
        </p:txBody>
      </p:sp>
      <p:sp>
        <p:nvSpPr>
          <p:cNvPr id="10" name="Freeform 10"/>
          <p:cNvSpPr/>
          <p:nvPr/>
        </p:nvSpPr>
        <p:spPr>
          <a:xfrm>
            <a:off x="8706488" y="2776725"/>
            <a:ext cx="229694" cy="874559"/>
          </a:xfrm>
          <a:custGeom>
            <a:avLst/>
            <a:gdLst/>
            <a:ahLst/>
            <a:cxnLst/>
            <a:rect l="l" t="t" r="r" b="b"/>
            <a:pathLst>
              <a:path w="229694" h="874559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895529" y="2881185"/>
            <a:ext cx="2460472" cy="54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59" b="1">
                <a:solidFill>
                  <a:srgbClr val="081A26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Особенности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278488" y="2776725"/>
            <a:ext cx="229694" cy="874559"/>
          </a:xfrm>
          <a:custGeom>
            <a:avLst/>
            <a:gdLst/>
            <a:ahLst/>
            <a:cxnLst/>
            <a:rect l="l" t="t" r="r" b="b"/>
            <a:pathLst>
              <a:path w="229694" h="874559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4443678" y="2889441"/>
            <a:ext cx="2092052" cy="5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sz="2707" b="1">
                <a:solidFill>
                  <a:srgbClr val="081A26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Требования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3692" y="3929403"/>
            <a:ext cx="2429197" cy="952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2"/>
              </a:lnSpc>
            </a:pPr>
            <a:r>
              <a:rPr lang="en-US" sz="3032" b="1">
                <a:solidFill>
                  <a:srgbClr val="ACBD32">
                    <a:alpha val="94902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КАЗАХСТАН</a:t>
            </a:r>
          </a:p>
          <a:p>
            <a:pPr algn="l">
              <a:lnSpc>
                <a:spcPts val="3882"/>
              </a:lnSpc>
            </a:pPr>
            <a:r>
              <a:rPr lang="en-US" sz="3032" b="1">
                <a:solidFill>
                  <a:srgbClr val="FFFFFF">
                    <a:alpha val="94902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АЛМАТЫ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41829" y="3954606"/>
            <a:ext cx="3910066" cy="1063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1924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выбран для пилота подтверждённые сервисы крупная городская аудитория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67536" y="3928000"/>
            <a:ext cx="3542538" cy="1114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входит в ЕАЭС</a:t>
            </a:r>
          </a:p>
          <a:p>
            <a:pPr algn="l">
              <a:lnSpc>
                <a:spcPts val="2866"/>
              </a:lnSpc>
            </a:pPr>
            <a:r>
              <a:rPr lang="en-US" sz="2047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развитая инфраструктура цифровых сервисов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67536" y="3949037"/>
            <a:ext cx="2883162" cy="732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местные требования</a:t>
            </a:r>
          </a:p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к платежам и данным</a:t>
            </a:r>
          </a:p>
        </p:txBody>
      </p:sp>
      <p:sp>
        <p:nvSpPr>
          <p:cNvPr id="18" name="Freeform 18"/>
          <p:cNvSpPr/>
          <p:nvPr/>
        </p:nvSpPr>
        <p:spPr>
          <a:xfrm>
            <a:off x="426574" y="5356674"/>
            <a:ext cx="17434852" cy="218640"/>
          </a:xfrm>
          <a:custGeom>
            <a:avLst/>
            <a:gdLst/>
            <a:ahLst/>
            <a:cxnLst/>
            <a:rect l="l" t="t" r="r" b="b"/>
            <a:pathLst>
              <a:path w="17434852" h="218640">
                <a:moveTo>
                  <a:pt x="0" y="0"/>
                </a:moveTo>
                <a:lnTo>
                  <a:pt x="17434852" y="0"/>
                </a:lnTo>
                <a:lnTo>
                  <a:pt x="1743485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93949" y="5671763"/>
            <a:ext cx="2403500" cy="10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896" b="1">
                <a:solidFill>
                  <a:srgbClr val="ACBD32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УЗБЕКИСТАН</a:t>
            </a:r>
          </a:p>
          <a:p>
            <a:pPr algn="l">
              <a:lnSpc>
                <a:spcPts val="3707"/>
              </a:lnSpc>
            </a:pPr>
            <a:r>
              <a:rPr lang="en-US" sz="2896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ТАШКЕНТ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46943" y="5726217"/>
            <a:ext cx="3398690" cy="107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альтернатива</a:t>
            </a:r>
          </a:p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требует проверки спроса</a:t>
            </a:r>
          </a:p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и локализации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54476" y="5861764"/>
            <a:ext cx="2169592" cy="732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растущий рынок</a:t>
            </a:r>
          </a:p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цифровых услуг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65240" y="5861764"/>
            <a:ext cx="3112690" cy="732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необходима адаптация</a:t>
            </a:r>
          </a:p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к локальным условиям</a:t>
            </a:r>
          </a:p>
        </p:txBody>
      </p:sp>
      <p:sp>
        <p:nvSpPr>
          <p:cNvPr id="23" name="Freeform 23"/>
          <p:cNvSpPr/>
          <p:nvPr/>
        </p:nvSpPr>
        <p:spPr>
          <a:xfrm>
            <a:off x="426574" y="7062064"/>
            <a:ext cx="17434852" cy="229572"/>
          </a:xfrm>
          <a:custGeom>
            <a:avLst/>
            <a:gdLst/>
            <a:ahLst/>
            <a:cxnLst/>
            <a:rect l="l" t="t" r="r" b="b"/>
            <a:pathLst>
              <a:path w="17434852" h="229572">
                <a:moveTo>
                  <a:pt x="0" y="0"/>
                </a:moveTo>
                <a:lnTo>
                  <a:pt x="17434852" y="0"/>
                </a:lnTo>
                <a:lnTo>
                  <a:pt x="1743485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91787" y="7483761"/>
            <a:ext cx="2619706" cy="952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2"/>
              </a:lnSpc>
            </a:pPr>
            <a:r>
              <a:rPr lang="en-US" sz="3032" b="1">
                <a:solidFill>
                  <a:srgbClr val="ACBD32">
                    <a:alpha val="94902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КЫРГЫЗСТАН</a:t>
            </a:r>
          </a:p>
          <a:p>
            <a:pPr algn="l">
              <a:lnSpc>
                <a:spcPts val="3882"/>
              </a:lnSpc>
            </a:pPr>
            <a:r>
              <a:rPr lang="en-US" sz="3032" b="1">
                <a:solidFill>
                  <a:srgbClr val="FFFFFF">
                    <a:alpha val="94902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БИШКЕК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43214" y="7413031"/>
            <a:ext cx="3771609" cy="141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альтернатива</a:t>
            </a:r>
          </a:p>
          <a:p>
            <a:pPr algn="l">
              <a:lnSpc>
                <a:spcPts val="2780"/>
              </a:lnSpc>
            </a:pPr>
            <a:r>
              <a:rPr lang="en-US" sz="1986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требует оценки плотности площадок и платёжеспособного спроса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44368" y="7527201"/>
            <a:ext cx="3180351" cy="1063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1924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входит в ЕАЭС перспективный рынок</a:t>
            </a:r>
          </a:p>
          <a:p>
            <a:pPr algn="l">
              <a:lnSpc>
                <a:spcPts val="2694"/>
              </a:lnSpc>
            </a:pPr>
            <a:r>
              <a:rPr lang="en-US" sz="1924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для развития платформы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791887" y="7427996"/>
            <a:ext cx="3126933" cy="1173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179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необходима оценка платёжных решений</a:t>
            </a:r>
          </a:p>
          <a:p>
            <a:pPr algn="l">
              <a:lnSpc>
                <a:spcPts val="3051"/>
              </a:lnSpc>
            </a:pPr>
            <a:r>
              <a:rPr lang="en-US" sz="2179" b="1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и локальных нюансов</a:t>
            </a:r>
          </a:p>
        </p:txBody>
      </p:sp>
      <p:sp>
        <p:nvSpPr>
          <p:cNvPr id="28" name="Freeform 28"/>
          <p:cNvSpPr/>
          <p:nvPr/>
        </p:nvSpPr>
        <p:spPr>
          <a:xfrm>
            <a:off x="4134488" y="3640352"/>
            <a:ext cx="229694" cy="5575313"/>
          </a:xfrm>
          <a:custGeom>
            <a:avLst/>
            <a:gdLst/>
            <a:ahLst/>
            <a:cxnLst/>
            <a:rect l="l" t="t" r="r" b="b"/>
            <a:pathLst>
              <a:path w="229694" h="5575313">
                <a:moveTo>
                  <a:pt x="0" y="0"/>
                </a:moveTo>
                <a:lnTo>
                  <a:pt x="229694" y="0"/>
                </a:lnTo>
                <a:lnTo>
                  <a:pt x="229694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706488" y="3640352"/>
            <a:ext cx="229694" cy="5575313"/>
          </a:xfrm>
          <a:custGeom>
            <a:avLst/>
            <a:gdLst/>
            <a:ahLst/>
            <a:cxnLst/>
            <a:rect l="l" t="t" r="r" b="b"/>
            <a:pathLst>
              <a:path w="229694" h="5575313">
                <a:moveTo>
                  <a:pt x="0" y="0"/>
                </a:moveTo>
                <a:lnTo>
                  <a:pt x="229694" y="0"/>
                </a:lnTo>
                <a:lnTo>
                  <a:pt x="229694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3278488" y="3640352"/>
            <a:ext cx="229694" cy="5575313"/>
          </a:xfrm>
          <a:custGeom>
            <a:avLst/>
            <a:gdLst/>
            <a:ahLst/>
            <a:cxnLst/>
            <a:rect l="l" t="t" r="r" b="b"/>
            <a:pathLst>
              <a:path w="229694" h="5575313">
                <a:moveTo>
                  <a:pt x="0" y="0"/>
                </a:moveTo>
                <a:lnTo>
                  <a:pt x="229694" y="0"/>
                </a:lnTo>
                <a:lnTo>
                  <a:pt x="229694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535198" y="9265315"/>
            <a:ext cx="5416165" cy="439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 b="1">
                <a:solidFill>
                  <a:srgbClr val="ACBD32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Источники: </a:t>
            </a:r>
            <a:r>
              <a:rPr lang="en-US" sz="2271">
                <a:solidFill>
                  <a:srgbClr val="FFFFFF">
                    <a:alpha val="94902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stat.gov.kz, eaeunion.org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22220" y="1071335"/>
            <a:ext cx="5665780" cy="9215665"/>
          </a:xfrm>
          <a:custGeom>
            <a:avLst/>
            <a:gdLst/>
            <a:ahLst/>
            <a:cxnLst/>
            <a:rect l="l" t="t" r="r" b="b"/>
            <a:pathLst>
              <a:path w="5665780" h="9215665">
                <a:moveTo>
                  <a:pt x="0" y="0"/>
                </a:moveTo>
                <a:lnTo>
                  <a:pt x="5665780" y="0"/>
                </a:lnTo>
                <a:lnTo>
                  <a:pt x="5665780" y="9215665"/>
                </a:lnTo>
                <a:lnTo>
                  <a:pt x="0" y="92156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8160" y="453058"/>
            <a:ext cx="11798821" cy="2278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35"/>
              </a:lnSpc>
            </a:pPr>
            <a:r>
              <a:rPr lang="en-US" sz="6985" b="1">
                <a:solidFill>
                  <a:srgbClr val="FFFFFF">
                    <a:alpha val="89804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КОНКУРЕНЦИЯ</a:t>
            </a:r>
          </a:p>
          <a:p>
            <a:pPr algn="l">
              <a:lnSpc>
                <a:spcPts val="8035"/>
              </a:lnSpc>
            </a:pPr>
            <a:r>
              <a:rPr lang="en-US" sz="6985" b="1">
                <a:solidFill>
                  <a:srgbClr val="FFFFFF">
                    <a:alpha val="89804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И ПРОВЕРЯЕМОЕ ОТЛИЧИЕ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2995365"/>
            <a:ext cx="1104718" cy="229572"/>
          </a:xfrm>
          <a:custGeom>
            <a:avLst/>
            <a:gdLst/>
            <a:ahLst/>
            <a:cxnLst/>
            <a:rect l="l" t="t" r="r" b="b"/>
            <a:pathLst>
              <a:path w="1104718" h="229572">
                <a:moveTo>
                  <a:pt x="0" y="0"/>
                </a:moveTo>
                <a:lnTo>
                  <a:pt x="1104718" y="0"/>
                </a:lnTo>
                <a:lnTo>
                  <a:pt x="1104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06116" y="3496883"/>
            <a:ext cx="3682119" cy="335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311" b="1">
                <a:solidFill>
                  <a:srgbClr val="B2C02E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КОНКУРЕНЦИЯ СЕГОДНЯ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0361" y="4069195"/>
            <a:ext cx="1257661" cy="335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311" b="1">
                <a:solidFill>
                  <a:srgbClr val="FFFFFF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SportTap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1905" y="4391401"/>
            <a:ext cx="4103229" cy="721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платформа с разными видами</a:t>
            </a:r>
          </a:p>
          <a:p>
            <a:pPr algn="l">
              <a:lnSpc>
                <a:spcPts val="2794"/>
              </a:lnSpc>
            </a:pPr>
            <a:r>
              <a:rPr lang="en-US" sz="1863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спорта, картой и бронированием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2442" y="5458679"/>
            <a:ext cx="2049566" cy="30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153" b="1">
                <a:solidFill>
                  <a:srgbClr val="FFFFFF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Альтернативы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4724" y="5751418"/>
            <a:ext cx="4821340" cy="797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86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прямое бронирование у залов, спортивные группы в мессенджерах</a:t>
            </a:r>
          </a:p>
        </p:txBody>
      </p:sp>
      <p:sp>
        <p:nvSpPr>
          <p:cNvPr id="11" name="Freeform 11"/>
          <p:cNvSpPr/>
          <p:nvPr/>
        </p:nvSpPr>
        <p:spPr>
          <a:xfrm>
            <a:off x="6092354" y="4066699"/>
            <a:ext cx="875024" cy="2579949"/>
          </a:xfrm>
          <a:custGeom>
            <a:avLst/>
            <a:gdLst/>
            <a:ahLst/>
            <a:cxnLst/>
            <a:rect l="l" t="t" r="r" b="b"/>
            <a:pathLst>
              <a:path w="875024" h="2579949">
                <a:moveTo>
                  <a:pt x="0" y="0"/>
                </a:moveTo>
                <a:lnTo>
                  <a:pt x="875024" y="0"/>
                </a:lnTo>
                <a:lnTo>
                  <a:pt x="87502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446152" y="3497007"/>
            <a:ext cx="2799650" cy="335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2271" b="1">
                <a:solidFill>
                  <a:srgbClr val="B2C02E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ГИПОТЕЗА RENTZAL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38223" y="4014824"/>
            <a:ext cx="3592523" cy="78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собираем </a:t>
            </a:r>
            <a:r>
              <a:rPr lang="en-US" sz="2047" b="1">
                <a:solidFill>
                  <a:srgbClr val="B2C02E">
                    <a:alpha val="89804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соарендаторов</a:t>
            </a:r>
          </a:p>
          <a:p>
            <a:pPr algn="l">
              <a:lnSpc>
                <a:spcPts val="3071"/>
              </a:lnSpc>
            </a:pPr>
            <a:r>
              <a:rPr lang="en-US" sz="2047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вокруг конкретного слота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2658" y="5069083"/>
            <a:ext cx="3149034" cy="78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>
                <a:solidFill>
                  <a:srgbClr val="B2C02E">
                    <a:alpha val="89804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прозрачная</a:t>
            </a:r>
            <a:r>
              <a:rPr lang="en-US" sz="2047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 доля</a:t>
            </a:r>
          </a:p>
          <a:p>
            <a:pPr algn="l">
              <a:lnSpc>
                <a:spcPts val="3071"/>
              </a:lnSpc>
            </a:pPr>
            <a:r>
              <a:rPr lang="en-US" sz="2047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стоимости для каждого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40577" y="6138403"/>
            <a:ext cx="3357154" cy="78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помогаем </a:t>
            </a:r>
            <a:r>
              <a:rPr lang="en-US" sz="2047" b="1">
                <a:solidFill>
                  <a:srgbClr val="B2C02E">
                    <a:alpha val="89804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сформировать</a:t>
            </a:r>
          </a:p>
          <a:p>
            <a:pPr algn="l">
              <a:lnSpc>
                <a:spcPts val="3071"/>
              </a:lnSpc>
            </a:pPr>
            <a:r>
              <a:rPr lang="en-US" sz="2047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игровую группу</a:t>
            </a:r>
          </a:p>
        </p:txBody>
      </p:sp>
      <p:sp>
        <p:nvSpPr>
          <p:cNvPr id="16" name="Freeform 16"/>
          <p:cNvSpPr/>
          <p:nvPr/>
        </p:nvSpPr>
        <p:spPr>
          <a:xfrm>
            <a:off x="426574" y="6854356"/>
            <a:ext cx="5676718" cy="1082267"/>
          </a:xfrm>
          <a:custGeom>
            <a:avLst/>
            <a:gdLst/>
            <a:ahLst/>
            <a:cxnLst/>
            <a:rect l="l" t="t" r="r" b="b"/>
            <a:pathLst>
              <a:path w="5676718" h="1082267">
                <a:moveTo>
                  <a:pt x="0" y="0"/>
                </a:moveTo>
                <a:lnTo>
                  <a:pt x="5676718" y="0"/>
                </a:lnTo>
                <a:lnTo>
                  <a:pt x="5676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11838" y="7006059"/>
            <a:ext cx="2577904" cy="335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311" b="1" dirty="0" err="1">
                <a:solidFill>
                  <a:srgbClr val="B2C02E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широкий</a:t>
            </a:r>
            <a:r>
              <a:rPr lang="en-US" sz="2311" b="1" dirty="0">
                <a:solidFill>
                  <a:srgbClr val="B2C02E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2311" b="1" dirty="0" err="1">
                <a:solidFill>
                  <a:srgbClr val="B2C02E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каталог</a:t>
            </a:r>
            <a:endParaRPr lang="en-US" sz="2311" b="1" dirty="0">
              <a:solidFill>
                <a:srgbClr val="B2C02E">
                  <a:alpha val="89804"/>
                </a:srgbClr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426574" y="8133399"/>
            <a:ext cx="11550316" cy="229572"/>
          </a:xfrm>
          <a:custGeom>
            <a:avLst/>
            <a:gdLst/>
            <a:ahLst/>
            <a:cxnLst/>
            <a:rect l="l" t="t" r="r" b="b"/>
            <a:pathLst>
              <a:path w="11550316" h="229572">
                <a:moveTo>
                  <a:pt x="0" y="0"/>
                </a:moveTo>
                <a:lnTo>
                  <a:pt x="11550316" y="0"/>
                </a:lnTo>
                <a:lnTo>
                  <a:pt x="1155031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18795" y="8316352"/>
            <a:ext cx="2414227" cy="335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311" b="1">
                <a:solidFill>
                  <a:srgbClr val="B2C02E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КАК ПРОВЕРЯЕМ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1489" y="8532352"/>
            <a:ext cx="1539398" cy="398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B2C02E">
                    <a:alpha val="89804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20 </a:t>
            </a:r>
            <a:r>
              <a:rPr lang="en-US" sz="1916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интервью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3190" y="8878751"/>
            <a:ext cx="2369266" cy="398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B2C02E">
                    <a:alpha val="89804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Со</a:t>
            </a:r>
            <a:r>
              <a:rPr lang="en-US" sz="1916" b="1">
                <a:solidFill>
                  <a:srgbClr val="FFFFFF">
                    <a:alpha val="89804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 спортсменами</a:t>
            </a:r>
          </a:p>
        </p:txBody>
      </p:sp>
      <p:sp>
        <p:nvSpPr>
          <p:cNvPr id="22" name="Freeform 22"/>
          <p:cNvSpPr/>
          <p:nvPr/>
        </p:nvSpPr>
        <p:spPr>
          <a:xfrm>
            <a:off x="3696976" y="8778386"/>
            <a:ext cx="1312536" cy="437279"/>
          </a:xfrm>
          <a:custGeom>
            <a:avLst/>
            <a:gdLst/>
            <a:ahLst/>
            <a:cxnLst/>
            <a:rect l="l" t="t" r="r" b="b"/>
            <a:pathLst>
              <a:path w="1312536" h="437279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235262" y="8532352"/>
            <a:ext cx="1539398" cy="398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B2C02E">
                    <a:alpha val="89804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10 </a:t>
            </a:r>
            <a:r>
              <a:rPr lang="en-US" sz="1916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интервью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27466" y="8903002"/>
            <a:ext cx="2318983" cy="346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с владельцами залов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31464" y="8778386"/>
            <a:ext cx="1104718" cy="437279"/>
          </a:xfrm>
          <a:custGeom>
            <a:avLst/>
            <a:gdLst/>
            <a:ahLst/>
            <a:cxnLst/>
            <a:rect l="l" t="t" r="r" b="b"/>
            <a:pathLst>
              <a:path w="1104718" h="437279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192227" y="8532352"/>
            <a:ext cx="2321080" cy="398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>
                <a:solidFill>
                  <a:srgbClr val="B2C02E">
                    <a:alpha val="89804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10 </a:t>
            </a:r>
            <a:r>
              <a:rPr lang="en-US" sz="1916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совместных игр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4350" y="8903002"/>
            <a:ext cx="2108782" cy="650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тестируем гипотезу</a:t>
            </a:r>
          </a:p>
          <a:p>
            <a:pPr algn="l">
              <a:lnSpc>
                <a:spcPts val="2425"/>
              </a:lnSpc>
            </a:pPr>
            <a:r>
              <a:rPr lang="en-US" sz="1617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на практике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9881" y="7298088"/>
            <a:ext cx="4773645" cy="411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>
                <a:solidFill>
                  <a:srgbClr val="FFFFFF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не даёт устойчивого преимущества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0469" y="9671105"/>
            <a:ext cx="2246877" cy="346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>
                <a:solidFill>
                  <a:srgbClr val="B2C02E">
                    <a:alpha val="89804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Источник: sporttap.kz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528440" y="426348"/>
            <a:ext cx="6332986" cy="9434305"/>
          </a:xfrm>
          <a:custGeom>
            <a:avLst/>
            <a:gdLst/>
            <a:ahLst/>
            <a:cxnLst/>
            <a:rect l="l" t="t" r="r" b="b"/>
            <a:pathLst>
              <a:path w="6332986" h="9434305">
                <a:moveTo>
                  <a:pt x="0" y="0"/>
                </a:moveTo>
                <a:lnTo>
                  <a:pt x="6332986" y="0"/>
                </a:lnTo>
                <a:lnTo>
                  <a:pt x="6332986" y="9434304"/>
                </a:lnTo>
                <a:lnTo>
                  <a:pt x="0" y="943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1646" y="315409"/>
            <a:ext cx="5771387" cy="123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92"/>
              </a:lnSpc>
            </a:pPr>
            <a:r>
              <a:rPr lang="en-US" sz="7492" b="1" spc="-149">
                <a:solidFill>
                  <a:srgbClr val="F8F8F8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АДАПТАЦИЯ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8405" y="1365805"/>
            <a:ext cx="9095443" cy="131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16"/>
              </a:lnSpc>
            </a:pPr>
            <a:r>
              <a:rPr lang="en-US" sz="8016" b="1" spc="-160">
                <a:solidFill>
                  <a:srgbClr val="F2F2F2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ДЛЯ КАЗАХСТАНА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2776725"/>
            <a:ext cx="1323474" cy="448211"/>
          </a:xfrm>
          <a:custGeom>
            <a:avLst/>
            <a:gdLst/>
            <a:ahLst/>
            <a:cxnLst/>
            <a:rect l="l" t="t" r="r" b="b"/>
            <a:pathLst>
              <a:path w="1323474" h="448211">
                <a:moveTo>
                  <a:pt x="0" y="0"/>
                </a:moveTo>
                <a:lnTo>
                  <a:pt x="1323474" y="0"/>
                </a:lnTo>
                <a:lnTo>
                  <a:pt x="132347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82842" y="3421712"/>
            <a:ext cx="448450" cy="6231233"/>
          </a:xfrm>
          <a:custGeom>
            <a:avLst/>
            <a:gdLst/>
            <a:ahLst/>
            <a:cxnLst/>
            <a:rect l="l" t="t" r="r" b="b"/>
            <a:pathLst>
              <a:path w="448450" h="6231233">
                <a:moveTo>
                  <a:pt x="0" y="0"/>
                </a:moveTo>
                <a:lnTo>
                  <a:pt x="448450" y="0"/>
                </a:lnTo>
                <a:lnTo>
                  <a:pt x="448450" y="6231233"/>
                </a:lnTo>
                <a:lnTo>
                  <a:pt x="0" y="62312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24631" y="3351775"/>
            <a:ext cx="4344715" cy="72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1" spc="-48">
                <a:solidFill>
                  <a:srgbClr val="F8F8F8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Интерфейс и поддержка </a:t>
            </a:r>
          </a:p>
          <a:p>
            <a:pPr algn="l">
              <a:lnSpc>
                <a:spcPts val="2932"/>
              </a:lnSpc>
            </a:pPr>
            <a:r>
              <a:rPr lang="en-US" sz="2443" b="1" spc="-48">
                <a:solidFill>
                  <a:srgbClr val="F8F8F8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на русском и казахском языках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07876" y="4330730"/>
            <a:ext cx="6020236" cy="72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1" spc="-48">
                <a:solidFill>
                  <a:srgbClr val="F8F8F8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Цены в тенге </a:t>
            </a:r>
          </a:p>
          <a:p>
            <a:pPr algn="l">
              <a:lnSpc>
                <a:spcPts val="2932"/>
              </a:lnSpc>
            </a:pPr>
            <a:r>
              <a:rPr lang="en-US" sz="2443" b="1" spc="-48">
                <a:solidFill>
                  <a:srgbClr val="F8F8F8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локальные форматы телефона и времени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02214" y="5294624"/>
            <a:ext cx="6586414" cy="72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1" spc="-48">
                <a:solidFill>
                  <a:srgbClr val="F8F8F8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Карта залов со свободными слотами </a:t>
            </a:r>
          </a:p>
          <a:p>
            <a:pPr algn="l">
              <a:lnSpc>
                <a:spcPts val="2932"/>
              </a:lnSpc>
            </a:pPr>
            <a:r>
              <a:rPr lang="en-US" sz="2443" b="1" spc="-48">
                <a:solidFill>
                  <a:srgbClr val="F8F8F8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фильтры по виду спорта, цене и расстоянию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8434" y="6243457"/>
            <a:ext cx="6964437" cy="72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1" spc="-48">
                <a:solidFill>
                  <a:srgbClr val="F8F8F8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Информация о слоте: вместимость, участники, цена на участника, правила отмены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02737" y="7177229"/>
            <a:ext cx="6534124" cy="72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1" spc="-48">
                <a:solidFill>
                  <a:srgbClr val="F8F8F8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Календарь владельца, подтверждение брони, правила возврата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1963" y="8141123"/>
            <a:ext cx="4611471" cy="72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1" spc="-48">
                <a:solidFill>
                  <a:srgbClr val="F8F8F8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Проверка провайдера карты </a:t>
            </a:r>
          </a:p>
          <a:p>
            <a:pPr algn="l">
              <a:lnSpc>
                <a:spcPts val="2932"/>
              </a:lnSpc>
            </a:pPr>
            <a:r>
              <a:rPr lang="en-US" sz="2443" b="1" spc="-48">
                <a:solidFill>
                  <a:srgbClr val="F8F8F8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по стоимости, покрытию и API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07290" y="9010527"/>
            <a:ext cx="6078857" cy="817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b="1" spc="-51">
                <a:solidFill>
                  <a:srgbClr val="A2B22D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Пилотные виды спорта: </a:t>
            </a:r>
            <a:r>
              <a:rPr lang="en-US" sz="2575" b="1" spc="-51">
                <a:solidFill>
                  <a:srgbClr val="F8F8F8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мини-футбол, волейбол, баскетбол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84708" y="0"/>
            <a:ext cx="6103292" cy="10287000"/>
          </a:xfrm>
          <a:custGeom>
            <a:avLst/>
            <a:gdLst/>
            <a:ahLst/>
            <a:cxnLst/>
            <a:rect l="l" t="t" r="r" b="b"/>
            <a:pathLst>
              <a:path w="6103292" h="10287000">
                <a:moveTo>
                  <a:pt x="0" y="0"/>
                </a:moveTo>
                <a:lnTo>
                  <a:pt x="6103292" y="0"/>
                </a:lnTo>
                <a:lnTo>
                  <a:pt x="61032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84708" y="0"/>
            <a:ext cx="2843828" cy="10287000"/>
          </a:xfrm>
          <a:custGeom>
            <a:avLst/>
            <a:gdLst/>
            <a:ahLst/>
            <a:cxnLst/>
            <a:rect l="l" t="t" r="r" b="b"/>
            <a:pathLst>
              <a:path w="2843828" h="10287000">
                <a:moveTo>
                  <a:pt x="0" y="0"/>
                </a:moveTo>
                <a:lnTo>
                  <a:pt x="2843828" y="0"/>
                </a:lnTo>
                <a:lnTo>
                  <a:pt x="28438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46310" y="552930"/>
            <a:ext cx="11625996" cy="209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1"/>
              </a:lnSpc>
            </a:pPr>
            <a:r>
              <a:rPr lang="en-US" sz="6426" b="1">
                <a:solidFill>
                  <a:srgbClr val="FFFFFF">
                    <a:alpha val="89804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КОМИССИЯ И ЭКОНОМИКА БРОНИРОВАНИЯ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2776725"/>
            <a:ext cx="1104718" cy="448211"/>
          </a:xfrm>
          <a:custGeom>
            <a:avLst/>
            <a:gdLst/>
            <a:ahLst/>
            <a:cxnLst/>
            <a:rect l="l" t="t" r="r" b="b"/>
            <a:pathLst>
              <a:path w="1104718" h="448211">
                <a:moveTo>
                  <a:pt x="0" y="0"/>
                </a:moveTo>
                <a:lnTo>
                  <a:pt x="1104718" y="0"/>
                </a:lnTo>
                <a:lnTo>
                  <a:pt x="110471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2928" y="3356271"/>
            <a:ext cx="1643102" cy="351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1784" b="1">
                <a:solidFill>
                  <a:srgbClr val="FFFFFF">
                    <a:alpha val="7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пример слота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8020" y="3690904"/>
            <a:ext cx="2133921" cy="70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170" b="1">
                <a:solidFill>
                  <a:srgbClr val="A9B42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20 000 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6234" y="4380408"/>
            <a:ext cx="2312574" cy="654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1784" b="1">
                <a:solidFill>
                  <a:srgbClr val="FFFFFF">
                    <a:alpha val="7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10 участников</a:t>
            </a:r>
          </a:p>
          <a:p>
            <a:pPr algn="l">
              <a:lnSpc>
                <a:spcPts val="2515"/>
              </a:lnSpc>
            </a:pPr>
            <a:r>
              <a:rPr lang="en-US" sz="1784" b="1">
                <a:solidFill>
                  <a:srgbClr val="FFFFFF">
                    <a:alpha val="7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2 000 ₴ на человека</a:t>
            </a:r>
          </a:p>
        </p:txBody>
      </p:sp>
      <p:sp>
        <p:nvSpPr>
          <p:cNvPr id="10" name="Freeform 10"/>
          <p:cNvSpPr/>
          <p:nvPr/>
        </p:nvSpPr>
        <p:spPr>
          <a:xfrm>
            <a:off x="3259464" y="4066699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426791" y="3356271"/>
            <a:ext cx="2019346" cy="351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1784" b="1">
                <a:solidFill>
                  <a:srgbClr val="FFFFFF">
                    <a:alpha val="7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комиссия RentZal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36751" y="3717835"/>
            <a:ext cx="1023320" cy="685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3985" b="1">
                <a:solidFill>
                  <a:srgbClr val="A9B42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10%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22749" y="4409944"/>
            <a:ext cx="2423494" cy="35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1740" b="1">
                <a:solidFill>
                  <a:srgbClr val="FFFFFF">
                    <a:alpha val="7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с выплаты владельцу</a:t>
            </a:r>
          </a:p>
        </p:txBody>
      </p:sp>
      <p:sp>
        <p:nvSpPr>
          <p:cNvPr id="14" name="Freeform 14"/>
          <p:cNvSpPr/>
          <p:nvPr/>
        </p:nvSpPr>
        <p:spPr>
          <a:xfrm>
            <a:off x="6748622" y="4066699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724612" y="3717835"/>
            <a:ext cx="1742746" cy="685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3985" b="1">
                <a:solidFill>
                  <a:srgbClr val="A9B42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2 000 ₴</a:t>
            </a:r>
          </a:p>
        </p:txBody>
      </p:sp>
      <p:sp>
        <p:nvSpPr>
          <p:cNvPr id="16" name="Freeform 16"/>
          <p:cNvSpPr/>
          <p:nvPr/>
        </p:nvSpPr>
        <p:spPr>
          <a:xfrm>
            <a:off x="9570574" y="3848060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945210" y="3717835"/>
            <a:ext cx="2032169" cy="685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3985" b="1">
                <a:solidFill>
                  <a:srgbClr val="A9B42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18 000 ₴</a:t>
            </a:r>
          </a:p>
        </p:txBody>
      </p:sp>
      <p:sp>
        <p:nvSpPr>
          <p:cNvPr id="18" name="Freeform 18"/>
          <p:cNvSpPr/>
          <p:nvPr/>
        </p:nvSpPr>
        <p:spPr>
          <a:xfrm>
            <a:off x="426574" y="5138034"/>
            <a:ext cx="11769072" cy="437279"/>
          </a:xfrm>
          <a:custGeom>
            <a:avLst/>
            <a:gdLst/>
            <a:ahLst/>
            <a:cxnLst/>
            <a:rect l="l" t="t" r="r" b="b"/>
            <a:pathLst>
              <a:path w="11769072" h="437279">
                <a:moveTo>
                  <a:pt x="0" y="0"/>
                </a:moveTo>
                <a:lnTo>
                  <a:pt x="11769072" y="0"/>
                </a:lnTo>
                <a:lnTo>
                  <a:pt x="1176907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61690" y="5645519"/>
            <a:ext cx="2766950" cy="351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1784" b="1">
                <a:solidFill>
                  <a:srgbClr val="FFFFFF">
                    <a:alpha val="7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при 100 бронированиях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1802" y="5976961"/>
            <a:ext cx="2755729" cy="685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3985" b="1">
                <a:solidFill>
                  <a:srgbClr val="A9B42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2 000 000 ₴</a:t>
            </a:r>
          </a:p>
        </p:txBody>
      </p:sp>
      <p:sp>
        <p:nvSpPr>
          <p:cNvPr id="21" name="Freeform 21"/>
          <p:cNvSpPr/>
          <p:nvPr/>
        </p:nvSpPr>
        <p:spPr>
          <a:xfrm>
            <a:off x="3915732" y="5990729"/>
            <a:ext cx="229694" cy="1945894"/>
          </a:xfrm>
          <a:custGeom>
            <a:avLst/>
            <a:gdLst/>
            <a:ahLst/>
            <a:cxnLst/>
            <a:rect l="l" t="t" r="r" b="b"/>
            <a:pathLst>
              <a:path w="229694" h="1945894">
                <a:moveTo>
                  <a:pt x="0" y="0"/>
                </a:moveTo>
                <a:lnTo>
                  <a:pt x="229694" y="0"/>
                </a:lnTo>
                <a:lnTo>
                  <a:pt x="22969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370190" y="5976961"/>
            <a:ext cx="2321594" cy="685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3985" b="1">
                <a:solidFill>
                  <a:srgbClr val="A9B42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200 000 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75666" y="6623887"/>
            <a:ext cx="1774020" cy="655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1740" b="1">
                <a:solidFill>
                  <a:srgbClr val="FFFFFF">
                    <a:alpha val="7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доход сервиса</a:t>
            </a:r>
          </a:p>
          <a:p>
            <a:pPr algn="l">
              <a:lnSpc>
                <a:spcPts val="2454"/>
              </a:lnSpc>
            </a:pPr>
            <a:r>
              <a:rPr lang="en-US" sz="1740" b="1">
                <a:solidFill>
                  <a:srgbClr val="FFFFFF">
                    <a:alpha val="7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(до затрат)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23399" y="5645519"/>
            <a:ext cx="3827316" cy="351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1784" b="1">
                <a:solidFill>
                  <a:srgbClr val="FFFFFF">
                    <a:alpha val="7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расходы на одно бронирование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55129" y="6114030"/>
            <a:ext cx="654305" cy="1417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1986" b="1">
                <a:solidFill>
                  <a:srgbClr val="A9B425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500 ₴</a:t>
            </a:r>
          </a:p>
          <a:p>
            <a:pPr algn="l">
              <a:lnSpc>
                <a:spcPts val="2801"/>
              </a:lnSpc>
            </a:pPr>
            <a:r>
              <a:rPr lang="en-US" sz="1986" b="1">
                <a:solidFill>
                  <a:srgbClr val="A9B425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300 ₴</a:t>
            </a:r>
          </a:p>
          <a:p>
            <a:pPr algn="l">
              <a:lnSpc>
                <a:spcPts val="2801"/>
              </a:lnSpc>
            </a:pPr>
            <a:r>
              <a:rPr lang="en-US" sz="1986" b="1">
                <a:solidFill>
                  <a:srgbClr val="A9B425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700 ₴</a:t>
            </a:r>
          </a:p>
          <a:p>
            <a:pPr algn="l">
              <a:lnSpc>
                <a:spcPts val="2801"/>
              </a:lnSpc>
            </a:pPr>
            <a:r>
              <a:rPr lang="en-US" sz="1986" b="1">
                <a:solidFill>
                  <a:srgbClr val="A9B425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500 ₴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93281" y="6107213"/>
            <a:ext cx="2747660" cy="1638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6"/>
              </a:lnSpc>
            </a:pPr>
            <a:r>
              <a:rPr lang="en-US" sz="1617" b="1">
                <a:solidFill>
                  <a:srgbClr val="FFFFFF">
                    <a:alpha val="7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обработка платежа поддержка привлечение клиента остаток до постоянных затрат и налогов</a:t>
            </a:r>
          </a:p>
        </p:txBody>
      </p:sp>
      <p:sp>
        <p:nvSpPr>
          <p:cNvPr id="27" name="Freeform 27"/>
          <p:cNvSpPr/>
          <p:nvPr/>
        </p:nvSpPr>
        <p:spPr>
          <a:xfrm>
            <a:off x="426574" y="8133399"/>
            <a:ext cx="11769072" cy="229572"/>
          </a:xfrm>
          <a:custGeom>
            <a:avLst/>
            <a:gdLst/>
            <a:ahLst/>
            <a:cxnLst/>
            <a:rect l="l" t="t" r="r" b="b"/>
            <a:pathLst>
              <a:path w="11769072" h="229572">
                <a:moveTo>
                  <a:pt x="0" y="0"/>
                </a:moveTo>
                <a:lnTo>
                  <a:pt x="11769072" y="0"/>
                </a:lnTo>
                <a:lnTo>
                  <a:pt x="11769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535455" y="8361732"/>
            <a:ext cx="5390392" cy="1018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63" b="1">
                <a:solidFill>
                  <a:srgbClr val="FFFFFF">
                    <a:alpha val="7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первый пилот — без онлайн-оплаты, спортсмен платит залу; позже планируется интеграция лицензированного провайдера</a:t>
            </a:r>
          </a:p>
        </p:txBody>
      </p:sp>
      <p:sp>
        <p:nvSpPr>
          <p:cNvPr id="29" name="Freeform 29"/>
          <p:cNvSpPr/>
          <p:nvPr/>
        </p:nvSpPr>
        <p:spPr>
          <a:xfrm>
            <a:off x="7175196" y="8352038"/>
            <a:ext cx="229694" cy="1300906"/>
          </a:xfrm>
          <a:custGeom>
            <a:avLst/>
            <a:gdLst/>
            <a:ahLst/>
            <a:cxnLst/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7619006" y="8406914"/>
            <a:ext cx="4266607" cy="697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63" b="1">
                <a:solidFill>
                  <a:srgbClr val="FFFFFF">
                    <a:alpha val="7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все цифры и распределения отмечены как учебные допущения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53430" y="4379822"/>
            <a:ext cx="1210119" cy="35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1740" b="1">
                <a:solidFill>
                  <a:srgbClr val="FFFFFF">
                    <a:alpha val="7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владельцу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32310" y="4380408"/>
            <a:ext cx="972932" cy="351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1784" b="1">
                <a:solidFill>
                  <a:srgbClr val="FFFFFF">
                    <a:alpha val="7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сервису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81030" y="6624474"/>
            <a:ext cx="832945" cy="351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1784" b="1">
                <a:solidFill>
                  <a:srgbClr val="A9B425">
                    <a:alpha val="7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оборот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6139" y="595406"/>
            <a:ext cx="10322057" cy="2232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69"/>
              </a:lnSpc>
            </a:pPr>
            <a:r>
              <a:rPr lang="en-US" sz="5756" b="1">
                <a:solidFill>
                  <a:srgbClr val="FFFFFF">
                    <a:alpha val="94902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РИСКИ И ВНЕШНЕЭКОНОМИЧЕСКИЕ ОГРАНИЧЕНИЯ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2995365"/>
            <a:ext cx="1104718" cy="229572"/>
          </a:xfrm>
          <a:custGeom>
            <a:avLst/>
            <a:gdLst/>
            <a:ahLst/>
            <a:cxnLst/>
            <a:rect l="l" t="t" r="r" b="b"/>
            <a:pathLst>
              <a:path w="1104718" h="229572">
                <a:moveTo>
                  <a:pt x="0" y="0"/>
                </a:moveTo>
                <a:lnTo>
                  <a:pt x="1104718" y="0"/>
                </a:lnTo>
                <a:lnTo>
                  <a:pt x="1104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6574" y="3421712"/>
            <a:ext cx="11987828" cy="1508614"/>
          </a:xfrm>
          <a:custGeom>
            <a:avLst/>
            <a:gdLst/>
            <a:ahLst/>
            <a:cxnLst/>
            <a:rect l="l" t="t" r="r" b="b"/>
            <a:pathLst>
              <a:path w="11987828" h="1508614">
                <a:moveTo>
                  <a:pt x="0" y="0"/>
                </a:moveTo>
                <a:lnTo>
                  <a:pt x="11987828" y="0"/>
                </a:lnTo>
                <a:lnTo>
                  <a:pt x="11987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09644" y="3616787"/>
            <a:ext cx="834075" cy="96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5"/>
              </a:lnSpc>
            </a:pPr>
            <a:r>
              <a:rPr lang="en-US" sz="5831" b="1">
                <a:solidFill>
                  <a:srgbClr val="B2C227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79659" y="3686973"/>
            <a:ext cx="2603640" cy="757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b="1" spc="-40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Недостаток залов и участников</a:t>
            </a:r>
          </a:p>
        </p:txBody>
      </p:sp>
      <p:sp>
        <p:nvSpPr>
          <p:cNvPr id="8" name="Freeform 8"/>
          <p:cNvSpPr/>
          <p:nvPr/>
        </p:nvSpPr>
        <p:spPr>
          <a:xfrm>
            <a:off x="5873598" y="3421712"/>
            <a:ext cx="229694" cy="1300906"/>
          </a:xfrm>
          <a:custGeom>
            <a:avLst/>
            <a:gdLst/>
            <a:ahLst/>
            <a:cxnLst/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332506" y="3709578"/>
            <a:ext cx="4329084" cy="732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spc="-39">
                <a:solidFill>
                  <a:srgbClr val="FFFFFF">
                    <a:alpha val="94902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запуск в нескольких районах, </a:t>
            </a:r>
          </a:p>
          <a:p>
            <a:pPr algn="l">
              <a:lnSpc>
                <a:spcPts val="2780"/>
              </a:lnSpc>
            </a:pPr>
            <a:r>
              <a:rPr lang="en-US" sz="1986" spc="-39">
                <a:solidFill>
                  <a:srgbClr val="FFFFFF">
                    <a:alpha val="94902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расписание через организаторов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6574" y="4711687"/>
            <a:ext cx="11987828" cy="1727254"/>
          </a:xfrm>
          <a:custGeom>
            <a:avLst/>
            <a:gdLst/>
            <a:ahLst/>
            <a:cxnLst/>
            <a:rect l="l" t="t" r="r" b="b"/>
            <a:pathLst>
              <a:path w="11987828" h="1727254">
                <a:moveTo>
                  <a:pt x="0" y="0"/>
                </a:moveTo>
                <a:lnTo>
                  <a:pt x="11987828" y="0"/>
                </a:lnTo>
                <a:lnTo>
                  <a:pt x="1198782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07656" y="4904258"/>
            <a:ext cx="1032794" cy="1166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1"/>
              </a:lnSpc>
            </a:pPr>
            <a:r>
              <a:rPr lang="en-US" sz="6985" b="1">
                <a:solidFill>
                  <a:srgbClr val="B2C227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84070" y="5087632"/>
            <a:ext cx="2162545" cy="757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b="1" spc="-40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Отмены и обход комиссии</a:t>
            </a:r>
          </a:p>
        </p:txBody>
      </p:sp>
      <p:sp>
        <p:nvSpPr>
          <p:cNvPr id="13" name="Freeform 13"/>
          <p:cNvSpPr/>
          <p:nvPr/>
        </p:nvSpPr>
        <p:spPr>
          <a:xfrm>
            <a:off x="5873598" y="4919394"/>
            <a:ext cx="229694" cy="1300906"/>
          </a:xfrm>
          <a:custGeom>
            <a:avLst/>
            <a:gdLst/>
            <a:ahLst/>
            <a:cxnLst/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336750" y="4921962"/>
            <a:ext cx="3904658" cy="1114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94902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подтверждение посещения, </a:t>
            </a:r>
          </a:p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94902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прозрачные правила отмены, </a:t>
            </a:r>
          </a:p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94902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сверка с владельцами</a:t>
            </a:r>
          </a:p>
        </p:txBody>
      </p:sp>
      <p:sp>
        <p:nvSpPr>
          <p:cNvPr id="15" name="Freeform 15"/>
          <p:cNvSpPr/>
          <p:nvPr/>
        </p:nvSpPr>
        <p:spPr>
          <a:xfrm>
            <a:off x="426574" y="6209369"/>
            <a:ext cx="11987828" cy="1508614"/>
          </a:xfrm>
          <a:custGeom>
            <a:avLst/>
            <a:gdLst/>
            <a:ahLst/>
            <a:cxnLst/>
            <a:rect l="l" t="t" r="r" b="b"/>
            <a:pathLst>
              <a:path w="11987828" h="1508614">
                <a:moveTo>
                  <a:pt x="0" y="0"/>
                </a:moveTo>
                <a:lnTo>
                  <a:pt x="11987828" y="0"/>
                </a:lnTo>
                <a:lnTo>
                  <a:pt x="11987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07456" y="6365160"/>
            <a:ext cx="1052848" cy="1166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1"/>
              </a:lnSpc>
            </a:pPr>
            <a:r>
              <a:rPr lang="en-US" sz="6985" b="1">
                <a:solidFill>
                  <a:srgbClr val="B2C227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85857" y="6533472"/>
            <a:ext cx="1983814" cy="757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b="1" spc="-40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Персональные данные</a:t>
            </a:r>
          </a:p>
        </p:txBody>
      </p:sp>
      <p:sp>
        <p:nvSpPr>
          <p:cNvPr id="18" name="Freeform 18"/>
          <p:cNvSpPr/>
          <p:nvPr/>
        </p:nvSpPr>
        <p:spPr>
          <a:xfrm>
            <a:off x="5873598" y="6428009"/>
            <a:ext cx="229694" cy="1289974"/>
          </a:xfrm>
          <a:custGeom>
            <a:avLst/>
            <a:gdLst/>
            <a:ahLst/>
            <a:cxnLst/>
            <a:rect l="l" t="t" r="r" b="b"/>
            <a:pathLst>
              <a:path w="229694" h="1289974">
                <a:moveTo>
                  <a:pt x="0" y="0"/>
                </a:moveTo>
                <a:lnTo>
                  <a:pt x="229694" y="0"/>
                </a:lnTo>
                <a:lnTo>
                  <a:pt x="229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324638" y="6428046"/>
            <a:ext cx="5115909" cy="1114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94902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согласия пользователей, </a:t>
            </a:r>
          </a:p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94902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ограничение доступа, </a:t>
            </a:r>
          </a:p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94902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локальное хранение базы в Казахстане</a:t>
            </a:r>
          </a:p>
        </p:txBody>
      </p:sp>
      <p:sp>
        <p:nvSpPr>
          <p:cNvPr id="20" name="Freeform 20"/>
          <p:cNvSpPr/>
          <p:nvPr/>
        </p:nvSpPr>
        <p:spPr>
          <a:xfrm>
            <a:off x="426574" y="7707051"/>
            <a:ext cx="11987828" cy="1508614"/>
          </a:xfrm>
          <a:custGeom>
            <a:avLst/>
            <a:gdLst/>
            <a:ahLst/>
            <a:cxnLst/>
            <a:rect l="l" t="t" r="r" b="b"/>
            <a:pathLst>
              <a:path w="11987828" h="1508614">
                <a:moveTo>
                  <a:pt x="0" y="0"/>
                </a:moveTo>
                <a:lnTo>
                  <a:pt x="11987828" y="0"/>
                </a:lnTo>
                <a:lnTo>
                  <a:pt x="11987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06863" y="7811001"/>
            <a:ext cx="1112100" cy="1166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1"/>
              </a:lnSpc>
            </a:pPr>
            <a:r>
              <a:rPr lang="en-US" sz="6985" b="1">
                <a:solidFill>
                  <a:srgbClr val="B2C227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80170" y="7843766"/>
            <a:ext cx="2552554" cy="1114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b="1" spc="-40">
                <a:solidFill>
                  <a:srgbClr val="FFFFFF">
                    <a:alpha val="94902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Трансграничные расчёты и доступ к инфраструктуре</a:t>
            </a:r>
          </a:p>
        </p:txBody>
      </p:sp>
      <p:sp>
        <p:nvSpPr>
          <p:cNvPr id="23" name="Freeform 23"/>
          <p:cNvSpPr/>
          <p:nvPr/>
        </p:nvSpPr>
        <p:spPr>
          <a:xfrm>
            <a:off x="5873598" y="7707051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6322247" y="7987107"/>
            <a:ext cx="5354998" cy="732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spc="-39">
                <a:solidFill>
                  <a:srgbClr val="FFFFFF">
                    <a:alpha val="94902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проверка банка, платёжного провайдера, контрагентов, санкций; расчёты в тенге</a:t>
            </a:r>
          </a:p>
        </p:txBody>
      </p:sp>
      <p:sp>
        <p:nvSpPr>
          <p:cNvPr id="25" name="Freeform 25"/>
          <p:cNvSpPr/>
          <p:nvPr/>
        </p:nvSpPr>
        <p:spPr>
          <a:xfrm>
            <a:off x="426574" y="9423373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832032" y="9425153"/>
            <a:ext cx="5200735" cy="400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94902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Закон РК о персональных данных, ст.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22220" y="0"/>
            <a:ext cx="5665780" cy="10287000"/>
          </a:xfrm>
          <a:custGeom>
            <a:avLst/>
            <a:gdLst/>
            <a:ahLst/>
            <a:cxnLst/>
            <a:rect l="l" t="t" r="r" b="b"/>
            <a:pathLst>
              <a:path w="5665780" h="10287000">
                <a:moveTo>
                  <a:pt x="0" y="0"/>
                </a:moveTo>
                <a:lnTo>
                  <a:pt x="5665780" y="0"/>
                </a:lnTo>
                <a:lnTo>
                  <a:pt x="56657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41867" y="549472"/>
            <a:ext cx="7428103" cy="212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sz="7391" b="1" spc="-72">
                <a:solidFill>
                  <a:srgbClr val="FFFFFF">
                    <a:alpha val="80000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РЕШЕНИЕ</a:t>
            </a:r>
          </a:p>
          <a:p>
            <a:pPr algn="l">
              <a:lnSpc>
                <a:spcPts val="7391"/>
              </a:lnSpc>
            </a:pPr>
            <a:r>
              <a:rPr lang="en-US" sz="7391" b="1" spc="-72">
                <a:solidFill>
                  <a:srgbClr val="FFFFFF">
                    <a:alpha val="80000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ПОСЛЕ ПИЛОТА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2776725"/>
            <a:ext cx="1104718" cy="448211"/>
          </a:xfrm>
          <a:custGeom>
            <a:avLst/>
            <a:gdLst/>
            <a:ahLst/>
            <a:cxnLst/>
            <a:rect l="l" t="t" r="r" b="b"/>
            <a:pathLst>
              <a:path w="1104718" h="448211">
                <a:moveTo>
                  <a:pt x="0" y="0"/>
                </a:moveTo>
                <a:lnTo>
                  <a:pt x="1104718" y="0"/>
                </a:lnTo>
                <a:lnTo>
                  <a:pt x="110471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7599" y="3414067"/>
            <a:ext cx="3854915" cy="383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1" spc="-70">
                <a:solidFill>
                  <a:srgbClr val="B0B821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ЦЕЛИ К КОНЦУ 12 НЕДЕЛЬ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8511" y="3923653"/>
            <a:ext cx="763705" cy="92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5674" b="1" spc="-169">
                <a:solidFill>
                  <a:srgbClr val="B0B821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59139" y="3903094"/>
            <a:ext cx="3940037" cy="961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801" spc="-53">
                <a:solidFill>
                  <a:srgbClr val="FFFFFF">
                    <a:alpha val="80000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активных залов с актуальными слотами и минимум одной бронью</a:t>
            </a:r>
          </a:p>
          <a:p>
            <a:pPr algn="l">
              <a:lnSpc>
                <a:spcPts val="2431"/>
              </a:lnSpc>
            </a:pPr>
            <a:r>
              <a:rPr lang="en-US" sz="1801" spc="-53">
                <a:solidFill>
                  <a:srgbClr val="FFFFFF">
                    <a:alpha val="80000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за 30 дней</a:t>
            </a:r>
          </a:p>
        </p:txBody>
      </p:sp>
      <p:sp>
        <p:nvSpPr>
          <p:cNvPr id="9" name="Freeform 9"/>
          <p:cNvSpPr/>
          <p:nvPr/>
        </p:nvSpPr>
        <p:spPr>
          <a:xfrm>
            <a:off x="426574" y="5138034"/>
            <a:ext cx="6759560" cy="229572"/>
          </a:xfrm>
          <a:custGeom>
            <a:avLst/>
            <a:gdLst/>
            <a:ahLst/>
            <a:cxnLst/>
            <a:rect l="l" t="t" r="r" b="b"/>
            <a:pathLst>
              <a:path w="6759560" h="229572">
                <a:moveTo>
                  <a:pt x="0" y="0"/>
                </a:moveTo>
                <a:lnTo>
                  <a:pt x="6759560" y="0"/>
                </a:lnTo>
                <a:lnTo>
                  <a:pt x="675956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05380" y="5413260"/>
            <a:ext cx="1076886" cy="677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3"/>
              </a:lnSpc>
            </a:pPr>
            <a:r>
              <a:rPr lang="en-US" sz="5113" b="1" spc="-152">
                <a:solidFill>
                  <a:srgbClr val="B0B82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100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64744" y="5302747"/>
            <a:ext cx="3379502" cy="666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</a:pPr>
            <a:r>
              <a:rPr lang="en-US" sz="1863" spc="-55">
                <a:solidFill>
                  <a:srgbClr val="FFFFFF">
                    <a:alpha val="80000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завершённых бронирований</a:t>
            </a:r>
          </a:p>
          <a:p>
            <a:pPr algn="l">
              <a:lnSpc>
                <a:spcPts val="2514"/>
              </a:lnSpc>
            </a:pPr>
            <a:r>
              <a:rPr lang="en-US" sz="1863" spc="-55">
                <a:solidFill>
                  <a:srgbClr val="FFFFFF">
                    <a:alpha val="80000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за последние 30 дней</a:t>
            </a:r>
          </a:p>
        </p:txBody>
      </p:sp>
      <p:sp>
        <p:nvSpPr>
          <p:cNvPr id="12" name="Freeform 12"/>
          <p:cNvSpPr/>
          <p:nvPr/>
        </p:nvSpPr>
        <p:spPr>
          <a:xfrm>
            <a:off x="426574" y="6209369"/>
            <a:ext cx="6759560" cy="229572"/>
          </a:xfrm>
          <a:custGeom>
            <a:avLst/>
            <a:gdLst/>
            <a:ahLst/>
            <a:cxnLst/>
            <a:rect l="l" t="t" r="r" b="b"/>
            <a:pathLst>
              <a:path w="6759560" h="229572">
                <a:moveTo>
                  <a:pt x="0" y="0"/>
                </a:moveTo>
                <a:lnTo>
                  <a:pt x="6759560" y="0"/>
                </a:lnTo>
                <a:lnTo>
                  <a:pt x="675956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98810" y="6473359"/>
            <a:ext cx="1733826" cy="766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4"/>
              </a:lnSpc>
            </a:pPr>
            <a:r>
              <a:rPr lang="en-US" sz="4754" b="1" spc="-141">
                <a:solidFill>
                  <a:srgbClr val="B0B821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≥25%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49276" y="6470271"/>
            <a:ext cx="4926304" cy="691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7"/>
              </a:lnSpc>
            </a:pPr>
            <a:r>
              <a:rPr lang="en-US" sz="1924" spc="-57">
                <a:solidFill>
                  <a:srgbClr val="FFFFFF">
                    <a:alpha val="80000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повторное бронирование среди клиентов с полным 30-дневным периодом</a:t>
            </a:r>
          </a:p>
        </p:txBody>
      </p:sp>
      <p:sp>
        <p:nvSpPr>
          <p:cNvPr id="15" name="Freeform 15"/>
          <p:cNvSpPr/>
          <p:nvPr/>
        </p:nvSpPr>
        <p:spPr>
          <a:xfrm>
            <a:off x="426574" y="7280704"/>
            <a:ext cx="6759560" cy="437279"/>
          </a:xfrm>
          <a:custGeom>
            <a:avLst/>
            <a:gdLst/>
            <a:ahLst/>
            <a:cxnLst/>
            <a:rect l="l" t="t" r="r" b="b"/>
            <a:pathLst>
              <a:path w="6759560" h="437279">
                <a:moveTo>
                  <a:pt x="0" y="0"/>
                </a:moveTo>
                <a:lnTo>
                  <a:pt x="6759560" y="0"/>
                </a:lnTo>
                <a:lnTo>
                  <a:pt x="6759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00449" y="7697496"/>
            <a:ext cx="1569950" cy="62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3849" b="1" spc="-114">
                <a:solidFill>
                  <a:srgbClr val="B0B821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ПЛЮС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49269" y="7646691"/>
            <a:ext cx="4926958" cy="658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801" spc="-53">
                <a:solidFill>
                  <a:srgbClr val="FFFFFF">
                    <a:alpha val="80000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положительный вклад бронирования</a:t>
            </a:r>
          </a:p>
          <a:p>
            <a:pPr algn="l">
              <a:lnSpc>
                <a:spcPts val="2431"/>
              </a:lnSpc>
            </a:pPr>
            <a:r>
              <a:rPr lang="en-US" sz="1801" spc="-53">
                <a:solidFill>
                  <a:srgbClr val="FFFFFF">
                    <a:alpha val="80000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после переменных расходов и привлечения</a:t>
            </a:r>
          </a:p>
        </p:txBody>
      </p:sp>
      <p:sp>
        <p:nvSpPr>
          <p:cNvPr id="18" name="Freeform 18"/>
          <p:cNvSpPr/>
          <p:nvPr/>
        </p:nvSpPr>
        <p:spPr>
          <a:xfrm>
            <a:off x="426574" y="8570678"/>
            <a:ext cx="6759560" cy="218640"/>
          </a:xfrm>
          <a:custGeom>
            <a:avLst/>
            <a:gdLst/>
            <a:ahLst/>
            <a:cxnLst/>
            <a:rect l="l" t="t" r="r" b="b"/>
            <a:pathLst>
              <a:path w="6759560" h="218640">
                <a:moveTo>
                  <a:pt x="0" y="0"/>
                </a:moveTo>
                <a:lnTo>
                  <a:pt x="6759560" y="0"/>
                </a:lnTo>
                <a:lnTo>
                  <a:pt x="675956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98163" y="8763011"/>
            <a:ext cx="1798505" cy="816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9"/>
              </a:lnSpc>
            </a:pPr>
            <a:r>
              <a:rPr lang="en-US" sz="4939" b="1" spc="-147">
                <a:solidFill>
                  <a:srgbClr val="B0B821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≥50%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59423" y="8789122"/>
            <a:ext cx="3911627" cy="691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7"/>
              </a:lnSpc>
            </a:pPr>
            <a:r>
              <a:rPr lang="en-US" sz="1924" spc="-57">
                <a:solidFill>
                  <a:srgbClr val="FFFFFF">
                    <a:alpha val="80000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совместных игр с набором минимального числа участников</a:t>
            </a:r>
          </a:p>
        </p:txBody>
      </p:sp>
      <p:sp>
        <p:nvSpPr>
          <p:cNvPr id="21" name="Freeform 21"/>
          <p:cNvSpPr/>
          <p:nvPr/>
        </p:nvSpPr>
        <p:spPr>
          <a:xfrm>
            <a:off x="7612708" y="3421712"/>
            <a:ext cx="229694" cy="6231233"/>
          </a:xfrm>
          <a:custGeom>
            <a:avLst/>
            <a:gdLst/>
            <a:ahLst/>
            <a:cxnLst/>
            <a:rect l="l" t="t" r="r" b="b"/>
            <a:pathLst>
              <a:path w="229694" h="6231233">
                <a:moveTo>
                  <a:pt x="0" y="0"/>
                </a:moveTo>
                <a:lnTo>
                  <a:pt x="229694" y="0"/>
                </a:lnTo>
                <a:lnTo>
                  <a:pt x="229694" y="6231233"/>
                </a:lnTo>
                <a:lnTo>
                  <a:pt x="0" y="62312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350247" y="3478613"/>
            <a:ext cx="3472930" cy="34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2179" b="1" spc="-64">
                <a:solidFill>
                  <a:srgbClr val="B0B821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ЕСЛИ ЦЕЛИ ДОСТИГНУТЫ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50394" y="3835576"/>
            <a:ext cx="3458299" cy="827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spc="-59">
                <a:solidFill>
                  <a:srgbClr val="FFFFFF">
                    <a:alpha val="80000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исследуем запуск в Астане, затем на других рынках СНГ</a:t>
            </a:r>
          </a:p>
        </p:txBody>
      </p:sp>
      <p:sp>
        <p:nvSpPr>
          <p:cNvPr id="24" name="Freeform 24"/>
          <p:cNvSpPr/>
          <p:nvPr/>
        </p:nvSpPr>
        <p:spPr>
          <a:xfrm>
            <a:off x="9789330" y="4711687"/>
            <a:ext cx="667206" cy="1289974"/>
          </a:xfrm>
          <a:custGeom>
            <a:avLst/>
            <a:gdLst/>
            <a:ahLst/>
            <a:cxnLst/>
            <a:rect l="l" t="t" r="r" b="b"/>
            <a:pathLst>
              <a:path w="667206" h="1289974">
                <a:moveTo>
                  <a:pt x="0" y="0"/>
                </a:moveTo>
                <a:lnTo>
                  <a:pt x="667206" y="0"/>
                </a:lnTo>
                <a:lnTo>
                  <a:pt x="66720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8345926" y="6008834"/>
            <a:ext cx="3905093" cy="34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2179" b="1" spc="-64">
                <a:solidFill>
                  <a:srgbClr val="B0B821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ЕСЛИ ЦЕЛИ НЕ ДОСТИГНУТЫ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57027" y="6380857"/>
            <a:ext cx="2794937" cy="827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spc="-59">
                <a:solidFill>
                  <a:srgbClr val="FFFFFF">
                    <a:alpha val="80000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корректируем воронку</a:t>
            </a:r>
          </a:p>
          <a:p>
            <a:pPr algn="l">
              <a:lnSpc>
                <a:spcPts val="3177"/>
              </a:lnSpc>
            </a:pPr>
            <a:r>
              <a:rPr lang="en-US" sz="1986" spc="-59">
                <a:solidFill>
                  <a:srgbClr val="FFFFFF">
                    <a:alpha val="80000"/>
                  </a:srgbClr>
                </a:solidFill>
                <a:latin typeface="Evolventa"/>
                <a:ea typeface="Evolventa"/>
                <a:cs typeface="Evolventa"/>
                <a:sym typeface="Evolventa"/>
              </a:rPr>
              <a:t>и экономику</a:t>
            </a:r>
          </a:p>
        </p:txBody>
      </p:sp>
      <p:sp>
        <p:nvSpPr>
          <p:cNvPr id="27" name="Freeform 27"/>
          <p:cNvSpPr/>
          <p:nvPr/>
        </p:nvSpPr>
        <p:spPr>
          <a:xfrm>
            <a:off x="9789330" y="7280704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8050220" y="8133399"/>
            <a:ext cx="4364182" cy="1519546"/>
          </a:xfrm>
          <a:custGeom>
            <a:avLst/>
            <a:gdLst/>
            <a:ahLst/>
            <a:cxnLst/>
            <a:rect l="l" t="t" r="r" b="b"/>
            <a:pathLst>
              <a:path w="4364182" h="1519546">
                <a:moveTo>
                  <a:pt x="0" y="0"/>
                </a:moveTo>
                <a:lnTo>
                  <a:pt x="4364182" y="0"/>
                </a:lnTo>
                <a:lnTo>
                  <a:pt x="436418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8519689" y="8234581"/>
            <a:ext cx="3380853" cy="108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b="1" spc="-68">
                <a:solidFill>
                  <a:srgbClr val="B0B821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СНАЧАЛА ПРОВЕРЯЕМ СОВМЕСТНУЮ АРЕНДУ</a:t>
            </a:r>
          </a:p>
          <a:p>
            <a:pPr algn="ctr">
              <a:lnSpc>
                <a:spcPts val="2774"/>
              </a:lnSpc>
            </a:pPr>
            <a:r>
              <a:rPr lang="en-US" sz="2311" b="1" spc="-68">
                <a:solidFill>
                  <a:srgbClr val="B0B821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В ОДНОМ ГОРОДЕ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565</Words>
  <Application>Microsoft Office PowerPoint</Application>
  <PresentationFormat>Произвольный</PresentationFormat>
  <Paragraphs>161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HK Grotesk Medium</vt:lpstr>
      <vt:lpstr>Evolventa Bold</vt:lpstr>
      <vt:lpstr>Arial</vt:lpstr>
      <vt:lpstr>HK Grotesk Bold</vt:lpstr>
      <vt:lpstr>Evolventa</vt:lpstr>
      <vt:lpstr>Calibri</vt:lpstr>
      <vt:lpstr>HK Grotesk Semi-Bold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RentZal: Казахстан</dc:title>
  <cp:lastModifiedBy>Levka Flower</cp:lastModifiedBy>
  <cp:revision>2</cp:revision>
  <dcterms:created xsi:type="dcterms:W3CDTF">2006-08-16T00:00:00Z</dcterms:created>
  <dcterms:modified xsi:type="dcterms:W3CDTF">2026-10-20T10:45:34Z</dcterms:modified>
  <dc:identifier>DAHX42AlIhg</dc:identifier>
</cp:coreProperties>
</file>