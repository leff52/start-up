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strument Sans Medium" panose="020B0604020202020204" charset="0"/>
      <p:regular r:id="rId13"/>
    </p:embeddedFont>
    <p:embeddedFont>
      <p:font typeface="Instrument Sans Semi Bold" panose="020B0604020202020204" charset="0"/>
      <p:regular r:id="rId1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370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4356" y="779145"/>
            <a:ext cx="7568089" cy="1899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Идея: Эффективное Взаимодействие с Нейросетями</a:t>
            </a:r>
            <a:endParaRPr lang="en-US" sz="3950" dirty="0"/>
          </a:p>
        </p:txBody>
      </p:sp>
      <p:sp>
        <p:nvSpPr>
          <p:cNvPr id="4" name="Text 1"/>
          <p:cNvSpPr/>
          <p:nvPr/>
        </p:nvSpPr>
        <p:spPr>
          <a:xfrm>
            <a:off x="6274356" y="2950131"/>
            <a:ext cx="7568089" cy="1227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Множество пользователей сталкиваются с трудностями при работе с нейросетями, такими как ChatGPT, Claude, DeepSeek. Основная проблема — неумение формулировать качественные запросы (промпты), что приводит к неоптимальным результатам и потере времени.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274356" y="4381500"/>
            <a:ext cx="3693557" cy="1750933"/>
          </a:xfrm>
          <a:prstGeom prst="roundRect">
            <a:avLst>
              <a:gd name="adj" fmla="val 10416"/>
            </a:avLst>
          </a:prstGeom>
          <a:solidFill>
            <a:srgbClr val="CEE6FD"/>
          </a:solidFill>
          <a:ln/>
        </p:spPr>
      </p:sp>
      <p:sp>
        <p:nvSpPr>
          <p:cNvPr id="6" name="Text 3"/>
          <p:cNvSpPr/>
          <p:nvPr/>
        </p:nvSpPr>
        <p:spPr>
          <a:xfrm>
            <a:off x="6476881" y="4584025"/>
            <a:ext cx="2532936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Проблема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476881" y="5009078"/>
            <a:ext cx="3288506" cy="920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Неэффективное использование ИИ из-за отсутствия навыков промптинга.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10148887" y="4381500"/>
            <a:ext cx="3693557" cy="1750933"/>
          </a:xfrm>
          <a:prstGeom prst="roundRect">
            <a:avLst>
              <a:gd name="adj" fmla="val 10416"/>
            </a:avLst>
          </a:prstGeom>
          <a:solidFill>
            <a:srgbClr val="CEE6FD"/>
          </a:solidFill>
          <a:ln/>
        </p:spPr>
      </p:sp>
      <p:sp>
        <p:nvSpPr>
          <p:cNvPr id="9" name="Text 6"/>
          <p:cNvSpPr/>
          <p:nvPr/>
        </p:nvSpPr>
        <p:spPr>
          <a:xfrm>
            <a:off x="10351413" y="4584025"/>
            <a:ext cx="2532936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Сценарий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0351413" y="5009078"/>
            <a:ext cx="3288506" cy="920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Пользователь тратит часы на "общение" с ИИ, получает общие или нерелевантные ответы.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274356" y="6313408"/>
            <a:ext cx="7568089" cy="1137047"/>
          </a:xfrm>
          <a:prstGeom prst="roundRect">
            <a:avLst>
              <a:gd name="adj" fmla="val 16040"/>
            </a:avLst>
          </a:prstGeom>
          <a:solidFill>
            <a:srgbClr val="CEE6FD"/>
          </a:solidFill>
          <a:ln/>
        </p:spPr>
      </p:sp>
      <p:sp>
        <p:nvSpPr>
          <p:cNvPr id="12" name="Text 9"/>
          <p:cNvSpPr/>
          <p:nvPr/>
        </p:nvSpPr>
        <p:spPr>
          <a:xfrm>
            <a:off x="6476881" y="6515933"/>
            <a:ext cx="2532936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Последствия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6476881" y="6940987"/>
            <a:ext cx="7163038" cy="30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Разочарование, потеря продуктивности, упущенные возможности.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4263"/>
            <a:ext cx="1258931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Сегментация Аудитории: Кто Нуждается в Этом?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1857018"/>
            <a:ext cx="13042821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Рынок пользователей нейросетей неоднороден, и каждый сегмент имеет свои уникальные потребности и вызовы при взаимодействии с ИИ.</a:t>
            </a:r>
            <a:endParaRPr lang="en-US" sz="1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759512"/>
            <a:ext cx="641271" cy="64127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0926" y="2759512"/>
            <a:ext cx="2171581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Студенты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690926" y="3286244"/>
            <a:ext cx="2171581" cy="3361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Нуждаются в помощи с рефератами, исследовательской работой, подготовке к экзаменам. Ценят скорость и доступность информации.</a:t>
            </a:r>
            <a:endParaRPr lang="en-US" sz="16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8372" y="2759512"/>
            <a:ext cx="641271" cy="64127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15508" y="2759512"/>
            <a:ext cx="2171700" cy="121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Офисные Сотрудники (не IT)</a:t>
            </a:r>
            <a:endParaRPr lang="en-US" sz="2500" dirty="0"/>
          </a:p>
        </p:txBody>
      </p:sp>
      <p:sp>
        <p:nvSpPr>
          <p:cNvPr id="9" name="Text 5"/>
          <p:cNvSpPr/>
          <p:nvPr/>
        </p:nvSpPr>
        <p:spPr>
          <a:xfrm>
            <a:off x="5015508" y="4094202"/>
            <a:ext cx="2171700" cy="3361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Используют ИИ для создания отчетов, писем, презентаций, мозговых штурмов. Важна экономия времени и повышение качества рабочих материалов.</a:t>
            </a:r>
            <a:endParaRPr lang="en-US" sz="16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3073" y="2759512"/>
            <a:ext cx="641271" cy="64127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40209" y="2759512"/>
            <a:ext cx="2171700" cy="121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Junior-Разработчики</a:t>
            </a:r>
            <a:endParaRPr lang="en-US" sz="2500" dirty="0"/>
          </a:p>
        </p:txBody>
      </p:sp>
      <p:sp>
        <p:nvSpPr>
          <p:cNvPr id="12" name="Text 7"/>
          <p:cNvSpPr/>
          <p:nvPr/>
        </p:nvSpPr>
        <p:spPr>
          <a:xfrm>
            <a:off x="8340209" y="4094202"/>
            <a:ext cx="2171700" cy="2688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Ищут помощь в написании кода, отладке, изучении новых технологий. Ценят точность и практическую применимость советов.</a:t>
            </a:r>
            <a:endParaRPr lang="en-US" sz="16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7774" y="2759512"/>
            <a:ext cx="641271" cy="64127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664910" y="2759512"/>
            <a:ext cx="2171700" cy="121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Взрослые Пользователи</a:t>
            </a:r>
            <a:endParaRPr lang="en-US" sz="2500" dirty="0"/>
          </a:p>
        </p:txBody>
      </p:sp>
      <p:sp>
        <p:nvSpPr>
          <p:cNvPr id="15" name="Text 9"/>
          <p:cNvSpPr/>
          <p:nvPr/>
        </p:nvSpPr>
        <p:spPr>
          <a:xfrm>
            <a:off x="11664910" y="4094202"/>
            <a:ext cx="2171700" cy="2352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Используют ИИ для личных целей: планирование путешествий, рецепты, общение. Ценят простоту и интуитивность.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075" y="626507"/>
            <a:ext cx="11101983" cy="495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Приоритетный Сегмент для Старта: Офисные Сотрудники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075" y="1343978"/>
            <a:ext cx="13044249" cy="431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Для первоначального запуска мы сфокусируемся на офисных сотрудниках из не-IT сфер, поскольку этот сегмент предлагает наилучшее сочетание потенциала и доступности.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4541" y="3121581"/>
            <a:ext cx="5840254" cy="32595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30953" y="2024539"/>
            <a:ext cx="158591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9530953" y="2271236"/>
            <a:ext cx="4313873" cy="2286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7" name="Text 4"/>
          <p:cNvSpPr/>
          <p:nvPr/>
        </p:nvSpPr>
        <p:spPr>
          <a:xfrm>
            <a:off x="9530953" y="2396252"/>
            <a:ext cx="1982867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Частота Проблемы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530953" y="2754868"/>
            <a:ext cx="4313873" cy="431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Регулярно сталкиваются с необходимостью генерации контента и анализа данных.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530953" y="3415665"/>
            <a:ext cx="158591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530953" y="3662363"/>
            <a:ext cx="4313873" cy="2286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1" name="Text 8"/>
          <p:cNvSpPr/>
          <p:nvPr/>
        </p:nvSpPr>
        <p:spPr>
          <a:xfrm>
            <a:off x="9530953" y="3787378"/>
            <a:ext cx="2048708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Платежеспособность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9530953" y="4145994"/>
            <a:ext cx="4313873" cy="431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Компании готовы инвестировать в инструменты для повышения продуктивности сотрудников.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530953" y="4806791"/>
            <a:ext cx="158591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530953" y="5053489"/>
            <a:ext cx="4313873" cy="2286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5" name="Text 12"/>
          <p:cNvSpPr/>
          <p:nvPr/>
        </p:nvSpPr>
        <p:spPr>
          <a:xfrm>
            <a:off x="9530953" y="5178504"/>
            <a:ext cx="1982867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Доступность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9530953" y="5537121"/>
            <a:ext cx="4313873" cy="431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Легко достижимы через B2B-каналы и корпоративные программы обучения.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530953" y="6197918"/>
            <a:ext cx="158591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530953" y="6444615"/>
            <a:ext cx="4313873" cy="2286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9" name="Text 16"/>
          <p:cNvSpPr/>
          <p:nvPr/>
        </p:nvSpPr>
        <p:spPr>
          <a:xfrm>
            <a:off x="9530953" y="6569631"/>
            <a:ext cx="1982867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Понятная Ценность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9530953" y="6928247"/>
            <a:ext cx="4313873" cy="431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Прямая корреляция между навыками промптинга и экономией времени/улучшением качества работы.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45973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Карта Рынка: Где Мы Находимся?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96835" y="779502"/>
            <a:ext cx="1383672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Существуют различные подходы к освоению нейросетей, но ни один из них не предлагает комплексного и интерактивного решения, специально разработанного для глубокого понимания промптинга.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35" y="979289"/>
            <a:ext cx="13836729" cy="77978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4104" y="1654960"/>
            <a:ext cx="2562759" cy="383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24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Онлайн‑курсы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24104" y="2147405"/>
            <a:ext cx="2562759" cy="69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Структурированное обучение по модулям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1356828" y="1654960"/>
            <a:ext cx="2549127" cy="383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YouTube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1356828" y="2147405"/>
            <a:ext cx="2549127" cy="69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Бесплатные видео‑уроки и обзоры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19739" y="6739583"/>
            <a:ext cx="2467337" cy="766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24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Шаблоны промптов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19739" y="7615419"/>
            <a:ext cx="2467337" cy="4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Готовые решения для задач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1275037" y="7122974"/>
            <a:ext cx="2630918" cy="383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Прямое общение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275037" y="7615419"/>
            <a:ext cx="2630918" cy="4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Эксперименты с ИИ в чате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396835" y="8840867"/>
            <a:ext cx="1383672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На текущем рынке заметна «пустота» в сегменте интерактивных платформ, которые бы сфокусировались на практическом обучении промптингу и адаптации к различным моделям нейросетей.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906" y="797243"/>
            <a:ext cx="8603456" cy="58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Конкуренты и Замены: Наше Отличие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68906" y="1688187"/>
            <a:ext cx="13092589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Анализ существующих решений выявляет их сильные стороны, но также подчеркивает пробелы, которые мы стремимся заполнить.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68906" y="2133481"/>
            <a:ext cx="13092589" cy="5298758"/>
          </a:xfrm>
          <a:prstGeom prst="roundRect">
            <a:avLst>
              <a:gd name="adj" fmla="val 317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6526" y="2141101"/>
            <a:ext cx="13077349" cy="4719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63216" y="2240875"/>
            <a:ext cx="2892147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Решение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236363" y="2240875"/>
            <a:ext cx="2888337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Ценность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505700" y="2240875"/>
            <a:ext cx="2888337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Сильные Стороны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775037" y="2240875"/>
            <a:ext cx="2892147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Ограничения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76526" y="2613065"/>
            <a:ext cx="13077349" cy="101679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63216" y="2712839"/>
            <a:ext cx="2892147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Онлайн-курсы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236363" y="2712839"/>
            <a:ext cx="2888337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Структурированные знания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505700" y="2712839"/>
            <a:ext cx="2888337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Глубина, сертификация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775037" y="2712839"/>
            <a:ext cx="2892147" cy="81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Высокая стоимость, низкая интерактивность, быстрое устаревание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76526" y="3629858"/>
            <a:ext cx="13077349" cy="74437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63216" y="3729633"/>
            <a:ext cx="2892147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YouTube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236363" y="3729633"/>
            <a:ext cx="2888337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Бесплатный контент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505700" y="3729633"/>
            <a:ext cx="2888337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Доступность, разнообразие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0775037" y="3729633"/>
            <a:ext cx="2892147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Нет системности, много "воды", непроверенная информация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76526" y="4374237"/>
            <a:ext cx="13077349" cy="101679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63216" y="4474012"/>
            <a:ext cx="2892147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Шаблоны промптов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236363" y="4474012"/>
            <a:ext cx="2888337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Быстрый старт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505700" y="4474012"/>
            <a:ext cx="2888337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Экономия времени, простота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0775037" y="4474012"/>
            <a:ext cx="2892147" cy="81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Не универсальны, не учат мыслить, ограничены контекстом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76526" y="5391031"/>
            <a:ext cx="13077349" cy="101679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63216" y="5490805"/>
            <a:ext cx="2892147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Сами нейросети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236363" y="5490805"/>
            <a:ext cx="2888337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Мгновенный ответ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505700" y="5490805"/>
            <a:ext cx="2888337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Скорость, доступность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0775037" y="5490805"/>
            <a:ext cx="2892147" cy="81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Требуют навыков, дают некачественные результаты при плохих промптах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776526" y="6407825"/>
            <a:ext cx="13077349" cy="101679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76526" y="6407825"/>
            <a:ext cx="3269337" cy="1016794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32" name="Text 30"/>
          <p:cNvSpPr/>
          <p:nvPr/>
        </p:nvSpPr>
        <p:spPr>
          <a:xfrm>
            <a:off x="963216" y="6507599"/>
            <a:ext cx="2892147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Наше Приложение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4045863" y="6407825"/>
            <a:ext cx="3269337" cy="1016794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34" name="Text 32"/>
          <p:cNvSpPr/>
          <p:nvPr/>
        </p:nvSpPr>
        <p:spPr>
          <a:xfrm>
            <a:off x="4236363" y="6507599"/>
            <a:ext cx="2888337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Интерактивное обучение, кастомизация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7315200" y="6407825"/>
            <a:ext cx="3269337" cy="1016794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36" name="Text 34"/>
          <p:cNvSpPr/>
          <p:nvPr/>
        </p:nvSpPr>
        <p:spPr>
          <a:xfrm>
            <a:off x="7505700" y="6507599"/>
            <a:ext cx="2888337" cy="81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Практический опыт, адаптация под задачу, актуальность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10584537" y="6407825"/>
            <a:ext cx="3269337" cy="1016794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38" name="Text 36"/>
          <p:cNvSpPr/>
          <p:nvPr/>
        </p:nvSpPr>
        <p:spPr>
          <a:xfrm>
            <a:off x="10775037" y="6507599"/>
            <a:ext cx="2892147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Требует вовлеченности пользователя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2361" y="627698"/>
            <a:ext cx="5264348" cy="63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Драйверы и Барьеры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92361" y="1630442"/>
            <a:ext cx="13045678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Наш продукт находится на пересечении мощных трендов и потенциальных препятствий.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2361" y="2328624"/>
            <a:ext cx="3544014" cy="381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Драйверы Роста Спроса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69501" y="2893576"/>
            <a:ext cx="45720" cy="2102525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6" name="Text 4"/>
          <p:cNvSpPr/>
          <p:nvPr/>
        </p:nvSpPr>
        <p:spPr>
          <a:xfrm>
            <a:off x="1041797" y="2916436"/>
            <a:ext cx="2773323" cy="636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Рост Популярности Нейросетей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41797" y="3735943"/>
            <a:ext cx="2773323" cy="1237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ИИ становится повсеместным инструментом в бизнесе и повседневной жизни.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20979" y="2893576"/>
            <a:ext cx="45720" cy="2102525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9" name="Text 7"/>
          <p:cNvSpPr/>
          <p:nvPr/>
        </p:nvSpPr>
        <p:spPr>
          <a:xfrm>
            <a:off x="4293275" y="2916436"/>
            <a:ext cx="2773442" cy="636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Цифровизация Рабочих Процессов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293275" y="3735943"/>
            <a:ext cx="2773442" cy="1237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Компании активно ищут способы повышения эффективности через технологии.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9501" y="5316379"/>
            <a:ext cx="45720" cy="179320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2" name="Text 10"/>
          <p:cNvSpPr/>
          <p:nvPr/>
        </p:nvSpPr>
        <p:spPr>
          <a:xfrm>
            <a:off x="1041797" y="5339239"/>
            <a:ext cx="2773323" cy="636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Экономия Времени и Ресурсов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41797" y="6158746"/>
            <a:ext cx="2773323" cy="927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Оптимизация работы с ИИ напрямую влияет на продуктивность.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20979" y="5316379"/>
            <a:ext cx="45720" cy="179320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5" name="Text 13"/>
          <p:cNvSpPr/>
          <p:nvPr/>
        </p:nvSpPr>
        <p:spPr>
          <a:xfrm>
            <a:off x="4293275" y="5339239"/>
            <a:ext cx="2773442" cy="636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Конкурентное Преимущество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293275" y="6158746"/>
            <a:ext cx="2773442" cy="927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Сотрудники с навыками промптинга становятся более ценными.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571303" y="2328624"/>
            <a:ext cx="3802142" cy="381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Потенциальные Барьеры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548443" y="2893576"/>
            <a:ext cx="45720" cy="2102525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9" name="Text 17"/>
          <p:cNvSpPr/>
          <p:nvPr/>
        </p:nvSpPr>
        <p:spPr>
          <a:xfrm>
            <a:off x="7820739" y="2916436"/>
            <a:ext cx="2546985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Недоверие к ИИ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820739" y="3417689"/>
            <a:ext cx="2773323" cy="618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Предвзятое отношение или страх замены рабочих мест.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799921" y="2893576"/>
            <a:ext cx="45720" cy="2102525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22" name="Text 20"/>
          <p:cNvSpPr/>
          <p:nvPr/>
        </p:nvSpPr>
        <p:spPr>
          <a:xfrm>
            <a:off x="11072217" y="2916436"/>
            <a:ext cx="2773442" cy="636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Бесплатные Альтернативы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072217" y="3735943"/>
            <a:ext cx="2773442" cy="1237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Наличие большого количества бесплатного, но неструктурированного контента.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548443" y="5316379"/>
            <a:ext cx="45720" cy="2102525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25" name="Text 23"/>
          <p:cNvSpPr/>
          <p:nvPr/>
        </p:nvSpPr>
        <p:spPr>
          <a:xfrm>
            <a:off x="7820739" y="5339239"/>
            <a:ext cx="2546985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Нежелание Учиться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820739" y="5840492"/>
            <a:ext cx="2773323" cy="927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Сопротивление новым инструментам и методам работы.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799921" y="5316379"/>
            <a:ext cx="45720" cy="2102525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28" name="Text 26"/>
          <p:cNvSpPr/>
          <p:nvPr/>
        </p:nvSpPr>
        <p:spPr>
          <a:xfrm>
            <a:off x="11072217" y="5339239"/>
            <a:ext cx="2773442" cy="636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Сложность Интеграции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1072217" y="6158746"/>
            <a:ext cx="2773442" cy="1237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Вопросы совместимости с существующими корпоративными системами.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3816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353753"/>
            <a:ext cx="584168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Ценностное Предложение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4138374"/>
            <a:ext cx="12705874" cy="782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150"/>
              </a:lnSpc>
              <a:buNone/>
            </a:pPr>
            <a:r>
              <a:rPr lang="en-US" sz="4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"Повысьте продуктивность с ИИ в 2 раза!"</a:t>
            </a:r>
            <a:endParaRPr lang="en-US" sz="4900" dirty="0"/>
          </a:p>
        </p:txBody>
      </p:sp>
      <p:sp>
        <p:nvSpPr>
          <p:cNvPr id="5" name="Shape 2"/>
          <p:cNvSpPr/>
          <p:nvPr/>
        </p:nvSpPr>
        <p:spPr>
          <a:xfrm>
            <a:off x="793790" y="5138499"/>
            <a:ext cx="4250769" cy="2005489"/>
          </a:xfrm>
          <a:prstGeom prst="roundRect">
            <a:avLst>
              <a:gd name="adj" fmla="val 8143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827" y="5052536"/>
            <a:ext cx="217646" cy="217646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2876" y="7012305"/>
            <a:ext cx="217646" cy="21764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88827" y="5433536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Для кого?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1088827" y="5804059"/>
            <a:ext cx="3660696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Для офисных сотрудников (не IT), желающих максимально эффективно использовать нейросети.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5189696" y="5138499"/>
            <a:ext cx="4250888" cy="2005489"/>
          </a:xfrm>
          <a:prstGeom prst="roundRect">
            <a:avLst>
              <a:gd name="adj" fmla="val 8143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3733" y="5052536"/>
            <a:ext cx="217646" cy="217646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8902" y="7012305"/>
            <a:ext cx="217646" cy="21764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484733" y="5433536"/>
            <a:ext cx="281690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Какую проблему решает?</a:t>
            </a:r>
            <a:endParaRPr lang="en-US" sz="1750" dirty="0"/>
          </a:p>
        </p:txBody>
      </p:sp>
      <p:sp>
        <p:nvSpPr>
          <p:cNvPr id="14" name="Text 7"/>
          <p:cNvSpPr/>
          <p:nvPr/>
        </p:nvSpPr>
        <p:spPr>
          <a:xfrm>
            <a:off x="5484733" y="5804059"/>
            <a:ext cx="3660815" cy="1044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Учит создавать точные и эффективные промпты, а также выбирать оптимальную нейросеть для конкретной задачи.</a:t>
            </a:r>
            <a:endParaRPr lang="en-US" sz="1400" dirty="0"/>
          </a:p>
        </p:txBody>
      </p:sp>
      <p:sp>
        <p:nvSpPr>
          <p:cNvPr id="15" name="Shape 8"/>
          <p:cNvSpPr/>
          <p:nvPr/>
        </p:nvSpPr>
        <p:spPr>
          <a:xfrm>
            <a:off x="9585722" y="5138499"/>
            <a:ext cx="4250888" cy="2005489"/>
          </a:xfrm>
          <a:prstGeom prst="roundRect">
            <a:avLst>
              <a:gd name="adj" fmla="val 8143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9759" y="5052536"/>
            <a:ext cx="217646" cy="217646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04927" y="7012305"/>
            <a:ext cx="217646" cy="217646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9880759" y="5433536"/>
            <a:ext cx="349734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Какую измеримую пользу дает?</a:t>
            </a:r>
            <a:endParaRPr lang="en-US" sz="1750" dirty="0"/>
          </a:p>
        </p:txBody>
      </p:sp>
      <p:sp>
        <p:nvSpPr>
          <p:cNvPr id="19" name="Text 10"/>
          <p:cNvSpPr/>
          <p:nvPr/>
        </p:nvSpPr>
        <p:spPr>
          <a:xfrm>
            <a:off x="9880759" y="5804059"/>
            <a:ext cx="3660815" cy="1044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Сокращение времени на получение качественных результатов от ИИ на 50% и повышение качества генерируемого контента.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2698"/>
            <a:ext cx="5278041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Business Model Canvas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562814"/>
            <a:ext cx="1304282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Наш Business Model Canvas (BMC) описывает ключевые аспекты того, как мы будем создавать, доставлять и получать ценность.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93790" y="2032397"/>
            <a:ext cx="13042821" cy="5564505"/>
          </a:xfrm>
          <a:prstGeom prst="roundRect">
            <a:avLst>
              <a:gd name="adj" fmla="val 311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040017"/>
            <a:ext cx="13027581" cy="7822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94529" y="2145863"/>
            <a:ext cx="221611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Ключевые партнеры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03784" y="2145863"/>
            <a:ext cx="2212300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Ключевые активности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12656" y="2040017"/>
            <a:ext cx="2605445" cy="782241"/>
          </a:xfrm>
          <a:prstGeom prst="rect">
            <a:avLst/>
          </a:prstGeom>
          <a:solidFill>
            <a:srgbClr val="CDDAFA"/>
          </a:solidFill>
          <a:ln/>
        </p:spPr>
      </p:sp>
      <p:sp>
        <p:nvSpPr>
          <p:cNvPr id="9" name="Text 7"/>
          <p:cNvSpPr/>
          <p:nvPr/>
        </p:nvSpPr>
        <p:spPr>
          <a:xfrm>
            <a:off x="6209228" y="2145863"/>
            <a:ext cx="2212300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Ценностное предложение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814673" y="2145863"/>
            <a:ext cx="2212300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Взаимоотношения с клиентами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20118" y="2145863"/>
            <a:ext cx="2216110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Клиентские сегменты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1410" y="2822258"/>
            <a:ext cx="13027581" cy="135278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94529" y="2928104"/>
            <a:ext cx="221611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Разработчики нейросетей, образовательные платформы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03784" y="2928104"/>
            <a:ext cx="2212300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Разработка контента, обновление моделей, маркетинг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12656" y="2822258"/>
            <a:ext cx="2605445" cy="1352788"/>
          </a:xfrm>
          <a:prstGeom prst="rect">
            <a:avLst/>
          </a:prstGeom>
          <a:solidFill>
            <a:srgbClr val="CDDAFA"/>
          </a:solidFill>
          <a:ln/>
        </p:spPr>
      </p:sp>
      <p:sp>
        <p:nvSpPr>
          <p:cNvPr id="16" name="Text 14"/>
          <p:cNvSpPr/>
          <p:nvPr/>
        </p:nvSpPr>
        <p:spPr>
          <a:xfrm>
            <a:off x="6209228" y="2928104"/>
            <a:ext cx="2212300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Интерактивное обучение промптингу, экономия времени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14673" y="2928104"/>
            <a:ext cx="2212300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Онлайн-поддержка, сообщество, персонализация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20118" y="2928104"/>
            <a:ext cx="2216110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Офисные сотрудники (не IT), SMB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1410" y="4175046"/>
            <a:ext cx="13027581" cy="4969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94529" y="4280892"/>
            <a:ext cx="221611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Ключевые ресурсы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03784" y="4280892"/>
            <a:ext cx="221230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09228" y="4280892"/>
            <a:ext cx="221230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814673" y="4280892"/>
            <a:ext cx="221230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Каналы сбыта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420118" y="4280892"/>
            <a:ext cx="221611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01410" y="4672013"/>
            <a:ext cx="13027581" cy="135278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94529" y="4777859"/>
            <a:ext cx="221611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Эксперты по промптингу, платформа, ИИ-инструменты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603784" y="4777859"/>
            <a:ext cx="221230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09228" y="4777859"/>
            <a:ext cx="221230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814673" y="4777859"/>
            <a:ext cx="22123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Веб/мобильное приложение, корпоративные продажи, партнерства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420118" y="4777859"/>
            <a:ext cx="221611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01410" y="6024801"/>
            <a:ext cx="13027581" cy="4969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01767" y="6024801"/>
            <a:ext cx="2605445" cy="496967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33" name="Text 31"/>
          <p:cNvSpPr/>
          <p:nvPr/>
        </p:nvSpPr>
        <p:spPr>
          <a:xfrm>
            <a:off x="994529" y="6130647"/>
            <a:ext cx="221611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Структура издержек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603784" y="6130647"/>
            <a:ext cx="221230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209228" y="6130647"/>
            <a:ext cx="221230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814673" y="6130647"/>
            <a:ext cx="221230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1223546" y="6024801"/>
            <a:ext cx="2605445" cy="496967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38" name="Text 36"/>
          <p:cNvSpPr/>
          <p:nvPr/>
        </p:nvSpPr>
        <p:spPr>
          <a:xfrm>
            <a:off x="11420118" y="6130647"/>
            <a:ext cx="221611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Потоки доходов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801410" y="6521768"/>
            <a:ext cx="13027581" cy="106751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01767" y="6521768"/>
            <a:ext cx="2605445" cy="1067514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41" name="Text 39"/>
          <p:cNvSpPr/>
          <p:nvPr/>
        </p:nvSpPr>
        <p:spPr>
          <a:xfrm>
            <a:off x="994529" y="6627614"/>
            <a:ext cx="2216110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Разработка, маркетинг, содержание платформы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3603784" y="6627614"/>
            <a:ext cx="221230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209228" y="6627614"/>
            <a:ext cx="221230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814673" y="6627614"/>
            <a:ext cx="221230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11223546" y="6521768"/>
            <a:ext cx="2605445" cy="1067514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46" name="Text 44"/>
          <p:cNvSpPr/>
          <p:nvPr/>
        </p:nvSpPr>
        <p:spPr>
          <a:xfrm>
            <a:off x="11420118" y="6627614"/>
            <a:ext cx="2216110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Подписки (B2C, B2B), премиум-контент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1536"/>
            <a:ext cx="729698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Продуктовые и Бизнес-Гипотезы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718786"/>
            <a:ext cx="130428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Мы сформулировали ряд гипотез, которые будут направлять нашу разработку и стратегию.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93790" y="2243018"/>
            <a:ext cx="90726" cy="90726"/>
          </a:xfrm>
          <a:prstGeom prst="roundRect">
            <a:avLst>
              <a:gd name="adj" fmla="val 503935"/>
            </a:avLst>
          </a:prstGeom>
          <a:solidFill>
            <a:srgbClr val="84C1FA"/>
          </a:solidFill>
          <a:ln/>
        </p:spPr>
      </p:sp>
      <p:sp>
        <p:nvSpPr>
          <p:cNvPr id="5" name="Text 3"/>
          <p:cNvSpPr/>
          <p:nvPr/>
        </p:nvSpPr>
        <p:spPr>
          <a:xfrm>
            <a:off x="1029653" y="2143244"/>
            <a:ext cx="1280695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Большинство офисных сотрудников испытывают трудности с промптингом.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93790" y="2794516"/>
            <a:ext cx="90726" cy="90726"/>
          </a:xfrm>
          <a:prstGeom prst="roundRect">
            <a:avLst>
              <a:gd name="adj" fmla="val 503935"/>
            </a:avLst>
          </a:prstGeom>
          <a:solidFill>
            <a:srgbClr val="84C1FA"/>
          </a:solidFill>
          <a:ln/>
        </p:spPr>
      </p:sp>
      <p:sp>
        <p:nvSpPr>
          <p:cNvPr id="7" name="Text 5"/>
          <p:cNvSpPr/>
          <p:nvPr/>
        </p:nvSpPr>
        <p:spPr>
          <a:xfrm>
            <a:off x="1029653" y="2694742"/>
            <a:ext cx="1280695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Интерактивный формат обучения промптингу более эффективен, чем пассивный.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93790" y="3346013"/>
            <a:ext cx="90726" cy="90726"/>
          </a:xfrm>
          <a:prstGeom prst="roundRect">
            <a:avLst>
              <a:gd name="adj" fmla="val 503935"/>
            </a:avLst>
          </a:prstGeom>
          <a:solidFill>
            <a:srgbClr val="84C1FA"/>
          </a:solidFill>
          <a:ln/>
        </p:spPr>
      </p:sp>
      <p:sp>
        <p:nvSpPr>
          <p:cNvPr id="9" name="Text 7"/>
          <p:cNvSpPr/>
          <p:nvPr/>
        </p:nvSpPr>
        <p:spPr>
          <a:xfrm>
            <a:off x="1029653" y="3246239"/>
            <a:ext cx="1280695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Пользователи готовы платить за специализированные знания по работе с ИИ.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3790" y="3897511"/>
            <a:ext cx="90726" cy="90726"/>
          </a:xfrm>
          <a:prstGeom prst="roundRect">
            <a:avLst>
              <a:gd name="adj" fmla="val 503935"/>
            </a:avLst>
          </a:prstGeom>
          <a:solidFill>
            <a:srgbClr val="84C1FA"/>
          </a:solidFill>
          <a:ln/>
        </p:spPr>
      </p:sp>
      <p:sp>
        <p:nvSpPr>
          <p:cNvPr id="11" name="Text 9"/>
          <p:cNvSpPr/>
          <p:nvPr/>
        </p:nvSpPr>
        <p:spPr>
          <a:xfrm>
            <a:off x="1029653" y="3797737"/>
            <a:ext cx="1280695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Приложение увеличит продуктивность пользователей на 30%+.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3790" y="4449008"/>
            <a:ext cx="90726" cy="90726"/>
          </a:xfrm>
          <a:prstGeom prst="roundRect">
            <a:avLst>
              <a:gd name="adj" fmla="val 503935"/>
            </a:avLst>
          </a:prstGeom>
          <a:solidFill>
            <a:srgbClr val="84C1FA"/>
          </a:solidFill>
          <a:ln/>
        </p:spPr>
      </p:sp>
      <p:sp>
        <p:nvSpPr>
          <p:cNvPr id="13" name="Text 11"/>
          <p:cNvSpPr/>
          <p:nvPr/>
        </p:nvSpPr>
        <p:spPr>
          <a:xfrm>
            <a:off x="1029653" y="4349234"/>
            <a:ext cx="1280695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Существует спрос на кастомизированные промпты под специфические задачи.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3790" y="5000506"/>
            <a:ext cx="90726" cy="90726"/>
          </a:xfrm>
          <a:prstGeom prst="roundRect">
            <a:avLst>
              <a:gd name="adj" fmla="val 503935"/>
            </a:avLst>
          </a:prstGeom>
          <a:solidFill>
            <a:srgbClr val="84C1FA"/>
          </a:solidFill>
          <a:ln/>
        </p:spPr>
      </p:sp>
      <p:sp>
        <p:nvSpPr>
          <p:cNvPr id="15" name="Text 13"/>
          <p:cNvSpPr/>
          <p:nvPr/>
        </p:nvSpPr>
        <p:spPr>
          <a:xfrm>
            <a:off x="1029653" y="4900732"/>
            <a:ext cx="1280695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Пользователи предпочтут использовать несколько ИИ-моделей в одном интерфейсе.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3790" y="5552003"/>
            <a:ext cx="90726" cy="90726"/>
          </a:xfrm>
          <a:prstGeom prst="roundRect">
            <a:avLst>
              <a:gd name="adj" fmla="val 503935"/>
            </a:avLst>
          </a:prstGeom>
          <a:solidFill>
            <a:srgbClr val="84C1FA"/>
          </a:solidFill>
          <a:ln/>
        </p:spPr>
      </p:sp>
      <p:sp>
        <p:nvSpPr>
          <p:cNvPr id="17" name="Text 15"/>
          <p:cNvSpPr/>
          <p:nvPr/>
        </p:nvSpPr>
        <p:spPr>
          <a:xfrm>
            <a:off x="1029653" y="5452229"/>
            <a:ext cx="1280695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B2B-сегмент будет основным источником дохода.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93790" y="6103501"/>
            <a:ext cx="90726" cy="90726"/>
          </a:xfrm>
          <a:prstGeom prst="roundRect">
            <a:avLst>
              <a:gd name="adj" fmla="val 503935"/>
            </a:avLst>
          </a:prstGeom>
          <a:solidFill>
            <a:srgbClr val="84C1FA"/>
          </a:solidFill>
          <a:ln/>
        </p:spPr>
      </p:sp>
      <p:sp>
        <p:nvSpPr>
          <p:cNvPr id="19" name="Text 17"/>
          <p:cNvSpPr/>
          <p:nvPr/>
        </p:nvSpPr>
        <p:spPr>
          <a:xfrm>
            <a:off x="1029653" y="6003727"/>
            <a:ext cx="1280695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Сарафанное радио будет ключевым каналом привлечения пользователей.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93790" y="6654998"/>
            <a:ext cx="90726" cy="90726"/>
          </a:xfrm>
          <a:prstGeom prst="roundRect">
            <a:avLst>
              <a:gd name="adj" fmla="val 503935"/>
            </a:avLst>
          </a:prstGeom>
          <a:solidFill>
            <a:srgbClr val="84C1FA"/>
          </a:solidFill>
          <a:ln/>
        </p:spPr>
      </p:sp>
      <p:sp>
        <p:nvSpPr>
          <p:cNvPr id="21" name="Text 19"/>
          <p:cNvSpPr/>
          <p:nvPr/>
        </p:nvSpPr>
        <p:spPr>
          <a:xfrm>
            <a:off x="1029653" y="6555224"/>
            <a:ext cx="1280695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Интеграция с существующими рабочими инструментами повысит удержание.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93790" y="7206496"/>
            <a:ext cx="90726" cy="90726"/>
          </a:xfrm>
          <a:prstGeom prst="roundRect">
            <a:avLst>
              <a:gd name="adj" fmla="val 503935"/>
            </a:avLst>
          </a:prstGeom>
          <a:solidFill>
            <a:srgbClr val="84C1FA"/>
          </a:solidFill>
          <a:ln/>
        </p:spPr>
      </p:sp>
      <p:sp>
        <p:nvSpPr>
          <p:cNvPr id="23" name="Text 21"/>
          <p:cNvSpPr/>
          <p:nvPr/>
        </p:nvSpPr>
        <p:spPr>
          <a:xfrm>
            <a:off x="1029653" y="7106722"/>
            <a:ext cx="1280695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Пользователи будут активно использовать функцию "выбора модели под задачу".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5925" y="1232416"/>
            <a:ext cx="10131981" cy="591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ТОП-3 Рисковые Гипотезы и План Проверки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35925" y="2139553"/>
            <a:ext cx="13158549" cy="277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Мы выделили три наиболее критичные гипотезы, от подтверждения которых зависит успех проекта, и разработали план их проверки.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19770" y="3351728"/>
            <a:ext cx="3996928" cy="189190"/>
          </a:xfrm>
          <a:prstGeom prst="roundRect">
            <a:avLst>
              <a:gd name="adj" fmla="val 90029"/>
            </a:avLst>
          </a:prstGeom>
          <a:solidFill>
            <a:srgbClr val="CEE6FD"/>
          </a:solidFill>
          <a:ln/>
        </p:spPr>
      </p:sp>
      <p:sp>
        <p:nvSpPr>
          <p:cNvPr id="5" name="Shape 3"/>
          <p:cNvSpPr/>
          <p:nvPr/>
        </p:nvSpPr>
        <p:spPr>
          <a:xfrm>
            <a:off x="735925" y="3162538"/>
            <a:ext cx="567690" cy="567690"/>
          </a:xfrm>
          <a:prstGeom prst="roundRect">
            <a:avLst>
              <a:gd name="adj" fmla="val 80537"/>
            </a:avLst>
          </a:prstGeom>
          <a:solidFill>
            <a:srgbClr val="CEE6F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48" y="3304461"/>
            <a:ext cx="283845" cy="2838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5116" y="3888105"/>
            <a:ext cx="3902512" cy="591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Гипотеза 1: Пользователи готовы платить за обучение промптингу.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25116" y="4574024"/>
            <a:ext cx="3902512" cy="1388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Проверка:</a:t>
            </a: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Запуск MVP с ограниченным набором функций и платной подпиской. </a:t>
            </a:r>
            <a:r>
              <a:rPr lang="en-US" sz="14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Данные:</a:t>
            </a: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Конверсия в подписку, отзывы пользователей о ценообразовании. </a:t>
            </a:r>
            <a:r>
              <a:rPr lang="en-US" sz="14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Критерий:</a:t>
            </a: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Конверсия в подписку &gt; 5%.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58539" y="3067883"/>
            <a:ext cx="3996928" cy="189190"/>
          </a:xfrm>
          <a:prstGeom prst="roundRect">
            <a:avLst>
              <a:gd name="adj" fmla="val 90029"/>
            </a:avLst>
          </a:prstGeom>
          <a:solidFill>
            <a:srgbClr val="CEE6FD"/>
          </a:solidFill>
          <a:ln/>
        </p:spPr>
      </p:sp>
      <p:sp>
        <p:nvSpPr>
          <p:cNvPr id="10" name="Shape 7"/>
          <p:cNvSpPr/>
          <p:nvPr/>
        </p:nvSpPr>
        <p:spPr>
          <a:xfrm>
            <a:off x="5174694" y="2878693"/>
            <a:ext cx="567690" cy="567690"/>
          </a:xfrm>
          <a:prstGeom prst="roundRect">
            <a:avLst>
              <a:gd name="adj" fmla="val 80537"/>
            </a:avLst>
          </a:prstGeom>
          <a:solidFill>
            <a:srgbClr val="CEE6F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16617" y="3020616"/>
            <a:ext cx="283845" cy="28384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63885" y="3604260"/>
            <a:ext cx="3902512" cy="886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Гипотеза 2: Интерактивный формат обучения значительно повышает эффективность.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5363885" y="4585811"/>
            <a:ext cx="3902512" cy="2222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Проверка:</a:t>
            </a: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А/Б тестирование: группа с интерактивным обучением vs. группа с текстовыми материалами. </a:t>
            </a:r>
            <a:r>
              <a:rPr lang="en-US" sz="14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Данные:</a:t>
            </a: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Результаты тестов на качество промптов, скорость выполнения задач, опросы удовлетворенности. </a:t>
            </a:r>
            <a:r>
              <a:rPr lang="en-US" sz="14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Критерий:</a:t>
            </a: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Группа с интерактивным обучением показывает +20% к качеству промптов.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9897308" y="2784038"/>
            <a:ext cx="3997047" cy="189190"/>
          </a:xfrm>
          <a:prstGeom prst="roundRect">
            <a:avLst>
              <a:gd name="adj" fmla="val 90029"/>
            </a:avLst>
          </a:prstGeom>
          <a:solidFill>
            <a:srgbClr val="CEE6FD"/>
          </a:solidFill>
          <a:ln/>
        </p:spPr>
      </p:sp>
      <p:sp>
        <p:nvSpPr>
          <p:cNvPr id="15" name="Shape 11"/>
          <p:cNvSpPr/>
          <p:nvPr/>
        </p:nvSpPr>
        <p:spPr>
          <a:xfrm>
            <a:off x="9613463" y="2594848"/>
            <a:ext cx="567690" cy="567690"/>
          </a:xfrm>
          <a:prstGeom prst="roundRect">
            <a:avLst>
              <a:gd name="adj" fmla="val 80537"/>
            </a:avLst>
          </a:prstGeom>
          <a:solidFill>
            <a:srgbClr val="CEE6FD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5386" y="2736771"/>
            <a:ext cx="283845" cy="28384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02654" y="3320415"/>
            <a:ext cx="3902631" cy="591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Гипотеза 3: B2B-сегмент является основным драйвером роста.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9802654" y="4006334"/>
            <a:ext cx="3902631" cy="194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Проверка:</a:t>
            </a: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Пилотные проекты с 3-5 компаниями. </a:t>
            </a:r>
            <a:r>
              <a:rPr lang="en-US" sz="14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Данные:</a:t>
            </a: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Количество заключенных B2B-контрактов, средний чек, LTV корпоративных клиентов. </a:t>
            </a:r>
            <a:r>
              <a:rPr lang="en-US" sz="14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Критерий:</a:t>
            </a: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Не менее 2-х успешных пилотных проектов с дальнейшей пролонгацией.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1026</Words>
  <Application>Microsoft Office PowerPoint</Application>
  <PresentationFormat>Произвольный</PresentationFormat>
  <Paragraphs>147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Instrument Sans Semi Bold</vt:lpstr>
      <vt:lpstr>Instrument Sans Light</vt:lpstr>
      <vt:lpstr>Instrument Sans Medium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Levka Flower</cp:lastModifiedBy>
  <cp:revision>2</cp:revision>
  <dcterms:created xsi:type="dcterms:W3CDTF">2026-02-17T10:54:05Z</dcterms:created>
  <dcterms:modified xsi:type="dcterms:W3CDTF">2026-02-17T11:02:06Z</dcterms:modified>
</cp:coreProperties>
</file>