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Bitter Bold" panose="020B0604020202020204" charset="-52"/>
      <p:regular r:id="rId13"/>
    </p:embeddedFont>
    <p:embeddedFont>
      <p:font typeface="Bitter ExtraBold" panose="020B0604020202020204" charset="-52"/>
      <p:regular r:id="rId14"/>
    </p:embeddedFont>
    <p:embeddedFont>
      <p:font typeface="Noto Sans" panose="020B0502040204020203" pitchFamily="34" charset="0"/>
      <p:regular r:id="rId15"/>
    </p:embeddedFont>
    <p:embeddedFont>
      <p:font typeface="Noto Sans Bold" panose="020B0604020202020204" charset="0"/>
      <p:regular r:id="rId16"/>
    </p:embeddedFont>
    <p:embeddedFont>
      <p:font typeface="Noto Sans SemiBold"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687"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vka Flower" userId="01d5820ccbdfb6e5" providerId="LiveId" clId="{15A7487B-23AC-4906-A97E-783B259E56A5}"/>
    <pc:docChg chg="modSld">
      <pc:chgData name="Levka Flower" userId="01d5820ccbdfb6e5" providerId="LiveId" clId="{15A7487B-23AC-4906-A97E-783B259E56A5}" dt="2026-10-26T10:44:52.599" v="25" actId="1076"/>
      <pc:docMkLst>
        <pc:docMk/>
      </pc:docMkLst>
      <pc:sldChg chg="addSp modSp mod">
        <pc:chgData name="Levka Flower" userId="01d5820ccbdfb6e5" providerId="LiveId" clId="{15A7487B-23AC-4906-A97E-783B259E56A5}" dt="2026-10-26T10:43:59.347" v="1" actId="1076"/>
        <pc:sldMkLst>
          <pc:docMk/>
          <pc:sldMk cId="0" sldId="257"/>
        </pc:sldMkLst>
        <pc:picChg chg="add mod">
          <ac:chgData name="Levka Flower" userId="01d5820ccbdfb6e5" providerId="LiveId" clId="{15A7487B-23AC-4906-A97E-783B259E56A5}" dt="2026-10-26T10:43:59.347" v="1" actId="1076"/>
          <ac:picMkLst>
            <pc:docMk/>
            <pc:sldMk cId="0" sldId="257"/>
            <ac:picMk id="24" creationId="{7DECEFDE-4842-F0BA-7E5A-F09532BA29B0}"/>
          </ac:picMkLst>
        </pc:picChg>
      </pc:sldChg>
      <pc:sldChg chg="addSp modSp mod">
        <pc:chgData name="Levka Flower" userId="01d5820ccbdfb6e5" providerId="LiveId" clId="{15A7487B-23AC-4906-A97E-783B259E56A5}" dt="2026-10-26T10:44:03.790" v="3" actId="1076"/>
        <pc:sldMkLst>
          <pc:docMk/>
          <pc:sldMk cId="0" sldId="258"/>
        </pc:sldMkLst>
        <pc:picChg chg="add mod">
          <ac:chgData name="Levka Flower" userId="01d5820ccbdfb6e5" providerId="LiveId" clId="{15A7487B-23AC-4906-A97E-783B259E56A5}" dt="2026-10-26T10:44:03.790" v="3" actId="1076"/>
          <ac:picMkLst>
            <pc:docMk/>
            <pc:sldMk cId="0" sldId="258"/>
            <ac:picMk id="10" creationId="{566DE6E1-D797-C39E-8B54-07261D9C8D75}"/>
          </ac:picMkLst>
        </pc:picChg>
      </pc:sldChg>
      <pc:sldChg chg="addSp modSp mod">
        <pc:chgData name="Levka Flower" userId="01d5820ccbdfb6e5" providerId="LiveId" clId="{15A7487B-23AC-4906-A97E-783B259E56A5}" dt="2026-10-26T10:44:14.644" v="13" actId="20577"/>
        <pc:sldMkLst>
          <pc:docMk/>
          <pc:sldMk cId="0" sldId="259"/>
        </pc:sldMkLst>
        <pc:graphicFrameChg chg="modGraphic">
          <ac:chgData name="Levka Flower" userId="01d5820ccbdfb6e5" providerId="LiveId" clId="{15A7487B-23AC-4906-A97E-783B259E56A5}" dt="2026-10-26T10:44:14.644" v="13" actId="20577"/>
          <ac:graphicFrameMkLst>
            <pc:docMk/>
            <pc:sldMk cId="0" sldId="259"/>
            <ac:graphicFrameMk id="5" creationId="{00000000-0000-0000-0000-000000000000}"/>
          </ac:graphicFrameMkLst>
        </pc:graphicFrameChg>
        <pc:picChg chg="add mod">
          <ac:chgData name="Levka Flower" userId="01d5820ccbdfb6e5" providerId="LiveId" clId="{15A7487B-23AC-4906-A97E-783B259E56A5}" dt="2026-10-26T10:44:08.619" v="5" actId="1076"/>
          <ac:picMkLst>
            <pc:docMk/>
            <pc:sldMk cId="0" sldId="259"/>
            <ac:picMk id="10" creationId="{0261D55C-A3AF-1F3D-EFF7-EE28C26305D2}"/>
          </ac:picMkLst>
        </pc:picChg>
      </pc:sldChg>
      <pc:sldChg chg="addSp modSp mod">
        <pc:chgData name="Levka Flower" userId="01d5820ccbdfb6e5" providerId="LiveId" clId="{15A7487B-23AC-4906-A97E-783B259E56A5}" dt="2026-10-26T10:44:19.663" v="15" actId="1076"/>
        <pc:sldMkLst>
          <pc:docMk/>
          <pc:sldMk cId="0" sldId="260"/>
        </pc:sldMkLst>
        <pc:picChg chg="add mod">
          <ac:chgData name="Levka Flower" userId="01d5820ccbdfb6e5" providerId="LiveId" clId="{15A7487B-23AC-4906-A97E-783B259E56A5}" dt="2026-10-26T10:44:19.663" v="15" actId="1076"/>
          <ac:picMkLst>
            <pc:docMk/>
            <pc:sldMk cId="0" sldId="260"/>
            <ac:picMk id="17" creationId="{5573194D-BED1-E4C6-1E2A-2886CC1611D3}"/>
          </ac:picMkLst>
        </pc:picChg>
      </pc:sldChg>
      <pc:sldChg chg="addSp modSp mod">
        <pc:chgData name="Levka Flower" userId="01d5820ccbdfb6e5" providerId="LiveId" clId="{15A7487B-23AC-4906-A97E-783B259E56A5}" dt="2026-10-26T10:44:36.386" v="17" actId="1076"/>
        <pc:sldMkLst>
          <pc:docMk/>
          <pc:sldMk cId="0" sldId="261"/>
        </pc:sldMkLst>
        <pc:picChg chg="add mod">
          <ac:chgData name="Levka Flower" userId="01d5820ccbdfb6e5" providerId="LiveId" clId="{15A7487B-23AC-4906-A97E-783B259E56A5}" dt="2026-10-26T10:44:36.386" v="17" actId="1076"/>
          <ac:picMkLst>
            <pc:docMk/>
            <pc:sldMk cId="0" sldId="261"/>
            <ac:picMk id="22" creationId="{031B76F7-5226-751E-6B18-B5F5C900DD94}"/>
          </ac:picMkLst>
        </pc:picChg>
      </pc:sldChg>
      <pc:sldChg chg="addSp modSp mod">
        <pc:chgData name="Levka Flower" userId="01d5820ccbdfb6e5" providerId="LiveId" clId="{15A7487B-23AC-4906-A97E-783B259E56A5}" dt="2026-10-26T10:44:40.903" v="19" actId="1076"/>
        <pc:sldMkLst>
          <pc:docMk/>
          <pc:sldMk cId="0" sldId="262"/>
        </pc:sldMkLst>
        <pc:picChg chg="add mod">
          <ac:chgData name="Levka Flower" userId="01d5820ccbdfb6e5" providerId="LiveId" clId="{15A7487B-23AC-4906-A97E-783B259E56A5}" dt="2026-10-26T10:44:40.903" v="19" actId="1076"/>
          <ac:picMkLst>
            <pc:docMk/>
            <pc:sldMk cId="0" sldId="262"/>
            <ac:picMk id="7" creationId="{70C4E357-CBC2-F3E4-1291-0DD86E1EB728}"/>
          </ac:picMkLst>
        </pc:picChg>
      </pc:sldChg>
      <pc:sldChg chg="addSp modSp mod">
        <pc:chgData name="Levka Flower" userId="01d5820ccbdfb6e5" providerId="LiveId" clId="{15A7487B-23AC-4906-A97E-783B259E56A5}" dt="2026-10-26T10:44:44.841" v="21" actId="1076"/>
        <pc:sldMkLst>
          <pc:docMk/>
          <pc:sldMk cId="0" sldId="263"/>
        </pc:sldMkLst>
        <pc:picChg chg="add mod">
          <ac:chgData name="Levka Flower" userId="01d5820ccbdfb6e5" providerId="LiveId" clId="{15A7487B-23AC-4906-A97E-783B259E56A5}" dt="2026-10-26T10:44:44.841" v="21" actId="1076"/>
          <ac:picMkLst>
            <pc:docMk/>
            <pc:sldMk cId="0" sldId="263"/>
            <ac:picMk id="27" creationId="{C8578756-F4A0-1D80-0B7D-0EEFBF1523E4}"/>
          </ac:picMkLst>
        </pc:picChg>
      </pc:sldChg>
      <pc:sldChg chg="addSp modSp mod">
        <pc:chgData name="Levka Flower" userId="01d5820ccbdfb6e5" providerId="LiveId" clId="{15A7487B-23AC-4906-A97E-783B259E56A5}" dt="2026-10-26T10:44:48.203" v="23" actId="1076"/>
        <pc:sldMkLst>
          <pc:docMk/>
          <pc:sldMk cId="0" sldId="264"/>
        </pc:sldMkLst>
        <pc:picChg chg="add mod">
          <ac:chgData name="Levka Flower" userId="01d5820ccbdfb6e5" providerId="LiveId" clId="{15A7487B-23AC-4906-A97E-783B259E56A5}" dt="2026-10-26T10:44:48.203" v="23" actId="1076"/>
          <ac:picMkLst>
            <pc:docMk/>
            <pc:sldMk cId="0" sldId="264"/>
            <ac:picMk id="13" creationId="{E84BB950-39FF-1F8B-5B76-C2E1FD149552}"/>
          </ac:picMkLst>
        </pc:picChg>
      </pc:sldChg>
      <pc:sldChg chg="addSp modSp mod">
        <pc:chgData name="Levka Flower" userId="01d5820ccbdfb6e5" providerId="LiveId" clId="{15A7487B-23AC-4906-A97E-783B259E56A5}" dt="2026-10-26T10:44:52.599" v="25" actId="1076"/>
        <pc:sldMkLst>
          <pc:docMk/>
          <pc:sldMk cId="0" sldId="265"/>
        </pc:sldMkLst>
        <pc:picChg chg="add mod">
          <ac:chgData name="Levka Flower" userId="01d5820ccbdfb6e5" providerId="LiveId" clId="{15A7487B-23AC-4906-A97E-783B259E56A5}" dt="2026-10-26T10:44:52.599" v="25" actId="1076"/>
          <ac:picMkLst>
            <pc:docMk/>
            <pc:sldMk cId="0" sldId="265"/>
            <ac:picMk id="38" creationId="{2ABBE63F-27E3-99FB-70E5-783702957D0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865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рассматриваем правовую модель Zal / RentZal до регистрации компании. В проекте четыре сооснователя, поэтому важно заранее определить доли, порядок управления и принадлежность результатов разработки. ООО планируется зарегистрировать в России. В презентации отдельно обозначены решения, которые команда уже подтвердила, и условия, которые пока предлагаются для обсуждения. Основные вопросы связаны с общей компанией, интеллектуальными правами и соглашением между сооснователями. Регистрация компании и оформление прав здесь рассматриваются как предстоящие действия, а не как уже завершённые факты.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Сервис адресован человеку, у которого нет постоянной спортивной команды. Он ищет любительскую игру, выбирает подходящий зал и время и бронирует место. Схема показывает именно пользовательский сценарий, а перечень ниже обозначает функции MVP. Важно не смешивать бронирование и реальные расчёты. В локальном MVP оплата только имитируется. Работающие платежи и возвраты пока не заявляются: это дальнейшее развитие продукта. Поэтому юридическую модель мы обсуждаем с учётом текущего состояния проекта, а не предполагаем уже работающую платёжную систему.</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Главная причина выбора ООО связана с устройством команды: нас четверо, и каждому нужна юридически закреплённая доля в общем бизнесе. ИП предполагает одного предпринимателя, поэтому распределить доли в самом ИП невозможно. ООО соответствует задаче совместного управления и владения продуктом. АО на текущем этапе рассматривается как избыточно сложная форма. Таким образом, выбор объясняется конкретной потребностью команды закрепить участие в общем бизнесе. Основа этого решения приведена в статье 2 закона об ООО.</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Распределение долей подтверждено командой: у Арсения 30 процентов, у Льва и Антона по 25, у Гафура 20. Вместе это ровно 100 процентов. Отдельно от долей обсуждается размер уставного капитала. Предложение составляет 10 тысяч рублей, откуда получаются указанные номинальные стоимости долей. Этот размер пока предлагается для обсуждения. Номинал показывает долю в уставном капитале, но не является рыночной оценкой проекта. Поэтому подтверждённое распределение участия и предложение по капиталу на слайде визуально разделены.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Здесь разделены общее собрание и директор. Все четыре участника входят в общее собрание, а количество голосов связано с долями. Для обычных вопросов требуется более половины голосов: 55 процентов достаточно, ровно 50 недостаточно. Для важных вопросов предлагается закрепить порог 75 процентов в уставе. При таком пороге Арсений получает блокирующее влияние, поскольку остальные вместе имеют 70 процентов. Это предложение, а не уже действующее правило. Кандидат в директора также Арсений. Обязательные требования закона, в том числе о единогласии, сохраняются.</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ООО отвечает по обязательствам своим имуществом, а участники по общему правилу не отвечают по его долгам. Однако защита не абсолютна: имеют значение неоплаченная часть доли, личное поручительство и основания субсидиарной ответственности. При недобросовестном управлении возможна ответственность директора и контролирующих лиц. Капитал в 10 тысяч рублей не является пределом долгов компании. Четыре денежных потока показаны отдельно: оплата доли, заём участника, зарплата и распределение прибыли. Их нельзя смешивать. Само владение долей не обещает регулярную ежемесячную выплату.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Защищается не абстрактная идея сервиса, а конкретные результаты работы. Для кода, дизайна, логотипа, документации и оригинальных текстов рассматривается авторское право. При этом исключительные права на разработку необходимо оформить. У базы данных отдельно проверяются основания охраны и законность получения материалов. Название и обозначение требуют проверки и работы с товарным знаком. Для закрытых коммерческих сведений нужны конфиденциальность и реальные меры защиты. Таблица показывает разные инструменты для разных объектов и не означает, что все перечисленные права уже зарегистрированы или оформлены.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Наша цель состоит в том, чтобы исключительные права на собственные результаты разработки принадлежали ООО. При этом авторство сохраняется за людьми, создавшими материалы. Цепочка начинается с автора или текущего правообладателя, затем нужны договор и передача материалов. Для уже созданного составляется реестр объектов, оформляются договоры и акты. Для будущей разработки условия о правах включаются в трудовые документы либо договоры с исполнителями. История Git сама по себе этого не заменяет. Вклад внешних авторов проверяется отдельно, включая Рената Зарипова, если он создавал материалы; учредителем он не является.</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Первый блок касается бренда. Нужно выбрать единое публичное название, проверить сходные обозначения и оценить охраноспособность вариантов Zal / RentZal. Регистрацию нельзя обещать заранее. После проверки предполагается заявка на товарный знак на ООО. Второй блок касается практического контроля: лицензий библиотек и материалов, администрирования домена, репозиториев и хостинга. Одного NDA недостаточно без реальных правил доступа и защиты закрытых сведений. Добровольная регистрация программы в Роспатенте рассматривается отдельно: она не заменяет договорное оформление исключительных прав.</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Соглашение объединяет восемь тем: от цели проекта и долей до интеллектуальных прав, выхода из проекта и споров. До регистрации оно регулирует отношения сооснователей, а после регистрации оформляется корпоративный договор. При этом соглашение не заменяет устав и отдельные договоры передачи исключительных прав. В документах нужно различать подтверждённое распределение долей и обсуждаемые условия, включая капитал и порог важных решений. Представленная структура обозначает содержание будущих договорённостей, а не утверждает, что такие документы уже подписаны.
Подробные источники: ГК РФ, статья 67.2 «Корпоративный договор»: https://www.consultant.ru/document/cons_doc_LAW_5142/58e646d7b16793e74c6dd3b9e5a85e27a1b383ed/ . ГК РФ, статья 1234 о договоре об отчуждении исключительного права: https://www.consultant.ru/document/cons_doc_LAW_64629/26479f35ea4ceb422ecc82a4aeb1aab94d70e92f/ . ГК РФ, статья 1259 об объектах авторских прав: https://www.consultant.ru/document/cons_doc_LAW_64629/be05678dc42ddc67aae5be9ba9beebd367fb9a3f/ .
Федеральный закон от 08.02.1998 № 14-ФЗ «Об обществах с ограниченной ответственностью»: статья 2, основные положения об ООО, https://www.consultant.ru/document/cons_doc_LAW_17819/18d8e7b184053c6519cdf8238125f6c5bf905fd1/ ; статья 37, порядок проведения общего собрания, https://www.consultant.ru/document/cons_doc_LAW_17819/0411de33f27dd2f11c7c6107b4eda13b711fa1ea/ .
Дополнительная нормативная основа для практической защиты сведений и работы сервиса: Федеральный закон от 29.07.2004 № 98-ФЗ «О коммерческой тайне»; Федеральный закон от 27.07.2006 № 152-ФЗ «О персональных данных». Материалы концепции проекта: https://github.com/Leff52/start-up/blob/main/week6/Idea_Zal.md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DAE5F0"/>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github.com/Leff52/start-up/blob/main/week6/Idea_Zal.m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189" y="464630"/>
            <a:ext cx="6857828" cy="213320"/>
          </a:xfrm>
          <a:prstGeom prst="rect">
            <a:avLst/>
          </a:prstGeom>
          <a:noFill/>
          <a:ln/>
        </p:spPr>
        <p:txBody>
          <a:bodyPr wrap="none" lIns="0" tIns="0" rIns="0" bIns="0" rtlCol="0" anchor="t"/>
          <a:lstStyle/>
          <a:p>
            <a:pPr marL="0" indent="0" algn="l">
              <a:lnSpc>
                <a:spcPct val="100000"/>
              </a:lnSpc>
              <a:buNone/>
            </a:pPr>
            <a:r>
              <a:rPr lang="en-US" sz="1400" b="1" kern="100" spc="14" dirty="0">
                <a:solidFill>
                  <a:srgbClr val="14284B"/>
                </a:solidFill>
                <a:latin typeface="Noto Sans Bold" pitchFamily="34" charset="0"/>
                <a:ea typeface="Noto Sans Bold" pitchFamily="34" charset="-122"/>
                <a:cs typeface="Noto Sans Bold" pitchFamily="34" charset="0"/>
              </a:rPr>
              <a:t>Zal / RentZal · правовая модель</a:t>
            </a:r>
            <a:endParaRPr lang="en-US" sz="1400" dirty="0"/>
          </a:p>
        </p:txBody>
      </p:sp>
      <p:sp>
        <p:nvSpPr>
          <p:cNvPr id="3" name="Text 1"/>
          <p:cNvSpPr/>
          <p:nvPr/>
        </p:nvSpPr>
        <p:spPr>
          <a:xfrm>
            <a:off x="457189" y="2121952"/>
            <a:ext cx="6400640" cy="1173361"/>
          </a:xfrm>
          <a:prstGeom prst="rect">
            <a:avLst/>
          </a:prstGeom>
          <a:noFill/>
          <a:ln/>
        </p:spPr>
        <p:txBody>
          <a:bodyPr wrap="square" lIns="0" tIns="0" rIns="0" bIns="0" rtlCol="0" anchor="t">
            <a:normAutofit/>
          </a:bodyPr>
          <a:lstStyle/>
          <a:p>
            <a:pPr marL="0" indent="0" algn="l">
              <a:lnSpc>
                <a:spcPct val="87000"/>
              </a:lnSpc>
              <a:buNone/>
            </a:pPr>
            <a:r>
              <a:rPr lang="en-US" sz="4400" kern="100" spc="-44" dirty="0">
                <a:solidFill>
                  <a:srgbClr val="14284B"/>
                </a:solidFill>
                <a:latin typeface="Bitter ExtraBold" pitchFamily="34" charset="0"/>
                <a:ea typeface="Bitter ExtraBold" pitchFamily="34" charset="-122"/>
                <a:cs typeface="Bitter ExtraBold" pitchFamily="34" charset="0"/>
              </a:rPr>
              <a:t>Правовая модель</a:t>
            </a:r>
            <a:endParaRPr lang="en-US" sz="4400" dirty="0"/>
          </a:p>
          <a:p>
            <a:pPr marL="0" indent="0" algn="l">
              <a:lnSpc>
                <a:spcPct val="87000"/>
              </a:lnSpc>
              <a:buNone/>
            </a:pPr>
            <a:r>
              <a:rPr lang="en-US" sz="4400" kern="100" spc="-44" dirty="0">
                <a:solidFill>
                  <a:srgbClr val="14284B"/>
                </a:solidFill>
                <a:latin typeface="Bitter ExtraBold" pitchFamily="34" charset="0"/>
                <a:ea typeface="Bitter ExtraBold" pitchFamily="34" charset="-122"/>
                <a:cs typeface="Bitter ExtraBold" pitchFamily="34" charset="0"/>
              </a:rPr>
              <a:t>Zal / RentZal</a:t>
            </a:r>
            <a:endParaRPr lang="en-US" sz="4400" dirty="0"/>
          </a:p>
        </p:txBody>
      </p:sp>
      <p:sp>
        <p:nvSpPr>
          <p:cNvPr id="4" name="Text 2"/>
          <p:cNvSpPr/>
          <p:nvPr/>
        </p:nvSpPr>
        <p:spPr>
          <a:xfrm>
            <a:off x="457189" y="3450993"/>
            <a:ext cx="6400640" cy="584200"/>
          </a:xfrm>
          <a:prstGeom prst="rect">
            <a:avLst/>
          </a:prstGeom>
          <a:noFill/>
          <a:ln/>
        </p:spPr>
        <p:txBody>
          <a:bodyPr wrap="square" lIns="0" tIns="0" rIns="0" bIns="0" rtlCol="0" anchor="t">
            <a:normAutofit/>
          </a:bodyPr>
          <a:lstStyle/>
          <a:p>
            <a:pPr marL="0" indent="0" algn="l">
              <a:lnSpc>
                <a:spcPct val="96000"/>
              </a:lnSpc>
              <a:buNone/>
            </a:pPr>
            <a:r>
              <a:rPr lang="en-US" sz="2000" b="1" dirty="0">
                <a:solidFill>
                  <a:srgbClr val="14284B"/>
                </a:solidFill>
                <a:latin typeface="Noto Sans Bold" pitchFamily="34" charset="0"/>
                <a:ea typeface="Noto Sans Bold" pitchFamily="34" charset="-122"/>
                <a:cs typeface="Noto Sans Bold" pitchFamily="34" charset="0"/>
              </a:rPr>
              <a:t>Выбор ООО, защита интеллектуальной собственности и соглашение сооснователей</a:t>
            </a:r>
            <a:endParaRPr lang="en-US" sz="2000" dirty="0"/>
          </a:p>
        </p:txBody>
      </p:sp>
      <p:sp>
        <p:nvSpPr>
          <p:cNvPr id="5" name="Text 3"/>
          <p:cNvSpPr/>
          <p:nvPr/>
        </p:nvSpPr>
        <p:spPr>
          <a:xfrm>
            <a:off x="457189" y="5433020"/>
            <a:ext cx="6400640"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4284B"/>
                </a:solidFill>
                <a:latin typeface="Noto Sans" pitchFamily="34" charset="0"/>
                <a:ea typeface="Noto Sans" pitchFamily="34" charset="-122"/>
                <a:cs typeface="Noto Sans" pitchFamily="34" charset="0"/>
              </a:rPr>
              <a:t>Сооснователи: Арсений Брикульский, Лев Пихтовников, Антон Мальцов-Лукъяненко, Гафур Набиев.</a:t>
            </a:r>
            <a:endParaRPr lang="en-US" sz="1500" dirty="0"/>
          </a:p>
        </p:txBody>
      </p:sp>
      <p:sp>
        <p:nvSpPr>
          <p:cNvPr id="6" name="Text 4"/>
          <p:cNvSpPr/>
          <p:nvPr/>
        </p:nvSpPr>
        <p:spPr>
          <a:xfrm>
            <a:off x="457189" y="6172319"/>
            <a:ext cx="6857828" cy="240010"/>
          </a:xfrm>
          <a:prstGeom prst="rect">
            <a:avLst/>
          </a:prstGeom>
          <a:noFill/>
          <a:ln/>
        </p:spPr>
        <p:txBody>
          <a:bodyPr wrap="none" lIns="0" tIns="0" rIns="0" bIns="0" rtlCol="0" anchor="t"/>
          <a:lstStyle/>
          <a:p>
            <a:pPr marL="0" indent="0" algn="l">
              <a:lnSpc>
                <a:spcPct val="112000"/>
              </a:lnSpc>
              <a:buNone/>
            </a:pPr>
            <a:r>
              <a:rPr lang="en-US" sz="1400" dirty="0">
                <a:solidFill>
                  <a:srgbClr val="525E6B"/>
                </a:solidFill>
                <a:latin typeface="Noto Sans" pitchFamily="34" charset="0"/>
                <a:ea typeface="Noto Sans" pitchFamily="34" charset="-122"/>
                <a:cs typeface="Noto Sans" pitchFamily="34" charset="0"/>
              </a:rPr>
              <a:t>ООО планируется зарегистрировать в России.</a:t>
            </a:r>
            <a:endParaRPr lang="en-US" sz="1400" dirty="0"/>
          </a:p>
        </p:txBody>
      </p:sp>
      <p:pic>
        <p:nvPicPr>
          <p:cNvPr id="7"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509" cy="6858000"/>
          </a:xfrm>
          <a:prstGeom prst="rect">
            <a:avLst/>
          </a:prstGeom>
        </p:spPr>
      </p:pic>
      <p:sp>
        <p:nvSpPr>
          <p:cNvPr id="3" name="Text 0"/>
          <p:cNvSpPr/>
          <p:nvPr/>
        </p:nvSpPr>
        <p:spPr>
          <a:xfrm>
            <a:off x="4114697" y="491236"/>
            <a:ext cx="7619809"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Что делает наш стартап</a:t>
            </a:r>
            <a:endParaRPr lang="en-US" sz="3800" dirty="0"/>
          </a:p>
        </p:txBody>
      </p:sp>
      <p:sp>
        <p:nvSpPr>
          <p:cNvPr id="4" name="Text 1"/>
          <p:cNvSpPr/>
          <p:nvPr/>
        </p:nvSpPr>
        <p:spPr>
          <a:xfrm>
            <a:off x="4114697" y="1163459"/>
            <a:ext cx="7619809"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Zal помогает человеку без постоянной команды найти любительскую спортивную игру, выбрать зал и время, забронировать место.</a:t>
            </a:r>
            <a:endParaRPr lang="en-US" sz="1700" dirty="0"/>
          </a:p>
        </p:txBody>
      </p:sp>
      <p:sp>
        <p:nvSpPr>
          <p:cNvPr id="5" name="Shape 2"/>
          <p:cNvSpPr/>
          <p:nvPr/>
        </p:nvSpPr>
        <p:spPr>
          <a:xfrm>
            <a:off x="4114697" y="1964630"/>
            <a:ext cx="3733707" cy="1175345"/>
          </a:xfrm>
          <a:prstGeom prst="rect">
            <a:avLst/>
          </a:prstGeom>
          <a:solidFill>
            <a:srgbClr val="FFFFFF"/>
          </a:solidFill>
          <a:ln/>
        </p:spPr>
      </p:sp>
      <p:sp>
        <p:nvSpPr>
          <p:cNvPr id="6" name="Shape 3"/>
          <p:cNvSpPr/>
          <p:nvPr/>
        </p:nvSpPr>
        <p:spPr>
          <a:xfrm>
            <a:off x="4114697" y="1964630"/>
            <a:ext cx="3733707" cy="38100"/>
          </a:xfrm>
          <a:prstGeom prst="rect">
            <a:avLst/>
          </a:prstGeom>
          <a:solidFill>
            <a:srgbClr val="14284B"/>
          </a:solidFill>
          <a:ln/>
        </p:spPr>
      </p:sp>
      <p:sp>
        <p:nvSpPr>
          <p:cNvPr id="7" name="Text 4"/>
          <p:cNvSpPr/>
          <p:nvPr/>
        </p:nvSpPr>
        <p:spPr>
          <a:xfrm>
            <a:off x="4343291" y="2231330"/>
            <a:ext cx="733704"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1</a:t>
            </a:r>
            <a:endParaRPr lang="en-US" sz="2200" dirty="0"/>
          </a:p>
        </p:txBody>
      </p:sp>
      <p:sp>
        <p:nvSpPr>
          <p:cNvPr id="8" name="Text 5"/>
          <p:cNvSpPr/>
          <p:nvPr/>
        </p:nvSpPr>
        <p:spPr>
          <a:xfrm>
            <a:off x="4343291" y="2678452"/>
            <a:ext cx="3276518"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Поиск игры</a:t>
            </a:r>
            <a:endParaRPr lang="en-US" sz="1700" dirty="0"/>
          </a:p>
        </p:txBody>
      </p:sp>
      <p:sp>
        <p:nvSpPr>
          <p:cNvPr id="9" name="Shape 6"/>
          <p:cNvSpPr/>
          <p:nvPr/>
        </p:nvSpPr>
        <p:spPr>
          <a:xfrm>
            <a:off x="8000800" y="1964630"/>
            <a:ext cx="3733707" cy="1175345"/>
          </a:xfrm>
          <a:prstGeom prst="rect">
            <a:avLst/>
          </a:prstGeom>
          <a:solidFill>
            <a:srgbClr val="FFFFFF"/>
          </a:solidFill>
          <a:ln/>
        </p:spPr>
      </p:sp>
      <p:sp>
        <p:nvSpPr>
          <p:cNvPr id="10" name="Shape 7"/>
          <p:cNvSpPr/>
          <p:nvPr/>
        </p:nvSpPr>
        <p:spPr>
          <a:xfrm>
            <a:off x="8000800" y="1964630"/>
            <a:ext cx="3733707" cy="38100"/>
          </a:xfrm>
          <a:prstGeom prst="rect">
            <a:avLst/>
          </a:prstGeom>
          <a:solidFill>
            <a:srgbClr val="14284B"/>
          </a:solidFill>
          <a:ln/>
        </p:spPr>
      </p:sp>
      <p:sp>
        <p:nvSpPr>
          <p:cNvPr id="11" name="Text 8"/>
          <p:cNvSpPr/>
          <p:nvPr/>
        </p:nvSpPr>
        <p:spPr>
          <a:xfrm>
            <a:off x="8229394" y="2231330"/>
            <a:ext cx="769422"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2</a:t>
            </a:r>
            <a:endParaRPr lang="en-US" sz="2200" dirty="0"/>
          </a:p>
        </p:txBody>
      </p:sp>
      <p:sp>
        <p:nvSpPr>
          <p:cNvPr id="12" name="Text 9"/>
          <p:cNvSpPr/>
          <p:nvPr/>
        </p:nvSpPr>
        <p:spPr>
          <a:xfrm>
            <a:off x="8229394" y="2678452"/>
            <a:ext cx="3276518"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Выбор слота</a:t>
            </a:r>
            <a:endParaRPr lang="en-US" sz="1700" dirty="0"/>
          </a:p>
        </p:txBody>
      </p:sp>
      <p:sp>
        <p:nvSpPr>
          <p:cNvPr id="13" name="Shape 10"/>
          <p:cNvSpPr/>
          <p:nvPr/>
        </p:nvSpPr>
        <p:spPr>
          <a:xfrm>
            <a:off x="4114697" y="3292376"/>
            <a:ext cx="3733707" cy="1175345"/>
          </a:xfrm>
          <a:prstGeom prst="rect">
            <a:avLst/>
          </a:prstGeom>
          <a:solidFill>
            <a:srgbClr val="FFFFFF"/>
          </a:solidFill>
          <a:ln/>
        </p:spPr>
      </p:sp>
      <p:sp>
        <p:nvSpPr>
          <p:cNvPr id="14" name="Shape 11"/>
          <p:cNvSpPr/>
          <p:nvPr/>
        </p:nvSpPr>
        <p:spPr>
          <a:xfrm>
            <a:off x="4114697" y="3292376"/>
            <a:ext cx="3733707" cy="38100"/>
          </a:xfrm>
          <a:prstGeom prst="rect">
            <a:avLst/>
          </a:prstGeom>
          <a:solidFill>
            <a:srgbClr val="14284B"/>
          </a:solidFill>
          <a:ln/>
        </p:spPr>
      </p:sp>
      <p:sp>
        <p:nvSpPr>
          <p:cNvPr id="15" name="Text 12"/>
          <p:cNvSpPr/>
          <p:nvPr/>
        </p:nvSpPr>
        <p:spPr>
          <a:xfrm>
            <a:off x="4343291" y="3559076"/>
            <a:ext cx="771406"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3</a:t>
            </a:r>
            <a:endParaRPr lang="en-US" sz="2200" dirty="0"/>
          </a:p>
        </p:txBody>
      </p:sp>
      <p:sp>
        <p:nvSpPr>
          <p:cNvPr id="16" name="Text 13"/>
          <p:cNvSpPr/>
          <p:nvPr/>
        </p:nvSpPr>
        <p:spPr>
          <a:xfrm>
            <a:off x="4343291" y="4006198"/>
            <a:ext cx="3276518"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Бронирование</a:t>
            </a:r>
            <a:endParaRPr lang="en-US" sz="1700" dirty="0"/>
          </a:p>
        </p:txBody>
      </p:sp>
      <p:sp>
        <p:nvSpPr>
          <p:cNvPr id="17" name="Shape 14"/>
          <p:cNvSpPr/>
          <p:nvPr/>
        </p:nvSpPr>
        <p:spPr>
          <a:xfrm>
            <a:off x="8000800" y="3292376"/>
            <a:ext cx="3733707" cy="1175345"/>
          </a:xfrm>
          <a:prstGeom prst="rect">
            <a:avLst/>
          </a:prstGeom>
          <a:solidFill>
            <a:srgbClr val="FFFFFF"/>
          </a:solidFill>
          <a:ln/>
        </p:spPr>
      </p:sp>
      <p:sp>
        <p:nvSpPr>
          <p:cNvPr id="18" name="Shape 15"/>
          <p:cNvSpPr/>
          <p:nvPr/>
        </p:nvSpPr>
        <p:spPr>
          <a:xfrm>
            <a:off x="8000800" y="3292376"/>
            <a:ext cx="3733707" cy="38100"/>
          </a:xfrm>
          <a:prstGeom prst="rect">
            <a:avLst/>
          </a:prstGeom>
          <a:solidFill>
            <a:srgbClr val="14284B"/>
          </a:solidFill>
          <a:ln/>
        </p:spPr>
      </p:sp>
      <p:sp>
        <p:nvSpPr>
          <p:cNvPr id="19" name="Text 16"/>
          <p:cNvSpPr/>
          <p:nvPr/>
        </p:nvSpPr>
        <p:spPr>
          <a:xfrm>
            <a:off x="8229394" y="3559076"/>
            <a:ext cx="783114"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4</a:t>
            </a:r>
            <a:endParaRPr lang="en-US" sz="2200" dirty="0"/>
          </a:p>
        </p:txBody>
      </p:sp>
      <p:sp>
        <p:nvSpPr>
          <p:cNvPr id="20" name="Text 17"/>
          <p:cNvSpPr/>
          <p:nvPr/>
        </p:nvSpPr>
        <p:spPr>
          <a:xfrm>
            <a:off x="8229394" y="4006198"/>
            <a:ext cx="3276518"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Участие</a:t>
            </a:r>
            <a:endParaRPr lang="en-US" sz="1700" dirty="0"/>
          </a:p>
        </p:txBody>
      </p:sp>
      <p:sp>
        <p:nvSpPr>
          <p:cNvPr id="21" name="Text 18"/>
          <p:cNvSpPr/>
          <p:nvPr/>
        </p:nvSpPr>
        <p:spPr>
          <a:xfrm>
            <a:off x="4114697" y="4645521"/>
            <a:ext cx="7619809" cy="1282700"/>
          </a:xfrm>
          <a:prstGeom prst="rect">
            <a:avLst/>
          </a:prstGeom>
          <a:noFill/>
          <a:ln/>
        </p:spPr>
        <p:txBody>
          <a:bodyPr wrap="square" lIns="0" tIns="0" rIns="0" bIns="0" rtlCol="0" anchor="t">
            <a:normAutofit/>
          </a:bodyPr>
          <a:lstStyle/>
          <a:p>
            <a:pPr marL="0" indent="0" algn="l">
              <a:lnSpc>
                <a:spcPct val="121000"/>
              </a:lnSpc>
              <a:spcAft>
                <a:spcPts val="1350"/>
              </a:spcAft>
              <a:buNone/>
            </a:pPr>
            <a:r>
              <a:rPr lang="en-US" sz="1500" dirty="0">
                <a:solidFill>
                  <a:srgbClr val="14284B"/>
                </a:solidFill>
                <a:latin typeface="Noto Sans" pitchFamily="34" charset="0"/>
                <a:ea typeface="Noto Sans" pitchFamily="34" charset="-122"/>
                <a:cs typeface="Noto Sans" pitchFamily="34" charset="0"/>
              </a:rPr>
              <a:t>Функции MVP: каталог слотов, фильтры, карточка игры, бронирование, история участий.</a:t>
            </a:r>
            <a:endParaRPr lang="en-US" sz="1500" dirty="0"/>
          </a:p>
          <a:p>
            <a:pPr marL="0" indent="0" algn="l">
              <a:lnSpc>
                <a:spcPct val="121000"/>
              </a:lnSpc>
              <a:buNone/>
            </a:pPr>
            <a:r>
              <a:rPr lang="en-US" sz="1500" b="1" dirty="0">
                <a:solidFill>
                  <a:srgbClr val="14284B"/>
                </a:solidFill>
                <a:latin typeface="Noto Sans Bold" pitchFamily="34" charset="0"/>
                <a:ea typeface="Noto Sans Bold" pitchFamily="34" charset="-122"/>
                <a:cs typeface="Noto Sans Bold" pitchFamily="34" charset="0"/>
              </a:rPr>
              <a:t>Оплата в локальном MVP имитируется.</a:t>
            </a:r>
            <a:r>
              <a:rPr lang="en-US" sz="1500" dirty="0">
                <a:solidFill>
                  <a:srgbClr val="14284B"/>
                </a:solidFill>
                <a:latin typeface="Noto Sans" pitchFamily="34" charset="0"/>
                <a:ea typeface="Noto Sans" pitchFamily="34" charset="-122"/>
                <a:cs typeface="Noto Sans" pitchFamily="34" charset="0"/>
              </a:rPr>
              <a:t> Реальные платежи и возвраты относятся к дальнейшему развитию.</a:t>
            </a:r>
            <a:endParaRPr lang="en-US" sz="1500" dirty="0"/>
          </a:p>
        </p:txBody>
      </p:sp>
      <p:sp>
        <p:nvSpPr>
          <p:cNvPr id="22" name="Text 19"/>
          <p:cNvSpPr/>
          <p:nvPr/>
        </p:nvSpPr>
        <p:spPr>
          <a:xfrm>
            <a:off x="4114697" y="6117451"/>
            <a:ext cx="8076998" cy="240010"/>
          </a:xfrm>
          <a:prstGeom prst="rect">
            <a:avLst/>
          </a:prstGeom>
          <a:noFill/>
          <a:ln/>
        </p:spPr>
        <p:txBody>
          <a:bodyPr wrap="none" lIns="0" tIns="0" rIns="0" bIns="0" rtlCol="0" anchor="t"/>
          <a:lstStyle/>
          <a:p>
            <a:pPr marL="0" indent="0" algn="l">
              <a:lnSpc>
                <a:spcPct val="112000"/>
              </a:lnSpc>
              <a:buNone/>
            </a:pPr>
            <a:r>
              <a:rPr lang="en-US" sz="1400" dirty="0">
                <a:solidFill>
                  <a:srgbClr val="525E6B"/>
                </a:solidFill>
                <a:latin typeface="Noto Sans" pitchFamily="34" charset="0"/>
                <a:ea typeface="Noto Sans" pitchFamily="34" charset="-122"/>
                <a:cs typeface="Noto Sans" pitchFamily="34" charset="0"/>
              </a:rPr>
              <a:t>Основание концепции: </a:t>
            </a:r>
            <a:r>
              <a:rPr lang="en-US" sz="1400" b="1" u="sng" dirty="0">
                <a:solidFill>
                  <a:srgbClr val="14284B"/>
                </a:solidFill>
                <a:latin typeface="Noto Sans Bold" pitchFamily="34" charset="0"/>
                <a:ea typeface="Noto Sans Bold" pitchFamily="34" charset="-122"/>
                <a:cs typeface="Noto Sans Bold" pitchFamily="34" charset="0"/>
                <a:hlinkClick r:id="rId4">
                  <a:extLst>
                    <a:ext uri="{A12FA001-AC4F-418D-AE19-62706E023703}">
                      <ahyp:hlinkClr xmlns:ahyp="http://schemas.microsoft.com/office/drawing/2018/hyperlinkcolor" val="tx"/>
                    </a:ext>
                  </a:extLst>
                </a:hlinkClick>
              </a:rPr>
              <a:t>материалы проекта</a:t>
            </a:r>
            <a:r>
              <a:rPr lang="en-US" sz="1400" dirty="0">
                <a:solidFill>
                  <a:srgbClr val="525E6B"/>
                </a:solidFill>
                <a:latin typeface="Noto Sans" pitchFamily="34" charset="0"/>
                <a:ea typeface="Noto Sans" pitchFamily="34" charset="-122"/>
                <a:cs typeface="Noto Sans" pitchFamily="34" charset="0"/>
              </a:rPr>
              <a:t>.</a:t>
            </a:r>
            <a:endParaRPr lang="en-US" sz="1400" dirty="0"/>
          </a:p>
        </p:txBody>
      </p:sp>
      <p:pic>
        <p:nvPicPr>
          <p:cNvPr id="24" name="Рисунок 23">
            <a:extLst>
              <a:ext uri="{FF2B5EF4-FFF2-40B4-BE49-F238E27FC236}">
                <a16:creationId xmlns:a16="http://schemas.microsoft.com/office/drawing/2014/main" id="{7DECEFDE-4842-F0BA-7E5A-F09532BA29B0}"/>
              </a:ext>
            </a:extLst>
          </p:cNvPr>
          <p:cNvPicPr>
            <a:picLocks noChangeAspect="1"/>
          </p:cNvPicPr>
          <p:nvPr/>
        </p:nvPicPr>
        <p:blipFill>
          <a:blip r:embed="rId5"/>
          <a:stretch>
            <a:fillRect/>
          </a:stretch>
        </p:blipFill>
        <p:spPr>
          <a:xfrm>
            <a:off x="9562733" y="6524578"/>
            <a:ext cx="2629267" cy="333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64630"/>
            <a:ext cx="11734506" cy="213320"/>
          </a:xfrm>
          <a:prstGeom prst="rect">
            <a:avLst/>
          </a:prstGeom>
          <a:noFill/>
          <a:ln/>
        </p:spPr>
        <p:txBody>
          <a:bodyPr wrap="none" lIns="0" tIns="0" rIns="0" bIns="0" rtlCol="0" anchor="t"/>
          <a:lstStyle/>
          <a:p>
            <a:pPr marL="0" indent="0" algn="l">
              <a:lnSpc>
                <a:spcPct val="100000"/>
              </a:lnSpc>
              <a:buNone/>
            </a:pPr>
            <a:r>
              <a:rPr lang="en-US" sz="1400" b="1" kern="100" spc="14" dirty="0">
                <a:solidFill>
                  <a:srgbClr val="14284B"/>
                </a:solidFill>
                <a:latin typeface="Noto Sans Bold" pitchFamily="34" charset="0"/>
                <a:ea typeface="Noto Sans Bold" pitchFamily="34" charset="-122"/>
                <a:cs typeface="Noto Sans Bold" pitchFamily="34" charset="0"/>
              </a:rPr>
              <a:t>Организационно-правовая форма</a:t>
            </a:r>
            <a:endParaRPr lang="en-US" sz="1400" dirty="0"/>
          </a:p>
        </p:txBody>
      </p:sp>
      <p:sp>
        <p:nvSpPr>
          <p:cNvPr id="3" name="Text 1"/>
          <p:cNvSpPr/>
          <p:nvPr/>
        </p:nvSpPr>
        <p:spPr>
          <a:xfrm>
            <a:off x="457189" y="783931"/>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Почему мы выбираем ООО</a:t>
            </a:r>
            <a:endParaRPr lang="en-US" sz="3800" dirty="0"/>
          </a:p>
        </p:txBody>
      </p:sp>
      <p:sp>
        <p:nvSpPr>
          <p:cNvPr id="4" name="Text 2"/>
          <p:cNvSpPr/>
          <p:nvPr/>
        </p:nvSpPr>
        <p:spPr>
          <a:xfrm>
            <a:off x="457189" y="1456154"/>
            <a:ext cx="11734506" cy="313035"/>
          </a:xfrm>
          <a:prstGeom prst="rect">
            <a:avLst/>
          </a:prstGeom>
          <a:noFill/>
          <a:ln/>
        </p:spPr>
        <p:txBody>
          <a:bodyPr wrap="none" lIns="0" tIns="0" rIns="0" bIns="0" rtlCol="0" anchor="t"/>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Четыре сооснователя хотят юридически закреплённые доли в общем бизнесе.</a:t>
            </a:r>
            <a:endParaRPr lang="en-US" sz="1700" dirty="0"/>
          </a:p>
        </p:txBody>
      </p:sp>
      <p:sp>
        <p:nvSpPr>
          <p:cNvPr id="5" name="Shape 3"/>
          <p:cNvSpPr/>
          <p:nvPr/>
        </p:nvSpPr>
        <p:spPr>
          <a:xfrm>
            <a:off x="457189" y="1944291"/>
            <a:ext cx="11277318" cy="4456509"/>
          </a:xfrm>
          <a:prstGeom prst="rect">
            <a:avLst/>
          </a:prstGeom>
          <a:solidFill>
            <a:srgbClr val="FFFFFF"/>
          </a:solidFill>
          <a:ln/>
        </p:spPr>
      </p:sp>
      <p:sp>
        <p:nvSpPr>
          <p:cNvPr id="6" name="Shape 4"/>
          <p:cNvSpPr/>
          <p:nvPr/>
        </p:nvSpPr>
        <p:spPr>
          <a:xfrm>
            <a:off x="457189" y="1944291"/>
            <a:ext cx="11277318" cy="38100"/>
          </a:xfrm>
          <a:prstGeom prst="rect">
            <a:avLst/>
          </a:prstGeom>
          <a:solidFill>
            <a:srgbClr val="14284B"/>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783" y="2210991"/>
          <a:ext cx="10820130" cy="2606809"/>
        </p:xfrm>
        <a:graphic>
          <a:graphicData uri="http://schemas.openxmlformats.org/drawingml/2006/table">
            <a:tbl>
              <a:tblPr/>
              <a:tblGrid>
                <a:gridCol w="1622980">
                  <a:extLst>
                    <a:ext uri="{9D8B030D-6E8A-4147-A177-3AD203B41FA5}">
                      <a16:colId xmlns:a16="http://schemas.microsoft.com/office/drawing/2014/main" val="20000"/>
                    </a:ext>
                  </a:extLst>
                </a:gridCol>
                <a:gridCol w="5951091">
                  <a:extLst>
                    <a:ext uri="{9D8B030D-6E8A-4147-A177-3AD203B41FA5}">
                      <a16:colId xmlns:a16="http://schemas.microsoft.com/office/drawing/2014/main" val="20001"/>
                    </a:ext>
                  </a:extLst>
                </a:gridCol>
                <a:gridCol w="3246059">
                  <a:extLst>
                    <a:ext uri="{9D8B030D-6E8A-4147-A177-3AD203B41FA5}">
                      <a16:colId xmlns:a16="http://schemas.microsoft.com/office/drawing/2014/main" val="20002"/>
                    </a:ext>
                  </a:extLst>
                </a:gridCol>
              </a:tblGrid>
              <a:tr h="49836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Форма</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Что важно для проекта</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Выбор команды</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1391">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ИП</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Один предприниматель. Доли в самом ИП распределить нельзя.</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Не решает задачу долей</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1391">
                <a:tc>
                  <a:txBody>
                    <a:bodyPr/>
                    <a:lstStyle/>
                    <a:p>
                      <a:pPr marL="0" indent="0" algn="l">
                        <a:buNone/>
                      </a:pPr>
                      <a:r>
                        <a:rPr lang="en-US" sz="1700" b="1" dirty="0">
                          <a:solidFill>
                            <a:srgbClr val="000000"/>
                          </a:solidFill>
                          <a:latin typeface="Noto Sans" pitchFamily="34" charset="0"/>
                          <a:ea typeface="Noto Sans" pitchFamily="34" charset="-122"/>
                          <a:cs typeface="Noto Sans" pitchFamily="34" charset="0"/>
                        </a:rPr>
                        <a:t>ООО</a:t>
                      </a:r>
                      <a:endParaRPr lang="en-US" sz="1700" dirty="0">
                        <a:latin typeface="Noto Sans" charset="0"/>
                        <a:ea typeface="Noto Sans" charset="0"/>
                        <a:cs typeface="Noto Sans" charset="0"/>
                      </a:endParaRPr>
                    </a:p>
                  </a:txBody>
                  <a:tcPr marL="161921" marR="161921" marT="86358" marB="86358" anchor="ctr">
                    <a:lnL w="12700" cap="flat" cmpd="sng" algn="ctr">
                      <a:solidFill>
                        <a:srgbClr val="E1F0E8"/>
                      </a:solidFill>
                      <a:prstDash val="solid"/>
                      <a:round/>
                      <a:headEnd type="none" w="med" len="med"/>
                      <a:tailEnd type="none" w="med" len="med"/>
                    </a:lnL>
                    <a:lnR w="12700" cap="flat" cmpd="sng" algn="ctr">
                      <a:solidFill>
                        <a:srgbClr val="E1F0E8"/>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E1F0E8"/>
                    </a:solidFill>
                  </a:tcPr>
                </a:tc>
                <a:tc>
                  <a:txBody>
                    <a:bodyPr/>
                    <a:lstStyle/>
                    <a:p>
                      <a:pPr marL="0" indent="0" algn="l">
                        <a:buNone/>
                      </a:pPr>
                      <a:r>
                        <a:rPr lang="en-US" sz="1700" dirty="0">
                          <a:solidFill>
                            <a:srgbClr val="000000"/>
                          </a:solidFill>
                          <a:latin typeface="Noto Sans" pitchFamily="34" charset="0"/>
                          <a:ea typeface="Noto Sans" pitchFamily="34" charset="-122"/>
                          <a:cs typeface="Noto Sans" pitchFamily="34" charset="0"/>
                        </a:rPr>
                        <a:t>Закрепляет доли, позволяет совместно управлять бизнесом и владеть продуктом.</a:t>
                      </a:r>
                      <a:endParaRPr lang="en-US" sz="1700" dirty="0">
                        <a:latin typeface="Noto Sans" charset="0"/>
                        <a:ea typeface="Noto Sans" charset="0"/>
                        <a:cs typeface="Noto Sans" charset="0"/>
                      </a:endParaRPr>
                    </a:p>
                  </a:txBody>
                  <a:tcPr marL="161921" marR="161921" marT="86358" marB="86358" anchor="ctr">
                    <a:lnL w="12700" cap="flat" cmpd="sng" algn="ctr">
                      <a:solidFill>
                        <a:srgbClr val="E1F0E8"/>
                      </a:solidFill>
                      <a:prstDash val="solid"/>
                      <a:round/>
                      <a:headEnd type="none" w="med" len="med"/>
                      <a:tailEnd type="none" w="med" len="med"/>
                    </a:lnL>
                    <a:lnR w="12700" cap="flat" cmpd="sng" algn="ctr">
                      <a:solidFill>
                        <a:srgbClr val="E1F0E8"/>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E1F0E8"/>
                    </a:solidFill>
                  </a:tcPr>
                </a:tc>
                <a:tc>
                  <a:txBody>
                    <a:bodyPr/>
                    <a:lstStyle/>
                    <a:p>
                      <a:pPr marL="0" indent="0" algn="l">
                        <a:buNone/>
                      </a:pPr>
                      <a:r>
                        <a:rPr lang="en-US" sz="1700" b="1" dirty="0">
                          <a:solidFill>
                            <a:srgbClr val="000000"/>
                          </a:solidFill>
                          <a:latin typeface="Noto Sans" pitchFamily="34" charset="0"/>
                          <a:ea typeface="Noto Sans" pitchFamily="34" charset="-122"/>
                          <a:cs typeface="Noto Sans" pitchFamily="34" charset="0"/>
                        </a:rPr>
                        <a:t>Выбираем</a:t>
                      </a:r>
                      <a:endParaRPr lang="en-US" sz="1700" dirty="0">
                        <a:latin typeface="Noto Sans" charset="0"/>
                        <a:ea typeface="Noto Sans" charset="0"/>
                        <a:cs typeface="Noto Sans" charset="0"/>
                      </a:endParaRPr>
                    </a:p>
                  </a:txBody>
                  <a:tcPr marL="161921" marR="161921" marT="86358" marB="86358" anchor="ctr">
                    <a:lnL w="12700" cap="flat" cmpd="sng" algn="ctr">
                      <a:solidFill>
                        <a:srgbClr val="E1F0E8"/>
                      </a:solidFill>
                      <a:prstDash val="solid"/>
                      <a:round/>
                      <a:headEnd type="none" w="med" len="med"/>
                      <a:tailEnd type="none" w="med" len="med"/>
                    </a:lnL>
                    <a:lnR w="12700" cap="flat" cmpd="sng" algn="ctr">
                      <a:solidFill>
                        <a:srgbClr val="E1F0E8"/>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E1F0E8"/>
                    </a:solidFill>
                  </a:tcPr>
                </a:tc>
                <a:extLst>
                  <a:ext uri="{0D108BD9-81ED-4DB2-BD59-A6C34878D82A}">
                    <a16:rowId xmlns:a16="http://schemas.microsoft.com/office/drawing/2014/main" val="10002"/>
                  </a:ext>
                </a:extLst>
              </a:tr>
              <a:tr h="485664">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АО</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Для текущего этапа избыточно сложно.</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Не выбираем сейчас</a:t>
                      </a:r>
                      <a:endParaRPr lang="en-US" sz="1700" dirty="0">
                        <a:latin typeface="Noto Sans" charset="0"/>
                        <a:ea typeface="Noto Sans" charset="0"/>
                        <a:cs typeface="Noto Sans" charset="0"/>
                      </a:endParaRPr>
                    </a:p>
                  </a:txBody>
                  <a:tcPr marL="161921" marR="161921" marT="86358" marB="863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p:nvPr/>
        </p:nvSpPr>
        <p:spPr>
          <a:xfrm>
            <a:off x="685783" y="5943620"/>
            <a:ext cx="11048724" cy="240010"/>
          </a:xfrm>
          <a:prstGeom prst="rect">
            <a:avLst/>
          </a:prstGeom>
          <a:noFill/>
          <a:ln/>
        </p:spPr>
        <p:txBody>
          <a:bodyPr wrap="none" lIns="0" tIns="0" rIns="0" bIns="0" rtlCol="0" anchor="t"/>
          <a:lstStyle/>
          <a:p>
            <a:pPr marL="0" indent="0" algn="l">
              <a:lnSpc>
                <a:spcPct val="112000"/>
              </a:lnSpc>
              <a:buNone/>
            </a:pPr>
            <a:r>
              <a:rPr lang="en-US" sz="1400" dirty="0">
                <a:solidFill>
                  <a:srgbClr val="14284B"/>
                </a:solidFill>
                <a:latin typeface="Noto Sans" pitchFamily="34" charset="0"/>
                <a:ea typeface="Noto Sans" pitchFamily="34" charset="-122"/>
                <a:cs typeface="Noto Sans" pitchFamily="34" charset="0"/>
              </a:rPr>
              <a:t>Основа: статья 2 Федерального закона № 14-ФЗ «Об ООО».</a:t>
            </a:r>
            <a:endParaRPr lang="en-US" sz="1400" dirty="0"/>
          </a:p>
        </p:txBody>
      </p:sp>
      <p:pic>
        <p:nvPicPr>
          <p:cNvPr id="10" name="Рисунок 9">
            <a:extLst>
              <a:ext uri="{FF2B5EF4-FFF2-40B4-BE49-F238E27FC236}">
                <a16:creationId xmlns:a16="http://schemas.microsoft.com/office/drawing/2014/main" id="{566DE6E1-D797-C39E-8B54-07261D9C8D75}"/>
              </a:ext>
            </a:extLst>
          </p:cNvPr>
          <p:cNvPicPr>
            <a:picLocks noChangeAspect="1"/>
          </p:cNvPicPr>
          <p:nvPr/>
        </p:nvPicPr>
        <p:blipFill>
          <a:blip r:embed="rId3"/>
          <a:stretch>
            <a:fillRect/>
          </a:stretch>
        </p:blipFill>
        <p:spPr>
          <a:xfrm>
            <a:off x="9562733" y="6519445"/>
            <a:ext cx="2629267" cy="3334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Доли сооснователей</a:t>
            </a:r>
            <a:endParaRPr lang="en-US" sz="3800" dirty="0"/>
          </a:p>
        </p:txBody>
      </p:sp>
      <p:sp>
        <p:nvSpPr>
          <p:cNvPr id="3" name="Text 1"/>
          <p:cNvSpPr/>
          <p:nvPr/>
        </p:nvSpPr>
        <p:spPr>
          <a:xfrm>
            <a:off x="457189" y="1168190"/>
            <a:ext cx="11734506" cy="213320"/>
          </a:xfrm>
          <a:prstGeom prst="rect">
            <a:avLst/>
          </a:prstGeom>
          <a:noFill/>
          <a:ln/>
        </p:spPr>
        <p:txBody>
          <a:bodyPr wrap="none" lIns="0" tIns="0" rIns="0" bIns="0" rtlCol="0" anchor="t"/>
          <a:lstStyle/>
          <a:p>
            <a:pPr marL="0" indent="0" algn="l">
              <a:lnSpc>
                <a:spcPct val="100000"/>
              </a:lnSpc>
              <a:buNone/>
            </a:pPr>
            <a:r>
              <a:rPr lang="en-US" sz="1400" b="1" kern="100" spc="14" dirty="0">
                <a:solidFill>
                  <a:srgbClr val="246347"/>
                </a:solidFill>
                <a:latin typeface="Noto Sans Bold" pitchFamily="34" charset="0"/>
                <a:ea typeface="Noto Sans Bold" pitchFamily="34" charset="-122"/>
                <a:cs typeface="Noto Sans Bold" pitchFamily="34" charset="0"/>
              </a:rPr>
              <a:t>Подтверждено командой · итого 100%</a:t>
            </a:r>
            <a:endParaRPr lang="en-US" sz="1400" dirty="0"/>
          </a:p>
        </p:txBody>
      </p:sp>
      <p:pic>
        <p:nvPicPr>
          <p:cNvPr id="4" name="Image 0" descr="preencoded.png"/>
          <p:cNvPicPr>
            <a:picLocks noChangeAspect="1"/>
          </p:cNvPicPr>
          <p:nvPr/>
        </p:nvPicPr>
        <p:blipFill>
          <a:blip r:embed="rId3"/>
          <a:stretch>
            <a:fillRect/>
          </a:stretch>
        </p:blipFill>
        <p:spPr>
          <a:xfrm>
            <a:off x="457189" y="1551880"/>
            <a:ext cx="5079873" cy="34925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3479814863"/>
              </p:ext>
            </p:extLst>
          </p:nvPr>
        </p:nvGraphicFramePr>
        <p:xfrm>
          <a:off x="6324442" y="1551880"/>
          <a:ext cx="5410064" cy="2479116"/>
        </p:xfrm>
        <a:graphic>
          <a:graphicData uri="http://schemas.openxmlformats.org/drawingml/2006/table">
            <a:tbl>
              <a:tblPr/>
              <a:tblGrid>
                <a:gridCol w="4111621">
                  <a:extLst>
                    <a:ext uri="{9D8B030D-6E8A-4147-A177-3AD203B41FA5}">
                      <a16:colId xmlns:a16="http://schemas.microsoft.com/office/drawing/2014/main" val="20000"/>
                    </a:ext>
                  </a:extLst>
                </a:gridCol>
                <a:gridCol w="1298443">
                  <a:extLst>
                    <a:ext uri="{9D8B030D-6E8A-4147-A177-3AD203B41FA5}">
                      <a16:colId xmlns:a16="http://schemas.microsoft.com/office/drawing/2014/main" val="20001"/>
                    </a:ext>
                  </a:extLst>
                </a:gridCol>
              </a:tblGrid>
              <a:tr h="49836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Сооснователь</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DAE5F0"/>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Доля</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DAE5F0"/>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extLst>
                  <a:ext uri="{0D108BD9-81ED-4DB2-BD59-A6C34878D82A}">
                    <a16:rowId xmlns:a16="http://schemas.microsoft.com/office/drawing/2014/main" val="10000"/>
                  </a:ext>
                </a:extLst>
              </a:tr>
              <a:tr h="49836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Арсений Брикульский</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30%</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extLst>
                  <a:ext uri="{0D108BD9-81ED-4DB2-BD59-A6C34878D82A}">
                    <a16:rowId xmlns:a16="http://schemas.microsoft.com/office/drawing/2014/main" val="10001"/>
                  </a:ext>
                </a:extLst>
              </a:tr>
              <a:tr h="49836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Лев Пихтовников</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25%</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extLst>
                  <a:ext uri="{0D108BD9-81ED-4DB2-BD59-A6C34878D82A}">
                    <a16:rowId xmlns:a16="http://schemas.microsoft.com/office/drawing/2014/main" val="10002"/>
                  </a:ext>
                </a:extLst>
              </a:tr>
              <a:tr h="49836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Антон Мальцов-Лукъяненко</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25%</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tcPr>
                </a:tc>
                <a:extLst>
                  <a:ext uri="{0D108BD9-81ED-4DB2-BD59-A6C34878D82A}">
                    <a16:rowId xmlns:a16="http://schemas.microsoft.com/office/drawing/2014/main" val="10003"/>
                  </a:ext>
                </a:extLst>
              </a:tr>
              <a:tr h="485664">
                <a:tc>
                  <a:txBody>
                    <a:bodyPr/>
                    <a:lstStyle/>
                    <a:p>
                      <a:pPr marL="0" indent="0" algn="l">
                        <a:buNone/>
                      </a:pPr>
                      <a:r>
                        <a:rPr lang="en-US" sz="1700" dirty="0" err="1">
                          <a:solidFill>
                            <a:srgbClr val="14284B"/>
                          </a:solidFill>
                          <a:latin typeface="Noto Sans" pitchFamily="34" charset="0"/>
                          <a:ea typeface="Noto Sans" pitchFamily="34" charset="-122"/>
                          <a:cs typeface="Noto Sans" pitchFamily="34" charset="0"/>
                        </a:rPr>
                        <a:t>Гафур</a:t>
                      </a:r>
                      <a:r>
                        <a:rPr lang="en-US" sz="1700" dirty="0">
                          <a:solidFill>
                            <a:srgbClr val="14284B"/>
                          </a:solidFill>
                          <a:latin typeface="Noto Sans" pitchFamily="34" charset="0"/>
                          <a:ea typeface="Noto Sans" pitchFamily="34" charset="-122"/>
                          <a:cs typeface="Noto Sans" pitchFamily="34" charset="0"/>
                        </a:rPr>
                        <a:t> </a:t>
                      </a:r>
                      <a:r>
                        <a:rPr lang="ru-RU" sz="1700" dirty="0" err="1">
                          <a:solidFill>
                            <a:srgbClr val="14284B"/>
                          </a:solidFill>
                          <a:latin typeface="Noto Sans" pitchFamily="34" charset="0"/>
                          <a:ea typeface="Noto Sans" pitchFamily="34" charset="-122"/>
                          <a:cs typeface="Noto Sans" pitchFamily="34" charset="0"/>
                        </a:rPr>
                        <a:t>Эндибаев</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DAE5F0"/>
                      </a:solidFill>
                      <a:prstDash val="solid"/>
                      <a:round/>
                      <a:headEnd type="none" w="med" len="med"/>
                      <a:tailEnd type="none" w="med" len="med"/>
                    </a:lnB>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20%</a:t>
                      </a:r>
                      <a:endParaRPr lang="en-US" sz="1700" dirty="0">
                        <a:latin typeface="Noto Sans" charset="0"/>
                        <a:ea typeface="Noto Sans" charset="0"/>
                        <a:cs typeface="Noto Sans" charset="0"/>
                      </a:endParaRPr>
                    </a:p>
                  </a:txBody>
                  <a:tcPr marL="161921" marR="161921" marT="86358" marB="86358" anchor="ctr">
                    <a:lnL w="12700" cap="flat" cmpd="sng" algn="ctr">
                      <a:solidFill>
                        <a:srgbClr val="DAE5F0"/>
                      </a:solidFill>
                      <a:prstDash val="solid"/>
                      <a:round/>
                      <a:headEnd type="none" w="med" len="med"/>
                      <a:tailEnd type="none" w="med" len="med"/>
                    </a:lnL>
                    <a:lnR w="12700" cap="flat" cmpd="sng" algn="ctr">
                      <a:solidFill>
                        <a:srgbClr val="DAE5F0"/>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DAE5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2"/>
          <p:cNvSpPr/>
          <p:nvPr/>
        </p:nvSpPr>
        <p:spPr>
          <a:xfrm>
            <a:off x="457189" y="5222180"/>
            <a:ext cx="11277318" cy="1211560"/>
          </a:xfrm>
          <a:prstGeom prst="rect">
            <a:avLst/>
          </a:prstGeom>
          <a:solidFill>
            <a:srgbClr val="FFFFFF"/>
          </a:solidFill>
          <a:ln/>
        </p:spPr>
      </p:sp>
      <p:sp>
        <p:nvSpPr>
          <p:cNvPr id="7" name="Text 3"/>
          <p:cNvSpPr/>
          <p:nvPr/>
        </p:nvSpPr>
        <p:spPr>
          <a:xfrm>
            <a:off x="685783" y="5376962"/>
            <a:ext cx="10820129" cy="552450"/>
          </a:xfrm>
          <a:prstGeom prst="rect">
            <a:avLst/>
          </a:prstGeom>
          <a:noFill/>
          <a:ln/>
        </p:spPr>
        <p:txBody>
          <a:bodyPr wrap="square" lIns="0" tIns="0" rIns="0" bIns="0" rtlCol="0" anchor="t">
            <a:normAutofit/>
          </a:bodyPr>
          <a:lstStyle/>
          <a:p>
            <a:pPr marL="0" indent="0" algn="l">
              <a:lnSpc>
                <a:spcPct val="121000"/>
              </a:lnSpc>
              <a:buNone/>
            </a:pPr>
            <a:r>
              <a:rPr lang="en-US" sz="1500" b="1" dirty="0">
                <a:solidFill>
                  <a:srgbClr val="14284B"/>
                </a:solidFill>
                <a:latin typeface="Noto Sans Bold" pitchFamily="34" charset="0"/>
                <a:ea typeface="Noto Sans Bold" pitchFamily="34" charset="-122"/>
                <a:cs typeface="Noto Sans Bold" pitchFamily="34" charset="0"/>
              </a:rPr>
              <a:t>Предлагается для обсуждения:</a:t>
            </a:r>
            <a:r>
              <a:rPr lang="en-US" sz="1500" dirty="0">
                <a:solidFill>
                  <a:srgbClr val="14284B"/>
                </a:solidFill>
                <a:latin typeface="Noto Sans" pitchFamily="34" charset="0"/>
                <a:ea typeface="Noto Sans" pitchFamily="34" charset="-122"/>
                <a:cs typeface="Noto Sans" pitchFamily="34" charset="0"/>
              </a:rPr>
              <a:t> уставный капитал 10 000 ₽; номиналы долей соответственно 3 000, 2 500, 2 500 и 2 000 ₽.</a:t>
            </a:r>
            <a:endParaRPr lang="en-US" sz="1500" dirty="0"/>
          </a:p>
        </p:txBody>
      </p:sp>
      <p:sp>
        <p:nvSpPr>
          <p:cNvPr id="8" name="Text 4"/>
          <p:cNvSpPr/>
          <p:nvPr/>
        </p:nvSpPr>
        <p:spPr>
          <a:xfrm>
            <a:off x="685783" y="6052760"/>
            <a:ext cx="11048724" cy="240010"/>
          </a:xfrm>
          <a:prstGeom prst="rect">
            <a:avLst/>
          </a:prstGeom>
          <a:noFill/>
          <a:ln/>
        </p:spPr>
        <p:txBody>
          <a:bodyPr wrap="none" lIns="0" tIns="0" rIns="0" bIns="0" rtlCol="0" anchor="t"/>
          <a:lstStyle/>
          <a:p>
            <a:pPr marL="0" indent="0" algn="l">
              <a:lnSpc>
                <a:spcPct val="112000"/>
              </a:lnSpc>
              <a:buNone/>
            </a:pPr>
            <a:r>
              <a:rPr lang="en-US" sz="1400" dirty="0">
                <a:solidFill>
                  <a:srgbClr val="14284B"/>
                </a:solidFill>
                <a:latin typeface="Noto Sans" pitchFamily="34" charset="0"/>
                <a:ea typeface="Noto Sans" pitchFamily="34" charset="-122"/>
                <a:cs typeface="Noto Sans" pitchFamily="34" charset="0"/>
              </a:rPr>
              <a:t>Номинал доли не является рыночной оценкой стартапа.</a:t>
            </a:r>
            <a:endParaRPr lang="en-US" sz="1400" dirty="0"/>
          </a:p>
        </p:txBody>
      </p:sp>
      <p:pic>
        <p:nvPicPr>
          <p:cNvPr id="10" name="Рисунок 9">
            <a:extLst>
              <a:ext uri="{FF2B5EF4-FFF2-40B4-BE49-F238E27FC236}">
                <a16:creationId xmlns:a16="http://schemas.microsoft.com/office/drawing/2014/main" id="{0261D55C-A3AF-1F3D-EFF7-EE28C26305D2}"/>
              </a:ext>
            </a:extLst>
          </p:cNvPr>
          <p:cNvPicPr>
            <a:picLocks noChangeAspect="1"/>
          </p:cNvPicPr>
          <p:nvPr/>
        </p:nvPicPr>
        <p:blipFill>
          <a:blip r:embed="rId4"/>
          <a:stretch>
            <a:fillRect/>
          </a:stretch>
        </p:blipFill>
        <p:spPr>
          <a:xfrm>
            <a:off x="9498409" y="6524578"/>
            <a:ext cx="2629267" cy="3334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Как будет устроено управление</a:t>
            </a:r>
            <a:endParaRPr lang="en-US" sz="3800" dirty="0"/>
          </a:p>
        </p:txBody>
      </p:sp>
      <p:sp>
        <p:nvSpPr>
          <p:cNvPr id="3" name="Text 1"/>
          <p:cNvSpPr/>
          <p:nvPr/>
        </p:nvSpPr>
        <p:spPr>
          <a:xfrm>
            <a:off x="457189" y="1163459"/>
            <a:ext cx="11734506" cy="313035"/>
          </a:xfrm>
          <a:prstGeom prst="rect">
            <a:avLst/>
          </a:prstGeom>
          <a:noFill/>
          <a:ln/>
        </p:spPr>
        <p:txBody>
          <a:bodyPr wrap="none" lIns="0" tIns="0" rIns="0" bIns="0" rtlCol="0" anchor="t"/>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Общее собрание всех четырёх участников является высшим органом. Голоса пропорциональны долям.</a:t>
            </a:r>
            <a:endParaRPr lang="en-US" sz="1700" dirty="0"/>
          </a:p>
        </p:txBody>
      </p:sp>
      <p:sp>
        <p:nvSpPr>
          <p:cNvPr id="4" name="Shape 2"/>
          <p:cNvSpPr/>
          <p:nvPr/>
        </p:nvSpPr>
        <p:spPr>
          <a:xfrm>
            <a:off x="457189" y="1651595"/>
            <a:ext cx="5486263" cy="2880320"/>
          </a:xfrm>
          <a:prstGeom prst="rect">
            <a:avLst/>
          </a:prstGeom>
          <a:solidFill>
            <a:srgbClr val="FFFFFF"/>
          </a:solidFill>
          <a:ln/>
        </p:spPr>
      </p:sp>
      <p:sp>
        <p:nvSpPr>
          <p:cNvPr id="5" name="Shape 3"/>
          <p:cNvSpPr/>
          <p:nvPr/>
        </p:nvSpPr>
        <p:spPr>
          <a:xfrm>
            <a:off x="457189" y="1651595"/>
            <a:ext cx="5486263" cy="38100"/>
          </a:xfrm>
          <a:prstGeom prst="rect">
            <a:avLst/>
          </a:prstGeom>
          <a:solidFill>
            <a:srgbClr val="14284B"/>
          </a:solidFill>
          <a:ln/>
        </p:spPr>
      </p:sp>
      <p:sp>
        <p:nvSpPr>
          <p:cNvPr id="6" name="Text 4"/>
          <p:cNvSpPr/>
          <p:nvPr/>
        </p:nvSpPr>
        <p:spPr>
          <a:xfrm>
            <a:off x="685783" y="1924763"/>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Обычные вопросы</a:t>
            </a:r>
            <a:endParaRPr lang="en-US" sz="2200" dirty="0"/>
          </a:p>
        </p:txBody>
      </p:sp>
      <p:sp>
        <p:nvSpPr>
          <p:cNvPr id="7" name="Text 5"/>
          <p:cNvSpPr/>
          <p:nvPr/>
        </p:nvSpPr>
        <p:spPr>
          <a:xfrm>
            <a:off x="685783" y="2396728"/>
            <a:ext cx="5029074" cy="533400"/>
          </a:xfrm>
          <a:prstGeom prst="rect">
            <a:avLst/>
          </a:prstGeom>
          <a:noFill/>
          <a:ln/>
        </p:spPr>
        <p:txBody>
          <a:bodyPr wrap="none" lIns="0" tIns="0" rIns="0" bIns="0" rtlCol="0" anchor="t"/>
          <a:lstStyle/>
          <a:p>
            <a:pPr marL="0" indent="0" algn="l">
              <a:lnSpc>
                <a:spcPct val="83000"/>
              </a:lnSpc>
              <a:buNone/>
            </a:pPr>
            <a:r>
              <a:rPr lang="en-US" sz="4200" kern="100" spc="-63" dirty="0">
                <a:solidFill>
                  <a:srgbClr val="14284B"/>
                </a:solidFill>
                <a:latin typeface="Bitter ExtraBold" pitchFamily="34" charset="0"/>
                <a:ea typeface="Bitter ExtraBold" pitchFamily="34" charset="-122"/>
                <a:cs typeface="Bitter ExtraBold" pitchFamily="34" charset="0"/>
              </a:rPr>
              <a:t>&gt; 50%</a:t>
            </a:r>
            <a:endParaRPr lang="en-US" sz="4200" dirty="0"/>
          </a:p>
        </p:txBody>
      </p:sp>
      <p:sp>
        <p:nvSpPr>
          <p:cNvPr id="8" name="Text 6"/>
          <p:cNvSpPr/>
          <p:nvPr/>
        </p:nvSpPr>
        <p:spPr>
          <a:xfrm>
            <a:off x="685783" y="3084116"/>
            <a:ext cx="5029074" cy="740370"/>
          </a:xfrm>
          <a:prstGeom prst="rect">
            <a:avLst/>
          </a:prstGeom>
          <a:noFill/>
          <a:ln/>
        </p:spPr>
        <p:txBody>
          <a:bodyPr wrap="square" lIns="0" tIns="0" rIns="0" bIns="0" rtlCol="0" anchor="t"/>
          <a:lstStyle/>
          <a:p>
            <a:pPr marL="0" indent="0" algn="l">
              <a:lnSpc>
                <a:spcPct val="121000"/>
              </a:lnSpc>
              <a:spcAft>
                <a:spcPts val="850"/>
              </a:spcAft>
              <a:buNone/>
            </a:pPr>
            <a:r>
              <a:rPr lang="en-US" sz="1700" dirty="0">
                <a:solidFill>
                  <a:srgbClr val="246347"/>
                </a:solidFill>
                <a:latin typeface="Noto Sans" pitchFamily="34" charset="0"/>
                <a:ea typeface="Noto Sans" pitchFamily="34" charset="-122"/>
                <a:cs typeface="Noto Sans" pitchFamily="34" charset="0"/>
              </a:rPr>
              <a:t>30% + 25% = 55% · принято</a:t>
            </a:r>
            <a:endParaRPr lang="en-US" sz="1700" dirty="0"/>
          </a:p>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25% + 25% = 50% · недостаточно</a:t>
            </a:r>
            <a:endParaRPr lang="en-US" sz="1700" dirty="0"/>
          </a:p>
        </p:txBody>
      </p:sp>
      <p:sp>
        <p:nvSpPr>
          <p:cNvPr id="9" name="Shape 7"/>
          <p:cNvSpPr/>
          <p:nvPr/>
        </p:nvSpPr>
        <p:spPr>
          <a:xfrm>
            <a:off x="6248244" y="1651595"/>
            <a:ext cx="5486263" cy="2880320"/>
          </a:xfrm>
          <a:prstGeom prst="rect">
            <a:avLst/>
          </a:prstGeom>
          <a:solidFill>
            <a:srgbClr val="FFFFFF"/>
          </a:solidFill>
          <a:ln/>
        </p:spPr>
      </p:sp>
      <p:sp>
        <p:nvSpPr>
          <p:cNvPr id="10" name="Shape 8"/>
          <p:cNvSpPr/>
          <p:nvPr/>
        </p:nvSpPr>
        <p:spPr>
          <a:xfrm>
            <a:off x="6248244" y="1651595"/>
            <a:ext cx="5486263" cy="38100"/>
          </a:xfrm>
          <a:prstGeom prst="rect">
            <a:avLst/>
          </a:prstGeom>
          <a:solidFill>
            <a:srgbClr val="14284B"/>
          </a:solidFill>
          <a:ln/>
        </p:spPr>
      </p:sp>
      <p:sp>
        <p:nvSpPr>
          <p:cNvPr id="11" name="Text 9"/>
          <p:cNvSpPr/>
          <p:nvPr/>
        </p:nvSpPr>
        <p:spPr>
          <a:xfrm>
            <a:off x="6476838" y="1924763"/>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Важные вопросы</a:t>
            </a:r>
            <a:endParaRPr lang="en-US" sz="2200" dirty="0"/>
          </a:p>
        </p:txBody>
      </p:sp>
      <p:sp>
        <p:nvSpPr>
          <p:cNvPr id="12" name="Text 10"/>
          <p:cNvSpPr/>
          <p:nvPr/>
        </p:nvSpPr>
        <p:spPr>
          <a:xfrm>
            <a:off x="6476838" y="2396728"/>
            <a:ext cx="5029074" cy="533400"/>
          </a:xfrm>
          <a:prstGeom prst="rect">
            <a:avLst/>
          </a:prstGeom>
          <a:noFill/>
          <a:ln/>
        </p:spPr>
        <p:txBody>
          <a:bodyPr wrap="none" lIns="0" tIns="0" rIns="0" bIns="0" rtlCol="0" anchor="t"/>
          <a:lstStyle/>
          <a:p>
            <a:pPr marL="0" indent="0" algn="l">
              <a:lnSpc>
                <a:spcPct val="83000"/>
              </a:lnSpc>
              <a:buNone/>
            </a:pPr>
            <a:r>
              <a:rPr lang="en-US" sz="4200" kern="100" spc="-63" dirty="0">
                <a:solidFill>
                  <a:srgbClr val="14284B"/>
                </a:solidFill>
                <a:latin typeface="Bitter ExtraBold" pitchFamily="34" charset="0"/>
                <a:ea typeface="Bitter ExtraBold" pitchFamily="34" charset="-122"/>
                <a:cs typeface="Bitter ExtraBold" pitchFamily="34" charset="0"/>
              </a:rPr>
              <a:t>75%</a:t>
            </a:r>
            <a:endParaRPr lang="en-US" sz="4200" dirty="0"/>
          </a:p>
        </p:txBody>
      </p:sp>
      <p:sp>
        <p:nvSpPr>
          <p:cNvPr id="13" name="Text 11"/>
          <p:cNvSpPr/>
          <p:nvPr/>
        </p:nvSpPr>
        <p:spPr>
          <a:xfrm>
            <a:off x="6476838" y="3084116"/>
            <a:ext cx="5029074" cy="1219200"/>
          </a:xfrm>
          <a:prstGeom prst="rect">
            <a:avLst/>
          </a:prstGeom>
          <a:noFill/>
          <a:ln/>
        </p:spPr>
        <p:txBody>
          <a:bodyPr wrap="square" lIns="0" tIns="0" rIns="0" bIns="0" rtlCol="0" anchor="t">
            <a:normAutofit/>
          </a:bodyPr>
          <a:lstStyle/>
          <a:p>
            <a:pPr marL="0" indent="0" algn="l">
              <a:lnSpc>
                <a:spcPct val="121000"/>
              </a:lnSpc>
              <a:spcAft>
                <a:spcPts val="850"/>
              </a:spcAft>
              <a:buNone/>
            </a:pPr>
            <a:r>
              <a:rPr lang="en-US" sz="1500" dirty="0">
                <a:solidFill>
                  <a:srgbClr val="14284B"/>
                </a:solidFill>
                <a:latin typeface="Noto Sans" pitchFamily="34" charset="0"/>
                <a:ea typeface="Noto Sans" pitchFamily="34" charset="-122"/>
                <a:cs typeface="Noto Sans" pitchFamily="34" charset="0"/>
              </a:rPr>
              <a:t>Предлагается для обсуждения с закреплением в уставе.</a:t>
            </a:r>
            <a:endParaRPr lang="en-US" sz="1500" dirty="0"/>
          </a:p>
          <a:p>
            <a:pPr marL="0" indent="0" algn="l">
              <a:lnSpc>
                <a:spcPct val="121000"/>
              </a:lnSpc>
              <a:buNone/>
            </a:pPr>
            <a:r>
              <a:rPr lang="en-US" sz="1500" dirty="0">
                <a:solidFill>
                  <a:srgbClr val="14284B"/>
                </a:solidFill>
                <a:latin typeface="Noto Sans" pitchFamily="34" charset="0"/>
                <a:ea typeface="Noto Sans" pitchFamily="34" charset="-122"/>
                <a:cs typeface="Noto Sans" pitchFamily="34" charset="0"/>
              </a:rPr>
              <a:t>У Арсения блокирующее влияние: остальные вместе имеют 70%.</a:t>
            </a:r>
            <a:endParaRPr lang="en-US" sz="1500" dirty="0"/>
          </a:p>
        </p:txBody>
      </p:sp>
      <p:sp>
        <p:nvSpPr>
          <p:cNvPr id="14" name="Text 12"/>
          <p:cNvSpPr/>
          <p:nvPr/>
        </p:nvSpPr>
        <p:spPr>
          <a:xfrm>
            <a:off x="457189" y="4712097"/>
            <a:ext cx="11734506" cy="276225"/>
          </a:xfrm>
          <a:prstGeom prst="rect">
            <a:avLst/>
          </a:prstGeom>
          <a:noFill/>
          <a:ln/>
        </p:spPr>
        <p:txBody>
          <a:bodyPr wrap="none" lIns="0" tIns="0" rIns="0" bIns="0" rtlCol="0" anchor="t"/>
          <a:lstStyle/>
          <a:p>
            <a:pPr marL="0" indent="0" algn="l">
              <a:lnSpc>
                <a:spcPct val="121000"/>
              </a:lnSpc>
              <a:buNone/>
            </a:pPr>
            <a:r>
              <a:rPr lang="en-US" sz="1500" dirty="0">
                <a:solidFill>
                  <a:srgbClr val="14284B"/>
                </a:solidFill>
                <a:latin typeface="Noto Sans" pitchFamily="34" charset="0"/>
                <a:ea typeface="Noto Sans" pitchFamily="34" charset="-122"/>
                <a:cs typeface="Noto Sans" pitchFamily="34" charset="0"/>
              </a:rPr>
              <a:t>Кандидат в генеральные директора — Арсений Брикульский, также учредитель. Директор ведёт текущую деятельность.</a:t>
            </a:r>
            <a:endParaRPr lang="en-US" sz="1500" dirty="0"/>
          </a:p>
        </p:txBody>
      </p:sp>
      <p:sp>
        <p:nvSpPr>
          <p:cNvPr id="15" name="Text 13"/>
          <p:cNvSpPr/>
          <p:nvPr/>
        </p:nvSpPr>
        <p:spPr>
          <a:xfrm>
            <a:off x="457189" y="5175171"/>
            <a:ext cx="11734506" cy="240010"/>
          </a:xfrm>
          <a:prstGeom prst="rect">
            <a:avLst/>
          </a:prstGeom>
          <a:noFill/>
          <a:ln/>
        </p:spPr>
        <p:txBody>
          <a:bodyPr wrap="none" lIns="0" tIns="0" rIns="0" bIns="0" rtlCol="0" anchor="t"/>
          <a:lstStyle/>
          <a:p>
            <a:pPr marL="0" indent="0" algn="l">
              <a:lnSpc>
                <a:spcPct val="112000"/>
              </a:lnSpc>
              <a:buNone/>
            </a:pPr>
            <a:r>
              <a:rPr lang="en-US" sz="1400" dirty="0">
                <a:solidFill>
                  <a:srgbClr val="525E6B"/>
                </a:solidFill>
                <a:latin typeface="Noto Sans" pitchFamily="34" charset="0"/>
                <a:ea typeface="Noto Sans" pitchFamily="34" charset="-122"/>
                <a:cs typeface="Noto Sans" pitchFamily="34" charset="0"/>
              </a:rPr>
              <a:t>Требования закона, включая единогласие в предусмотренных случаях, сохраняются. Основа: статья 37 Закона об ООО.</a:t>
            </a:r>
            <a:endParaRPr lang="en-US" sz="1400" dirty="0"/>
          </a:p>
        </p:txBody>
      </p:sp>
      <p:pic>
        <p:nvPicPr>
          <p:cNvPr id="17" name="Рисунок 16">
            <a:extLst>
              <a:ext uri="{FF2B5EF4-FFF2-40B4-BE49-F238E27FC236}">
                <a16:creationId xmlns:a16="http://schemas.microsoft.com/office/drawing/2014/main" id="{5573194D-BED1-E4C6-1E2A-2886CC1611D3}"/>
              </a:ext>
            </a:extLst>
          </p:cNvPr>
          <p:cNvPicPr>
            <a:picLocks noChangeAspect="1"/>
          </p:cNvPicPr>
          <p:nvPr/>
        </p:nvPicPr>
        <p:blipFill>
          <a:blip r:embed="rId3"/>
          <a:stretch>
            <a:fillRect/>
          </a:stretch>
        </p:blipFill>
        <p:spPr>
          <a:xfrm>
            <a:off x="9492102" y="6524578"/>
            <a:ext cx="2629267" cy="3334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Ответственность и деньги</a:t>
            </a:r>
            <a:endParaRPr lang="en-US" sz="3800" dirty="0"/>
          </a:p>
        </p:txBody>
      </p:sp>
      <p:sp>
        <p:nvSpPr>
          <p:cNvPr id="3" name="Text 1"/>
          <p:cNvSpPr/>
          <p:nvPr/>
        </p:nvSpPr>
        <p:spPr>
          <a:xfrm>
            <a:off x="457189" y="1163459"/>
            <a:ext cx="11277318"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ООО отвечает своим имуществом. Участники по общему правилу по долгам не отвечают, но есть исключения.</a:t>
            </a:r>
            <a:endParaRPr lang="en-US" sz="1700" dirty="0"/>
          </a:p>
        </p:txBody>
      </p:sp>
      <p:sp>
        <p:nvSpPr>
          <p:cNvPr id="4" name="Shape 2"/>
          <p:cNvSpPr/>
          <p:nvPr/>
        </p:nvSpPr>
        <p:spPr>
          <a:xfrm>
            <a:off x="457189" y="1964630"/>
            <a:ext cx="5486263" cy="1272480"/>
          </a:xfrm>
          <a:prstGeom prst="rect">
            <a:avLst/>
          </a:prstGeom>
          <a:solidFill>
            <a:srgbClr val="FFFFFF"/>
          </a:solidFill>
          <a:ln/>
        </p:spPr>
      </p:sp>
      <p:sp>
        <p:nvSpPr>
          <p:cNvPr id="5" name="Shape 3"/>
          <p:cNvSpPr/>
          <p:nvPr/>
        </p:nvSpPr>
        <p:spPr>
          <a:xfrm>
            <a:off x="457189" y="1964630"/>
            <a:ext cx="5486263" cy="38100"/>
          </a:xfrm>
          <a:prstGeom prst="rect">
            <a:avLst/>
          </a:prstGeom>
          <a:solidFill>
            <a:srgbClr val="14284B"/>
          </a:solidFill>
          <a:ln/>
        </p:spPr>
      </p:sp>
      <p:sp>
        <p:nvSpPr>
          <p:cNvPr id="6" name="Text 4"/>
          <p:cNvSpPr/>
          <p:nvPr/>
        </p:nvSpPr>
        <p:spPr>
          <a:xfrm>
            <a:off x="685783" y="2237798"/>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Участник → ООО</a:t>
            </a:r>
            <a:endParaRPr lang="en-US" sz="2200" dirty="0"/>
          </a:p>
        </p:txBody>
      </p:sp>
      <p:sp>
        <p:nvSpPr>
          <p:cNvPr id="7" name="Text 5"/>
          <p:cNvSpPr/>
          <p:nvPr/>
        </p:nvSpPr>
        <p:spPr>
          <a:xfrm>
            <a:off x="685783" y="2698174"/>
            <a:ext cx="5257668" cy="313035"/>
          </a:xfrm>
          <a:prstGeom prst="rect">
            <a:avLst/>
          </a:prstGeom>
          <a:noFill/>
          <a:ln/>
        </p:spPr>
        <p:txBody>
          <a:bodyPr wrap="none" lIns="0" tIns="0" rIns="0" bIns="0" rtlCol="0" anchor="t"/>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Оплата доли</a:t>
            </a:r>
            <a:endParaRPr lang="en-US" sz="1700" dirty="0"/>
          </a:p>
        </p:txBody>
      </p:sp>
      <p:sp>
        <p:nvSpPr>
          <p:cNvPr id="8" name="Shape 6"/>
          <p:cNvSpPr/>
          <p:nvPr/>
        </p:nvSpPr>
        <p:spPr>
          <a:xfrm>
            <a:off x="6248244" y="1964630"/>
            <a:ext cx="5486263" cy="1272480"/>
          </a:xfrm>
          <a:prstGeom prst="rect">
            <a:avLst/>
          </a:prstGeom>
          <a:solidFill>
            <a:srgbClr val="FFFFFF"/>
          </a:solidFill>
          <a:ln/>
        </p:spPr>
      </p:sp>
      <p:sp>
        <p:nvSpPr>
          <p:cNvPr id="9" name="Shape 7"/>
          <p:cNvSpPr/>
          <p:nvPr/>
        </p:nvSpPr>
        <p:spPr>
          <a:xfrm>
            <a:off x="6248244" y="1964630"/>
            <a:ext cx="5486263" cy="38100"/>
          </a:xfrm>
          <a:prstGeom prst="rect">
            <a:avLst/>
          </a:prstGeom>
          <a:solidFill>
            <a:srgbClr val="14284B"/>
          </a:solidFill>
          <a:ln/>
        </p:spPr>
      </p:sp>
      <p:sp>
        <p:nvSpPr>
          <p:cNvPr id="10" name="Text 8"/>
          <p:cNvSpPr/>
          <p:nvPr/>
        </p:nvSpPr>
        <p:spPr>
          <a:xfrm>
            <a:off x="6476838" y="2237798"/>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Участник → ООО</a:t>
            </a:r>
            <a:endParaRPr lang="en-US" sz="2200" dirty="0"/>
          </a:p>
        </p:txBody>
      </p:sp>
      <p:sp>
        <p:nvSpPr>
          <p:cNvPr id="11" name="Text 9"/>
          <p:cNvSpPr/>
          <p:nvPr/>
        </p:nvSpPr>
        <p:spPr>
          <a:xfrm>
            <a:off x="6476838" y="2698174"/>
            <a:ext cx="5257668" cy="313035"/>
          </a:xfrm>
          <a:prstGeom prst="rect">
            <a:avLst/>
          </a:prstGeom>
          <a:noFill/>
          <a:ln/>
        </p:spPr>
        <p:txBody>
          <a:bodyPr wrap="none" lIns="0" tIns="0" rIns="0" bIns="0" rtlCol="0" anchor="t"/>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Заём участника</a:t>
            </a:r>
            <a:endParaRPr lang="en-US" sz="1700" dirty="0"/>
          </a:p>
        </p:txBody>
      </p:sp>
      <p:sp>
        <p:nvSpPr>
          <p:cNvPr id="12" name="Shape 10"/>
          <p:cNvSpPr/>
          <p:nvPr/>
        </p:nvSpPr>
        <p:spPr>
          <a:xfrm>
            <a:off x="457189" y="3541911"/>
            <a:ext cx="5486263" cy="1272480"/>
          </a:xfrm>
          <a:prstGeom prst="rect">
            <a:avLst/>
          </a:prstGeom>
          <a:solidFill>
            <a:srgbClr val="FFFFFF"/>
          </a:solidFill>
          <a:ln/>
        </p:spPr>
      </p:sp>
      <p:sp>
        <p:nvSpPr>
          <p:cNvPr id="13" name="Shape 11"/>
          <p:cNvSpPr/>
          <p:nvPr/>
        </p:nvSpPr>
        <p:spPr>
          <a:xfrm>
            <a:off x="457189" y="3541911"/>
            <a:ext cx="5486263" cy="38100"/>
          </a:xfrm>
          <a:prstGeom prst="rect">
            <a:avLst/>
          </a:prstGeom>
          <a:solidFill>
            <a:srgbClr val="14284B"/>
          </a:solidFill>
          <a:ln/>
        </p:spPr>
      </p:sp>
      <p:sp>
        <p:nvSpPr>
          <p:cNvPr id="14" name="Text 12"/>
          <p:cNvSpPr/>
          <p:nvPr/>
        </p:nvSpPr>
        <p:spPr>
          <a:xfrm>
            <a:off x="685783" y="3815079"/>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ООО → работник</a:t>
            </a:r>
            <a:endParaRPr lang="en-US" sz="2200" dirty="0"/>
          </a:p>
        </p:txBody>
      </p:sp>
      <p:sp>
        <p:nvSpPr>
          <p:cNvPr id="15" name="Text 13"/>
          <p:cNvSpPr/>
          <p:nvPr/>
        </p:nvSpPr>
        <p:spPr>
          <a:xfrm>
            <a:off x="685783" y="4275455"/>
            <a:ext cx="5257668" cy="313035"/>
          </a:xfrm>
          <a:prstGeom prst="rect">
            <a:avLst/>
          </a:prstGeom>
          <a:noFill/>
          <a:ln/>
        </p:spPr>
        <p:txBody>
          <a:bodyPr wrap="none" lIns="0" tIns="0" rIns="0" bIns="0" rtlCol="0" anchor="t"/>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Зарплата</a:t>
            </a:r>
            <a:endParaRPr lang="en-US" sz="1700" dirty="0"/>
          </a:p>
        </p:txBody>
      </p:sp>
      <p:sp>
        <p:nvSpPr>
          <p:cNvPr id="16" name="Shape 14"/>
          <p:cNvSpPr/>
          <p:nvPr/>
        </p:nvSpPr>
        <p:spPr>
          <a:xfrm>
            <a:off x="6248244" y="3541911"/>
            <a:ext cx="5486263" cy="1272480"/>
          </a:xfrm>
          <a:prstGeom prst="rect">
            <a:avLst/>
          </a:prstGeom>
          <a:solidFill>
            <a:srgbClr val="FFFFFF"/>
          </a:solidFill>
          <a:ln/>
        </p:spPr>
      </p:sp>
      <p:sp>
        <p:nvSpPr>
          <p:cNvPr id="17" name="Shape 15"/>
          <p:cNvSpPr/>
          <p:nvPr/>
        </p:nvSpPr>
        <p:spPr>
          <a:xfrm>
            <a:off x="6248244" y="3541911"/>
            <a:ext cx="5486263" cy="38100"/>
          </a:xfrm>
          <a:prstGeom prst="rect">
            <a:avLst/>
          </a:prstGeom>
          <a:solidFill>
            <a:srgbClr val="14284B"/>
          </a:solidFill>
          <a:ln/>
        </p:spPr>
      </p:sp>
      <p:sp>
        <p:nvSpPr>
          <p:cNvPr id="18" name="Text 16"/>
          <p:cNvSpPr/>
          <p:nvPr/>
        </p:nvSpPr>
        <p:spPr>
          <a:xfrm>
            <a:off x="6476838" y="3815079"/>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ООО → участник</a:t>
            </a:r>
            <a:endParaRPr lang="en-US" sz="2200" dirty="0"/>
          </a:p>
        </p:txBody>
      </p:sp>
      <p:sp>
        <p:nvSpPr>
          <p:cNvPr id="19" name="Text 17"/>
          <p:cNvSpPr/>
          <p:nvPr/>
        </p:nvSpPr>
        <p:spPr>
          <a:xfrm>
            <a:off x="6476838" y="4275455"/>
            <a:ext cx="5257668" cy="313035"/>
          </a:xfrm>
          <a:prstGeom prst="rect">
            <a:avLst/>
          </a:prstGeom>
          <a:noFill/>
          <a:ln/>
        </p:spPr>
        <p:txBody>
          <a:bodyPr wrap="none" lIns="0" tIns="0" rIns="0" bIns="0" rtlCol="0" anchor="t"/>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Распределение прибыли</a:t>
            </a:r>
            <a:endParaRPr lang="en-US" sz="1700" dirty="0"/>
          </a:p>
        </p:txBody>
      </p:sp>
      <p:sp>
        <p:nvSpPr>
          <p:cNvPr id="20" name="Text 18"/>
          <p:cNvSpPr/>
          <p:nvPr/>
        </p:nvSpPr>
        <p:spPr>
          <a:xfrm>
            <a:off x="457189" y="4992191"/>
            <a:ext cx="11277318" cy="730250"/>
          </a:xfrm>
          <a:prstGeom prst="rect">
            <a:avLst/>
          </a:prstGeom>
          <a:noFill/>
          <a:ln/>
        </p:spPr>
        <p:txBody>
          <a:bodyPr wrap="square" lIns="0" tIns="0" rIns="0" bIns="0" rtlCol="0" anchor="t"/>
          <a:lstStyle/>
          <a:p>
            <a:pPr marL="0" indent="0" algn="l">
              <a:lnSpc>
                <a:spcPct val="121000"/>
              </a:lnSpc>
              <a:spcAft>
                <a:spcPts val="1350"/>
              </a:spcAft>
              <a:buNone/>
            </a:pPr>
            <a:r>
              <a:rPr lang="en-US" sz="1500" dirty="0">
                <a:solidFill>
                  <a:srgbClr val="14284B"/>
                </a:solidFill>
                <a:latin typeface="Noto Sans" pitchFamily="34" charset="0"/>
                <a:ea typeface="Noto Sans" pitchFamily="34" charset="-122"/>
                <a:cs typeface="Noto Sans" pitchFamily="34" charset="0"/>
              </a:rPr>
              <a:t>При недобросовестном управлении возможна личная ответственность директора и контролирующих лиц.</a:t>
            </a:r>
            <a:endParaRPr lang="en-US" sz="1500" dirty="0"/>
          </a:p>
          <a:p>
            <a:pPr marL="0" indent="0" algn="l">
              <a:lnSpc>
                <a:spcPct val="121000"/>
              </a:lnSpc>
              <a:buNone/>
            </a:pPr>
            <a:r>
              <a:rPr lang="en-US" sz="1500" b="1" dirty="0">
                <a:solidFill>
                  <a:srgbClr val="14284B"/>
                </a:solidFill>
                <a:latin typeface="Noto Sans Bold" pitchFamily="34" charset="0"/>
                <a:ea typeface="Noto Sans Bold" pitchFamily="34" charset="-122"/>
                <a:cs typeface="Noto Sans Bold" pitchFamily="34" charset="0"/>
              </a:rPr>
              <a:t>Уставный капитал 10 000 ₽ не ограничивает долги компании. Доля не гарантирует ежемесячного дохода.</a:t>
            </a:r>
            <a:endParaRPr lang="en-US" sz="1500" dirty="0"/>
          </a:p>
        </p:txBody>
      </p:sp>
      <p:pic>
        <p:nvPicPr>
          <p:cNvPr id="22" name="Рисунок 21">
            <a:extLst>
              <a:ext uri="{FF2B5EF4-FFF2-40B4-BE49-F238E27FC236}">
                <a16:creationId xmlns:a16="http://schemas.microsoft.com/office/drawing/2014/main" id="{031B76F7-5226-751E-6B18-B5F5C900DD94}"/>
              </a:ext>
            </a:extLst>
          </p:cNvPr>
          <p:cNvPicPr>
            <a:picLocks noChangeAspect="1"/>
          </p:cNvPicPr>
          <p:nvPr/>
        </p:nvPicPr>
        <p:blipFill>
          <a:blip r:embed="rId3"/>
          <a:stretch>
            <a:fillRect/>
          </a:stretch>
        </p:blipFill>
        <p:spPr>
          <a:xfrm>
            <a:off x="9498409" y="6472386"/>
            <a:ext cx="2629267" cy="333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Какие интеллектуальные активы защищаем</a:t>
            </a:r>
            <a:endParaRPr lang="en-US" sz="3800" dirty="0"/>
          </a:p>
        </p:txBody>
      </p:sp>
      <p:sp>
        <p:nvSpPr>
          <p:cNvPr id="3" name="Shape 1"/>
          <p:cNvSpPr/>
          <p:nvPr/>
        </p:nvSpPr>
        <p:spPr>
          <a:xfrm>
            <a:off x="457189" y="1160760"/>
            <a:ext cx="11277318" cy="5240040"/>
          </a:xfrm>
          <a:prstGeom prst="rect">
            <a:avLst/>
          </a:prstGeom>
          <a:solidFill>
            <a:srgbClr val="FFFFFF"/>
          </a:solidFill>
          <a:ln/>
        </p:spPr>
      </p:sp>
      <p:sp>
        <p:nvSpPr>
          <p:cNvPr id="4" name="Shape 2"/>
          <p:cNvSpPr/>
          <p:nvPr/>
        </p:nvSpPr>
        <p:spPr>
          <a:xfrm>
            <a:off x="457189" y="1160760"/>
            <a:ext cx="11277318" cy="38100"/>
          </a:xfrm>
          <a:prstGeom prst="rect">
            <a:avLst/>
          </a:prstGeom>
          <a:solidFill>
            <a:srgbClr val="14284B"/>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783" y="1402060"/>
          <a:ext cx="10820129" cy="4017421"/>
        </p:xfrm>
        <a:graphic>
          <a:graphicData uri="http://schemas.openxmlformats.org/drawingml/2006/table">
            <a:tbl>
              <a:tblPr/>
              <a:tblGrid>
                <a:gridCol w="4328012">
                  <a:extLst>
                    <a:ext uri="{9D8B030D-6E8A-4147-A177-3AD203B41FA5}">
                      <a16:colId xmlns:a16="http://schemas.microsoft.com/office/drawing/2014/main" val="20000"/>
                    </a:ext>
                  </a:extLst>
                </a:gridCol>
                <a:gridCol w="6492117">
                  <a:extLst>
                    <a:ext uri="{9D8B030D-6E8A-4147-A177-3AD203B41FA5}">
                      <a16:colId xmlns:a16="http://schemas.microsoft.com/office/drawing/2014/main" val="20001"/>
                    </a:ext>
                  </a:extLst>
                </a:gridCol>
              </a:tblGrid>
              <a:tr h="50352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Объект</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Способ защиты</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352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Код клиентской и серверной части</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Авторское право; оформление исключительных прав</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352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Дизайн и логотип</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Авторское право</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352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Документация и оригинальные тексты</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Авторское право</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6550">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База данных</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Проверка оснований охраны и законности получения материалов</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352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Название и обозначение</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Проверка и регистрация товарного знака</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AEB9C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823">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Закрытые коммерческие сведения</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4284B"/>
                          </a:solidFill>
                          <a:latin typeface="Noto Sans" pitchFamily="34" charset="0"/>
                          <a:ea typeface="Noto Sans" pitchFamily="34" charset="-122"/>
                          <a:cs typeface="Noto Sans" pitchFamily="34" charset="0"/>
                        </a:rPr>
                        <a:t>Конфиденциальность и меры защиты</a:t>
                      </a:r>
                      <a:endParaRPr lang="en-US" sz="1700" dirty="0">
                        <a:latin typeface="Noto Sans" charset="0"/>
                        <a:ea typeface="Noto Sans" charset="0"/>
                        <a:cs typeface="Noto Sans"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EB9C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685783" y="5352871"/>
            <a:ext cx="11048724" cy="240010"/>
          </a:xfrm>
          <a:prstGeom prst="rect">
            <a:avLst/>
          </a:prstGeom>
          <a:noFill/>
          <a:ln/>
        </p:spPr>
        <p:txBody>
          <a:bodyPr wrap="none" lIns="0" tIns="0" rIns="0" bIns="0" rtlCol="0" anchor="t"/>
          <a:lstStyle/>
          <a:p>
            <a:pPr marL="0" indent="0" algn="l">
              <a:lnSpc>
                <a:spcPct val="112000"/>
              </a:lnSpc>
              <a:buNone/>
            </a:pPr>
            <a:r>
              <a:rPr lang="en-US" sz="1400" dirty="0">
                <a:solidFill>
                  <a:srgbClr val="14284B"/>
                </a:solidFill>
                <a:latin typeface="Noto Sans" pitchFamily="34" charset="0"/>
                <a:ea typeface="Noto Sans" pitchFamily="34" charset="-122"/>
                <a:cs typeface="Noto Sans" pitchFamily="34" charset="0"/>
              </a:rPr>
              <a:t>Идея сервиса сама по себе авторским правом не охраняется. Основа: статья 1259 ГК РФ.</a:t>
            </a:r>
            <a:endParaRPr lang="en-US" sz="1400" dirty="0"/>
          </a:p>
        </p:txBody>
      </p:sp>
      <p:pic>
        <p:nvPicPr>
          <p:cNvPr id="7" name="Рисунок 6">
            <a:extLst>
              <a:ext uri="{FF2B5EF4-FFF2-40B4-BE49-F238E27FC236}">
                <a16:creationId xmlns:a16="http://schemas.microsoft.com/office/drawing/2014/main" id="{70C4E357-CBC2-F3E4-1291-0DD86E1EB728}"/>
              </a:ext>
            </a:extLst>
          </p:cNvPr>
          <p:cNvPicPr>
            <a:picLocks noChangeAspect="1"/>
          </p:cNvPicPr>
          <p:nvPr/>
        </p:nvPicPr>
        <p:blipFill>
          <a:blip r:embed="rId3"/>
          <a:stretch>
            <a:fillRect/>
          </a:stretch>
        </p:blipFill>
        <p:spPr>
          <a:xfrm>
            <a:off x="9485796" y="6471337"/>
            <a:ext cx="2629267" cy="3334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Кому должны принадлежать права</a:t>
            </a:r>
            <a:endParaRPr lang="en-US" sz="3800" dirty="0"/>
          </a:p>
        </p:txBody>
      </p:sp>
      <p:sp>
        <p:nvSpPr>
          <p:cNvPr id="3" name="Text 1"/>
          <p:cNvSpPr/>
          <p:nvPr/>
        </p:nvSpPr>
        <p:spPr>
          <a:xfrm>
            <a:off x="457189" y="1163459"/>
            <a:ext cx="11277318"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14284B"/>
                </a:solidFill>
                <a:latin typeface="Noto Sans" pitchFamily="34" charset="0"/>
                <a:ea typeface="Noto Sans" pitchFamily="34" charset="-122"/>
                <a:cs typeface="Noto Sans" pitchFamily="34" charset="0"/>
              </a:rPr>
              <a:t>Цель: исключительные права на собственные результаты разработки принадлежат ООО. Авторами остаются создавшие их люди.</a:t>
            </a:r>
            <a:endParaRPr lang="en-US" sz="1700" dirty="0"/>
          </a:p>
        </p:txBody>
      </p:sp>
      <p:sp>
        <p:nvSpPr>
          <p:cNvPr id="4" name="Shape 2"/>
          <p:cNvSpPr/>
          <p:nvPr/>
        </p:nvSpPr>
        <p:spPr>
          <a:xfrm>
            <a:off x="457189" y="1964630"/>
            <a:ext cx="2590735" cy="1652687"/>
          </a:xfrm>
          <a:prstGeom prst="rect">
            <a:avLst/>
          </a:prstGeom>
          <a:solidFill>
            <a:srgbClr val="FFFFFF"/>
          </a:solidFill>
          <a:ln/>
        </p:spPr>
      </p:sp>
      <p:sp>
        <p:nvSpPr>
          <p:cNvPr id="5" name="Text 3"/>
          <p:cNvSpPr/>
          <p:nvPr/>
        </p:nvSpPr>
        <p:spPr>
          <a:xfrm>
            <a:off x="685783" y="2193230"/>
            <a:ext cx="856633" cy="215900"/>
          </a:xfrm>
          <a:prstGeom prst="rect">
            <a:avLst/>
          </a:prstGeom>
          <a:noFill/>
          <a:ln/>
        </p:spPr>
        <p:txBody>
          <a:bodyPr wrap="none" lIns="0" tIns="0" rIns="0" bIns="0" rtlCol="0" anchor="t"/>
          <a:lstStyle/>
          <a:p>
            <a:pPr marL="0" indent="0" algn="l">
              <a:lnSpc>
                <a:spcPct val="83000"/>
              </a:lnSpc>
              <a:buNone/>
            </a:pPr>
            <a:r>
              <a:rPr lang="en-US" sz="1700" dirty="0">
                <a:solidFill>
                  <a:srgbClr val="14284B"/>
                </a:solidFill>
                <a:latin typeface="Noto Sans SemiBold" pitchFamily="34" charset="0"/>
                <a:ea typeface="Noto Sans SemiBold" pitchFamily="34" charset="-122"/>
                <a:cs typeface="Noto Sans SemiBold" pitchFamily="34" charset="0"/>
              </a:rPr>
              <a:t>01</a:t>
            </a:r>
            <a:endParaRPr lang="en-US" sz="1700" dirty="0"/>
          </a:p>
        </p:txBody>
      </p:sp>
      <p:sp>
        <p:nvSpPr>
          <p:cNvPr id="6" name="Shape 4"/>
          <p:cNvSpPr/>
          <p:nvPr/>
        </p:nvSpPr>
        <p:spPr>
          <a:xfrm>
            <a:off x="685783" y="2495451"/>
            <a:ext cx="2133547" cy="19050"/>
          </a:xfrm>
          <a:prstGeom prst="rect">
            <a:avLst/>
          </a:prstGeom>
          <a:solidFill>
            <a:srgbClr val="14284B"/>
          </a:solidFill>
          <a:ln/>
        </p:spPr>
      </p:sp>
      <p:sp>
        <p:nvSpPr>
          <p:cNvPr id="7" name="Text 5"/>
          <p:cNvSpPr/>
          <p:nvPr/>
        </p:nvSpPr>
        <p:spPr>
          <a:xfrm>
            <a:off x="685783" y="2659303"/>
            <a:ext cx="2133547" cy="744736"/>
          </a:xfrm>
          <a:prstGeom prst="rect">
            <a:avLst/>
          </a:prstGeom>
          <a:noFill/>
          <a:ln/>
        </p:spPr>
        <p:txBody>
          <a:bodyPr wrap="square" lIns="0" tIns="0" rIns="0" bIns="0" rtlCol="0" anchor="t">
            <a:normAutofit/>
          </a:bodyPr>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Автор или текущий правообладатель</a:t>
            </a:r>
            <a:endParaRPr lang="en-US" sz="1700" dirty="0"/>
          </a:p>
        </p:txBody>
      </p:sp>
      <p:sp>
        <p:nvSpPr>
          <p:cNvPr id="8" name="Shape 6"/>
          <p:cNvSpPr/>
          <p:nvPr/>
        </p:nvSpPr>
        <p:spPr>
          <a:xfrm>
            <a:off x="3352716" y="1964630"/>
            <a:ext cx="2590735" cy="1652687"/>
          </a:xfrm>
          <a:prstGeom prst="rect">
            <a:avLst/>
          </a:prstGeom>
          <a:solidFill>
            <a:srgbClr val="FFFFFF"/>
          </a:solidFill>
          <a:ln/>
        </p:spPr>
      </p:sp>
      <p:sp>
        <p:nvSpPr>
          <p:cNvPr id="9" name="Text 7"/>
          <p:cNvSpPr/>
          <p:nvPr/>
        </p:nvSpPr>
        <p:spPr>
          <a:xfrm>
            <a:off x="3581310" y="2193230"/>
            <a:ext cx="856633" cy="215900"/>
          </a:xfrm>
          <a:prstGeom prst="rect">
            <a:avLst/>
          </a:prstGeom>
          <a:noFill/>
          <a:ln/>
        </p:spPr>
        <p:txBody>
          <a:bodyPr wrap="none" lIns="0" tIns="0" rIns="0" bIns="0" rtlCol="0" anchor="t"/>
          <a:lstStyle/>
          <a:p>
            <a:pPr marL="0" indent="0" algn="l">
              <a:lnSpc>
                <a:spcPct val="83000"/>
              </a:lnSpc>
              <a:buNone/>
            </a:pPr>
            <a:r>
              <a:rPr lang="en-US" sz="1700" dirty="0">
                <a:solidFill>
                  <a:srgbClr val="14284B"/>
                </a:solidFill>
                <a:latin typeface="Noto Sans SemiBold" pitchFamily="34" charset="0"/>
                <a:ea typeface="Noto Sans SemiBold" pitchFamily="34" charset="-122"/>
                <a:cs typeface="Noto Sans SemiBold" pitchFamily="34" charset="0"/>
              </a:rPr>
              <a:t>02</a:t>
            </a:r>
            <a:endParaRPr lang="en-US" sz="1700" dirty="0"/>
          </a:p>
        </p:txBody>
      </p:sp>
      <p:sp>
        <p:nvSpPr>
          <p:cNvPr id="10" name="Shape 8"/>
          <p:cNvSpPr/>
          <p:nvPr/>
        </p:nvSpPr>
        <p:spPr>
          <a:xfrm>
            <a:off x="3581310" y="2495451"/>
            <a:ext cx="2133547" cy="19050"/>
          </a:xfrm>
          <a:prstGeom prst="rect">
            <a:avLst/>
          </a:prstGeom>
          <a:solidFill>
            <a:srgbClr val="14284B"/>
          </a:solidFill>
          <a:ln/>
        </p:spPr>
      </p:sp>
      <p:sp>
        <p:nvSpPr>
          <p:cNvPr id="11" name="Text 9"/>
          <p:cNvSpPr/>
          <p:nvPr/>
        </p:nvSpPr>
        <p:spPr>
          <a:xfrm>
            <a:off x="3581310" y="2659303"/>
            <a:ext cx="2133547"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Договор</a:t>
            </a:r>
            <a:endParaRPr lang="en-US" sz="1700" dirty="0"/>
          </a:p>
        </p:txBody>
      </p:sp>
      <p:sp>
        <p:nvSpPr>
          <p:cNvPr id="12" name="Shape 10"/>
          <p:cNvSpPr/>
          <p:nvPr/>
        </p:nvSpPr>
        <p:spPr>
          <a:xfrm>
            <a:off x="6248244" y="1964630"/>
            <a:ext cx="2590735" cy="1652687"/>
          </a:xfrm>
          <a:prstGeom prst="rect">
            <a:avLst/>
          </a:prstGeom>
          <a:solidFill>
            <a:srgbClr val="FFFFFF"/>
          </a:solidFill>
          <a:ln/>
        </p:spPr>
      </p:sp>
      <p:sp>
        <p:nvSpPr>
          <p:cNvPr id="13" name="Text 11"/>
          <p:cNvSpPr/>
          <p:nvPr/>
        </p:nvSpPr>
        <p:spPr>
          <a:xfrm>
            <a:off x="6476838" y="2193230"/>
            <a:ext cx="856633" cy="215900"/>
          </a:xfrm>
          <a:prstGeom prst="rect">
            <a:avLst/>
          </a:prstGeom>
          <a:noFill/>
          <a:ln/>
        </p:spPr>
        <p:txBody>
          <a:bodyPr wrap="none" lIns="0" tIns="0" rIns="0" bIns="0" rtlCol="0" anchor="t"/>
          <a:lstStyle/>
          <a:p>
            <a:pPr marL="0" indent="0" algn="l">
              <a:lnSpc>
                <a:spcPct val="83000"/>
              </a:lnSpc>
              <a:buNone/>
            </a:pPr>
            <a:r>
              <a:rPr lang="en-US" sz="1700" dirty="0">
                <a:solidFill>
                  <a:srgbClr val="14284B"/>
                </a:solidFill>
                <a:latin typeface="Noto Sans SemiBold" pitchFamily="34" charset="0"/>
                <a:ea typeface="Noto Sans SemiBold" pitchFamily="34" charset="-122"/>
                <a:cs typeface="Noto Sans SemiBold" pitchFamily="34" charset="0"/>
              </a:rPr>
              <a:t>03</a:t>
            </a:r>
            <a:endParaRPr lang="en-US" sz="1700" dirty="0"/>
          </a:p>
        </p:txBody>
      </p:sp>
      <p:sp>
        <p:nvSpPr>
          <p:cNvPr id="14" name="Shape 12"/>
          <p:cNvSpPr/>
          <p:nvPr/>
        </p:nvSpPr>
        <p:spPr>
          <a:xfrm>
            <a:off x="6476838" y="2495451"/>
            <a:ext cx="2133547" cy="19050"/>
          </a:xfrm>
          <a:prstGeom prst="rect">
            <a:avLst/>
          </a:prstGeom>
          <a:solidFill>
            <a:srgbClr val="14284B"/>
          </a:solidFill>
          <a:ln/>
        </p:spPr>
      </p:sp>
      <p:sp>
        <p:nvSpPr>
          <p:cNvPr id="15" name="Text 13"/>
          <p:cNvSpPr/>
          <p:nvPr/>
        </p:nvSpPr>
        <p:spPr>
          <a:xfrm>
            <a:off x="6476838" y="2659303"/>
            <a:ext cx="2133547" cy="496491"/>
          </a:xfrm>
          <a:prstGeom prst="rect">
            <a:avLst/>
          </a:prstGeom>
          <a:noFill/>
          <a:ln/>
        </p:spPr>
        <p:txBody>
          <a:bodyPr wrap="square" lIns="0" tIns="0" rIns="0" bIns="0" rtlCol="0" anchor="t">
            <a:normAutofit/>
          </a:bodyPr>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Передача материалов</a:t>
            </a:r>
            <a:endParaRPr lang="en-US" sz="1700" dirty="0"/>
          </a:p>
        </p:txBody>
      </p:sp>
      <p:sp>
        <p:nvSpPr>
          <p:cNvPr id="16" name="Shape 14"/>
          <p:cNvSpPr/>
          <p:nvPr/>
        </p:nvSpPr>
        <p:spPr>
          <a:xfrm>
            <a:off x="9143771" y="1964630"/>
            <a:ext cx="2590735" cy="1652687"/>
          </a:xfrm>
          <a:prstGeom prst="rect">
            <a:avLst/>
          </a:prstGeom>
          <a:solidFill>
            <a:srgbClr val="FFFFFF"/>
          </a:solidFill>
          <a:ln/>
        </p:spPr>
      </p:sp>
      <p:sp>
        <p:nvSpPr>
          <p:cNvPr id="17" name="Text 15"/>
          <p:cNvSpPr/>
          <p:nvPr/>
        </p:nvSpPr>
        <p:spPr>
          <a:xfrm>
            <a:off x="9372366" y="2193230"/>
            <a:ext cx="856633" cy="215900"/>
          </a:xfrm>
          <a:prstGeom prst="rect">
            <a:avLst/>
          </a:prstGeom>
          <a:noFill/>
          <a:ln/>
        </p:spPr>
        <p:txBody>
          <a:bodyPr wrap="none" lIns="0" tIns="0" rIns="0" bIns="0" rtlCol="0" anchor="t"/>
          <a:lstStyle/>
          <a:p>
            <a:pPr marL="0" indent="0" algn="l">
              <a:lnSpc>
                <a:spcPct val="83000"/>
              </a:lnSpc>
              <a:buNone/>
            </a:pPr>
            <a:r>
              <a:rPr lang="en-US" sz="1700" dirty="0">
                <a:solidFill>
                  <a:srgbClr val="14284B"/>
                </a:solidFill>
                <a:latin typeface="Noto Sans SemiBold" pitchFamily="34" charset="0"/>
                <a:ea typeface="Noto Sans SemiBold" pitchFamily="34" charset="-122"/>
                <a:cs typeface="Noto Sans SemiBold" pitchFamily="34" charset="0"/>
              </a:rPr>
              <a:t>04</a:t>
            </a:r>
            <a:endParaRPr lang="en-US" sz="1700" dirty="0"/>
          </a:p>
        </p:txBody>
      </p:sp>
      <p:sp>
        <p:nvSpPr>
          <p:cNvPr id="18" name="Shape 16"/>
          <p:cNvSpPr/>
          <p:nvPr/>
        </p:nvSpPr>
        <p:spPr>
          <a:xfrm>
            <a:off x="9372366" y="2495451"/>
            <a:ext cx="2133547" cy="19050"/>
          </a:xfrm>
          <a:prstGeom prst="rect">
            <a:avLst/>
          </a:prstGeom>
          <a:solidFill>
            <a:srgbClr val="14284B"/>
          </a:solidFill>
          <a:ln/>
        </p:spPr>
      </p:sp>
      <p:sp>
        <p:nvSpPr>
          <p:cNvPr id="19" name="Text 17"/>
          <p:cNvSpPr/>
          <p:nvPr/>
        </p:nvSpPr>
        <p:spPr>
          <a:xfrm>
            <a:off x="9372366" y="2659303"/>
            <a:ext cx="2133547"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ООО</a:t>
            </a:r>
            <a:endParaRPr lang="en-US" sz="1700" dirty="0"/>
          </a:p>
        </p:txBody>
      </p:sp>
      <p:sp>
        <p:nvSpPr>
          <p:cNvPr id="20" name="Text 18"/>
          <p:cNvSpPr/>
          <p:nvPr/>
        </p:nvSpPr>
        <p:spPr>
          <a:xfrm>
            <a:off x="457189" y="3801585"/>
            <a:ext cx="5410065"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Созданное</a:t>
            </a:r>
            <a:endParaRPr lang="en-US" sz="2200" dirty="0"/>
          </a:p>
        </p:txBody>
      </p:sp>
      <p:sp>
        <p:nvSpPr>
          <p:cNvPr id="21" name="Text 19"/>
          <p:cNvSpPr/>
          <p:nvPr/>
        </p:nvSpPr>
        <p:spPr>
          <a:xfrm>
            <a:off x="457189" y="4261644"/>
            <a:ext cx="5410065" cy="276225"/>
          </a:xfrm>
          <a:prstGeom prst="rect">
            <a:avLst/>
          </a:prstGeom>
          <a:noFill/>
          <a:ln/>
        </p:spPr>
        <p:txBody>
          <a:bodyPr wrap="none" lIns="0" tIns="0" rIns="0" bIns="0" rtlCol="0" anchor="t"/>
          <a:lstStyle/>
          <a:p>
            <a:pPr marL="0" indent="0" algn="l">
              <a:lnSpc>
                <a:spcPct val="121000"/>
              </a:lnSpc>
              <a:buNone/>
            </a:pPr>
            <a:r>
              <a:rPr lang="en-US" sz="1500" dirty="0">
                <a:solidFill>
                  <a:srgbClr val="14284B"/>
                </a:solidFill>
                <a:latin typeface="Noto Sans" pitchFamily="34" charset="0"/>
                <a:ea typeface="Noto Sans" pitchFamily="34" charset="-122"/>
                <a:cs typeface="Noto Sans" pitchFamily="34" charset="0"/>
              </a:rPr>
              <a:t>Реестр объектов, договоры, акты передачи.</a:t>
            </a:r>
            <a:endParaRPr lang="en-US" sz="1500" dirty="0"/>
          </a:p>
        </p:txBody>
      </p:sp>
      <p:sp>
        <p:nvSpPr>
          <p:cNvPr id="22" name="Text 20"/>
          <p:cNvSpPr/>
          <p:nvPr/>
        </p:nvSpPr>
        <p:spPr>
          <a:xfrm>
            <a:off x="6324442" y="3801585"/>
            <a:ext cx="5410065"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Будущая разработка</a:t>
            </a:r>
            <a:endParaRPr lang="en-US" sz="2200" dirty="0"/>
          </a:p>
        </p:txBody>
      </p:sp>
      <p:sp>
        <p:nvSpPr>
          <p:cNvPr id="23" name="Text 21"/>
          <p:cNvSpPr/>
          <p:nvPr/>
        </p:nvSpPr>
        <p:spPr>
          <a:xfrm>
            <a:off x="6324442" y="4261644"/>
            <a:ext cx="5410065"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4284B"/>
                </a:solidFill>
                <a:latin typeface="Noto Sans" pitchFamily="34" charset="0"/>
                <a:ea typeface="Noto Sans" pitchFamily="34" charset="-122"/>
                <a:cs typeface="Noto Sans" pitchFamily="34" charset="0"/>
              </a:rPr>
              <a:t>Трудовые договоры и задания либо договоры с исполнителями с точными условиями о правах.</a:t>
            </a:r>
            <a:endParaRPr lang="en-US" sz="1500" dirty="0"/>
          </a:p>
        </p:txBody>
      </p:sp>
      <p:sp>
        <p:nvSpPr>
          <p:cNvPr id="24" name="Text 22"/>
          <p:cNvSpPr/>
          <p:nvPr/>
        </p:nvSpPr>
        <p:spPr>
          <a:xfrm>
            <a:off x="457189" y="4991894"/>
            <a:ext cx="11734506" cy="276225"/>
          </a:xfrm>
          <a:prstGeom prst="rect">
            <a:avLst/>
          </a:prstGeom>
          <a:noFill/>
          <a:ln/>
        </p:spPr>
        <p:txBody>
          <a:bodyPr wrap="none" lIns="0" tIns="0" rIns="0" bIns="0" rtlCol="0" anchor="t"/>
          <a:lstStyle/>
          <a:p>
            <a:pPr marL="0" indent="0" algn="l">
              <a:lnSpc>
                <a:spcPct val="121000"/>
              </a:lnSpc>
              <a:buNone/>
            </a:pPr>
            <a:r>
              <a:rPr lang="en-US" sz="1500" b="1" dirty="0">
                <a:solidFill>
                  <a:srgbClr val="14284B"/>
                </a:solidFill>
                <a:latin typeface="Noto Sans Bold" pitchFamily="34" charset="0"/>
                <a:ea typeface="Noto Sans Bold" pitchFamily="34" charset="-122"/>
                <a:cs typeface="Noto Sans Bold" pitchFamily="34" charset="0"/>
              </a:rPr>
              <a:t>История Git и владение репозиторием не заменяют договор.</a:t>
            </a:r>
            <a:endParaRPr lang="en-US" sz="1500" dirty="0"/>
          </a:p>
        </p:txBody>
      </p:sp>
      <p:sp>
        <p:nvSpPr>
          <p:cNvPr id="25" name="Text 23"/>
          <p:cNvSpPr/>
          <p:nvPr/>
        </p:nvSpPr>
        <p:spPr>
          <a:xfrm>
            <a:off x="457189" y="5454968"/>
            <a:ext cx="11277318"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525E6B"/>
                </a:solidFill>
                <a:latin typeface="Noto Sans" pitchFamily="34" charset="0"/>
                <a:ea typeface="Noto Sans" pitchFamily="34" charset="-122"/>
                <a:cs typeface="Noto Sans" pitchFamily="34" charset="0"/>
              </a:rPr>
              <a:t>Отдельно проверяется вклад внешних авторов, включая Рената Зарипова, если он создавал материалы. Он не входит в число учредителей. Основа: статья 1234 ГК РФ.</a:t>
            </a:r>
            <a:endParaRPr lang="en-US" sz="1400" dirty="0"/>
          </a:p>
        </p:txBody>
      </p:sp>
      <p:pic>
        <p:nvPicPr>
          <p:cNvPr id="27" name="Рисунок 26">
            <a:extLst>
              <a:ext uri="{FF2B5EF4-FFF2-40B4-BE49-F238E27FC236}">
                <a16:creationId xmlns:a16="http://schemas.microsoft.com/office/drawing/2014/main" id="{C8578756-F4A0-1D80-0B7D-0EEFBF1523E4}"/>
              </a:ext>
            </a:extLst>
          </p:cNvPr>
          <p:cNvPicPr>
            <a:picLocks noChangeAspect="1"/>
          </p:cNvPicPr>
          <p:nvPr/>
        </p:nvPicPr>
        <p:blipFill>
          <a:blip r:embed="rId3"/>
          <a:stretch>
            <a:fillRect/>
          </a:stretch>
        </p:blipFill>
        <p:spPr>
          <a:xfrm>
            <a:off x="9485796" y="6494260"/>
            <a:ext cx="2629267" cy="3334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Бренд и практическая защита ИС</a:t>
            </a:r>
            <a:endParaRPr lang="en-US" sz="3800" dirty="0"/>
          </a:p>
        </p:txBody>
      </p:sp>
      <p:sp>
        <p:nvSpPr>
          <p:cNvPr id="3" name="Shape 1"/>
          <p:cNvSpPr/>
          <p:nvPr/>
        </p:nvSpPr>
        <p:spPr>
          <a:xfrm>
            <a:off x="457189" y="1160760"/>
            <a:ext cx="5486263" cy="4822230"/>
          </a:xfrm>
          <a:prstGeom prst="rect">
            <a:avLst/>
          </a:prstGeom>
          <a:solidFill>
            <a:srgbClr val="FFFFFF"/>
          </a:solidFill>
          <a:ln/>
        </p:spPr>
      </p:sp>
      <p:sp>
        <p:nvSpPr>
          <p:cNvPr id="4" name="Shape 2"/>
          <p:cNvSpPr/>
          <p:nvPr/>
        </p:nvSpPr>
        <p:spPr>
          <a:xfrm>
            <a:off x="457189" y="1160760"/>
            <a:ext cx="5486263" cy="38100"/>
          </a:xfrm>
          <a:prstGeom prst="rect">
            <a:avLst/>
          </a:prstGeom>
          <a:solidFill>
            <a:srgbClr val="14284B"/>
          </a:solidFill>
          <a:ln/>
        </p:spPr>
      </p:sp>
      <p:sp>
        <p:nvSpPr>
          <p:cNvPr id="5" name="Text 3"/>
          <p:cNvSpPr/>
          <p:nvPr/>
        </p:nvSpPr>
        <p:spPr>
          <a:xfrm>
            <a:off x="685783" y="1433928"/>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Название и регистрация</a:t>
            </a:r>
            <a:endParaRPr lang="en-US" sz="2200" dirty="0"/>
          </a:p>
        </p:txBody>
      </p:sp>
      <p:sp>
        <p:nvSpPr>
          <p:cNvPr id="6" name="Text 4"/>
          <p:cNvSpPr/>
          <p:nvPr/>
        </p:nvSpPr>
        <p:spPr>
          <a:xfrm>
            <a:off x="685783" y="1891605"/>
            <a:ext cx="5029074" cy="1979811"/>
          </a:xfrm>
          <a:prstGeom prst="rect">
            <a:avLst/>
          </a:prstGeom>
          <a:noFill/>
          <a:ln/>
        </p:spPr>
        <p:txBody>
          <a:bodyPr wrap="square" lIns="0" tIns="0" rIns="0" bIns="0" rtlCol="0" anchor="t">
            <a:normAutofit/>
          </a:bodyPr>
          <a:lstStyle/>
          <a:p>
            <a:pPr marL="345440" indent="-345440" algn="l">
              <a:lnSpc>
                <a:spcPct val="121000"/>
              </a:lnSpc>
              <a:buSzPct val="100000"/>
              <a:buChar char="•"/>
            </a:pPr>
            <a:r>
              <a:rPr lang="en-US" sz="1700" dirty="0">
                <a:solidFill>
                  <a:srgbClr val="14284B"/>
                </a:solidFill>
                <a:latin typeface="Noto Sans" pitchFamily="34" charset="0"/>
                <a:ea typeface="Noto Sans" pitchFamily="34" charset="-122"/>
                <a:cs typeface="Noto Sans" pitchFamily="34" charset="0"/>
              </a:rPr>
              <a:t>Выбрать единое публичное название и проверить сходные обозначения.</a:t>
            </a:r>
            <a:endParaRPr lang="en-US" sz="1700" dirty="0"/>
          </a:p>
          <a:p>
            <a:pPr marL="345440" indent="-345440" algn="l">
              <a:lnSpc>
                <a:spcPct val="121000"/>
              </a:lnSpc>
              <a:buSzPct val="100000"/>
              <a:buChar char="•"/>
            </a:pPr>
            <a:r>
              <a:rPr lang="en-US" sz="1700" dirty="0">
                <a:solidFill>
                  <a:srgbClr val="14284B"/>
                </a:solidFill>
                <a:latin typeface="Noto Sans" pitchFamily="34" charset="0"/>
                <a:ea typeface="Noto Sans" pitchFamily="34" charset="-122"/>
                <a:cs typeface="Noto Sans" pitchFamily="34" charset="0"/>
              </a:rPr>
              <a:t>Оценить охраноспособность Zal / RentZal: регистрация заранее не гарантирована.</a:t>
            </a:r>
            <a:endParaRPr lang="en-US" sz="1700" dirty="0"/>
          </a:p>
          <a:p>
            <a:pPr marL="345440" indent="-345440" algn="l">
              <a:lnSpc>
                <a:spcPct val="121000"/>
              </a:lnSpc>
              <a:buSzPct val="100000"/>
              <a:buChar char="•"/>
            </a:pPr>
            <a:r>
              <a:rPr lang="en-US" sz="1700" dirty="0">
                <a:solidFill>
                  <a:srgbClr val="14284B"/>
                </a:solidFill>
                <a:latin typeface="Noto Sans" pitchFamily="34" charset="0"/>
                <a:ea typeface="Noto Sans" pitchFamily="34" charset="-122"/>
                <a:cs typeface="Noto Sans" pitchFamily="34" charset="0"/>
              </a:rPr>
              <a:t>После проверки подать заявку на товарный знак на ООО.</a:t>
            </a:r>
            <a:endParaRPr lang="en-US" sz="1700" dirty="0"/>
          </a:p>
        </p:txBody>
      </p:sp>
      <p:sp>
        <p:nvSpPr>
          <p:cNvPr id="7" name="Shape 5"/>
          <p:cNvSpPr/>
          <p:nvPr/>
        </p:nvSpPr>
        <p:spPr>
          <a:xfrm>
            <a:off x="6248244" y="1160760"/>
            <a:ext cx="5486263" cy="4822230"/>
          </a:xfrm>
          <a:prstGeom prst="rect">
            <a:avLst/>
          </a:prstGeom>
          <a:solidFill>
            <a:srgbClr val="FFFFFF"/>
          </a:solidFill>
          <a:ln/>
        </p:spPr>
      </p:sp>
      <p:sp>
        <p:nvSpPr>
          <p:cNvPr id="8" name="Shape 6"/>
          <p:cNvSpPr/>
          <p:nvPr/>
        </p:nvSpPr>
        <p:spPr>
          <a:xfrm>
            <a:off x="6248244" y="1160760"/>
            <a:ext cx="5486263" cy="38100"/>
          </a:xfrm>
          <a:prstGeom prst="rect">
            <a:avLst/>
          </a:prstGeom>
          <a:solidFill>
            <a:srgbClr val="14284B"/>
          </a:solidFill>
          <a:ln/>
        </p:spPr>
      </p:sp>
      <p:sp>
        <p:nvSpPr>
          <p:cNvPr id="9" name="Text 7"/>
          <p:cNvSpPr/>
          <p:nvPr/>
        </p:nvSpPr>
        <p:spPr>
          <a:xfrm>
            <a:off x="6476838" y="1433928"/>
            <a:ext cx="5029074" cy="321270"/>
          </a:xfrm>
          <a:prstGeom prst="rect">
            <a:avLst/>
          </a:prstGeom>
          <a:noFill/>
          <a:ln/>
        </p:spPr>
        <p:txBody>
          <a:bodyPr wrap="none" lIns="0" tIns="0" rIns="0" bIns="0" rtlCol="0" anchor="t"/>
          <a:lstStyle/>
          <a:p>
            <a:pPr marL="0" indent="0" algn="l">
              <a:lnSpc>
                <a:spcPct val="96000"/>
              </a:lnSpc>
              <a:buNone/>
            </a:pPr>
            <a:r>
              <a:rPr lang="en-US" sz="2200" b="1" dirty="0">
                <a:solidFill>
                  <a:srgbClr val="14284B"/>
                </a:solidFill>
                <a:latin typeface="Bitter Bold" pitchFamily="34" charset="0"/>
                <a:ea typeface="Bitter Bold" pitchFamily="34" charset="-122"/>
                <a:cs typeface="Bitter Bold" pitchFamily="34" charset="0"/>
              </a:rPr>
              <a:t>Материалы и доступы</a:t>
            </a:r>
            <a:endParaRPr lang="en-US" sz="2200" dirty="0"/>
          </a:p>
        </p:txBody>
      </p:sp>
      <p:sp>
        <p:nvSpPr>
          <p:cNvPr id="10" name="Text 8"/>
          <p:cNvSpPr/>
          <p:nvPr/>
        </p:nvSpPr>
        <p:spPr>
          <a:xfrm>
            <a:off x="6476838" y="1891605"/>
            <a:ext cx="5029074" cy="2292846"/>
          </a:xfrm>
          <a:prstGeom prst="rect">
            <a:avLst/>
          </a:prstGeom>
          <a:noFill/>
          <a:ln/>
        </p:spPr>
        <p:txBody>
          <a:bodyPr wrap="square" lIns="0" tIns="0" rIns="0" bIns="0" rtlCol="0" anchor="t">
            <a:normAutofit/>
          </a:bodyPr>
          <a:lstStyle/>
          <a:p>
            <a:pPr marL="345440" indent="-345440" algn="l">
              <a:lnSpc>
                <a:spcPct val="121000"/>
              </a:lnSpc>
              <a:buSzPct val="100000"/>
              <a:buChar char="•"/>
            </a:pPr>
            <a:r>
              <a:rPr lang="en-US" sz="1700" dirty="0">
                <a:solidFill>
                  <a:srgbClr val="14284B"/>
                </a:solidFill>
                <a:latin typeface="Noto Sans" pitchFamily="34" charset="0"/>
                <a:ea typeface="Noto Sans" pitchFamily="34" charset="-122"/>
                <a:cs typeface="Noto Sans" pitchFamily="34" charset="0"/>
              </a:rPr>
              <a:t>Проверить лицензии сторонних библиотек и материалов.</a:t>
            </a:r>
            <a:endParaRPr lang="en-US" sz="1700" dirty="0"/>
          </a:p>
          <a:p>
            <a:pPr marL="345440" indent="-345440" algn="l">
              <a:lnSpc>
                <a:spcPct val="121000"/>
              </a:lnSpc>
              <a:buSzPct val="100000"/>
              <a:buChar char="•"/>
            </a:pPr>
            <a:r>
              <a:rPr lang="en-US" sz="1700" dirty="0">
                <a:solidFill>
                  <a:srgbClr val="14284B"/>
                </a:solidFill>
                <a:latin typeface="Noto Sans" pitchFamily="34" charset="0"/>
                <a:ea typeface="Noto Sans" pitchFamily="34" charset="-122"/>
                <a:cs typeface="Noto Sans" pitchFamily="34" charset="0"/>
              </a:rPr>
              <a:t>Обеспечить корпоративное администрирование домена, репозиториев и хостинга.</a:t>
            </a:r>
            <a:endParaRPr lang="en-US" sz="1700" dirty="0"/>
          </a:p>
          <a:p>
            <a:pPr marL="345440" indent="-345440" algn="l">
              <a:lnSpc>
                <a:spcPct val="121000"/>
              </a:lnSpc>
              <a:buSzPct val="100000"/>
              <a:buChar char="•"/>
            </a:pPr>
            <a:r>
              <a:rPr lang="en-US" sz="1700" dirty="0">
                <a:solidFill>
                  <a:srgbClr val="14284B"/>
                </a:solidFill>
                <a:latin typeface="Noto Sans" pitchFamily="34" charset="0"/>
                <a:ea typeface="Noto Sans" pitchFamily="34" charset="-122"/>
                <a:cs typeface="Noto Sans" pitchFamily="34" charset="0"/>
              </a:rPr>
              <a:t>NDA дополнить правилами доступа и защиты закрытых сведений.</a:t>
            </a:r>
            <a:endParaRPr lang="en-US" sz="1700" dirty="0"/>
          </a:p>
        </p:txBody>
      </p:sp>
      <p:sp>
        <p:nvSpPr>
          <p:cNvPr id="11" name="Text 9"/>
          <p:cNvSpPr/>
          <p:nvPr/>
        </p:nvSpPr>
        <p:spPr>
          <a:xfrm>
            <a:off x="457189" y="6172220"/>
            <a:ext cx="11734506" cy="240010"/>
          </a:xfrm>
          <a:prstGeom prst="rect">
            <a:avLst/>
          </a:prstGeom>
          <a:noFill/>
          <a:ln/>
        </p:spPr>
        <p:txBody>
          <a:bodyPr wrap="none" lIns="0" tIns="0" rIns="0" bIns="0" rtlCol="0" anchor="t"/>
          <a:lstStyle/>
          <a:p>
            <a:pPr marL="0" indent="0" algn="l">
              <a:lnSpc>
                <a:spcPct val="112000"/>
              </a:lnSpc>
              <a:buNone/>
            </a:pPr>
            <a:r>
              <a:rPr lang="en-US" sz="1400" dirty="0">
                <a:solidFill>
                  <a:srgbClr val="525E6B"/>
                </a:solidFill>
                <a:latin typeface="Noto Sans" pitchFamily="34" charset="0"/>
                <a:ea typeface="Noto Sans" pitchFamily="34" charset="-122"/>
                <a:cs typeface="Noto Sans" pitchFamily="34" charset="0"/>
              </a:rPr>
              <a:t>Регистрация программы в Роспатенте добровольна и не заменяет оформление прав.</a:t>
            </a:r>
            <a:endParaRPr lang="en-US" sz="1400" dirty="0"/>
          </a:p>
        </p:txBody>
      </p:sp>
      <p:pic>
        <p:nvPicPr>
          <p:cNvPr id="13" name="Рисунок 12">
            <a:extLst>
              <a:ext uri="{FF2B5EF4-FFF2-40B4-BE49-F238E27FC236}">
                <a16:creationId xmlns:a16="http://schemas.microsoft.com/office/drawing/2014/main" id="{E84BB950-39FF-1F8B-5B76-C2E1FD149552}"/>
              </a:ext>
            </a:extLst>
          </p:cNvPr>
          <p:cNvPicPr>
            <a:picLocks noChangeAspect="1"/>
          </p:cNvPicPr>
          <p:nvPr/>
        </p:nvPicPr>
        <p:blipFill>
          <a:blip r:embed="rId3"/>
          <a:stretch>
            <a:fillRect/>
          </a:stretch>
        </p:blipFill>
        <p:spPr>
          <a:xfrm>
            <a:off x="9562733" y="6523001"/>
            <a:ext cx="2629267" cy="3334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189" y="491236"/>
            <a:ext cx="11277318" cy="506710"/>
          </a:xfrm>
          <a:prstGeom prst="rect">
            <a:avLst/>
          </a:prstGeom>
          <a:noFill/>
          <a:ln/>
        </p:spPr>
        <p:txBody>
          <a:bodyPr wrap="none" lIns="0" tIns="0" rIns="0" bIns="0" rtlCol="0" anchor="t"/>
          <a:lstStyle/>
          <a:p>
            <a:pPr marL="0" indent="0" algn="l">
              <a:lnSpc>
                <a:spcPct val="87000"/>
              </a:lnSpc>
              <a:buNone/>
            </a:pPr>
            <a:r>
              <a:rPr lang="en-US" sz="3800" kern="100" spc="-38" dirty="0">
                <a:solidFill>
                  <a:srgbClr val="14284B"/>
                </a:solidFill>
                <a:latin typeface="Bitter ExtraBold" pitchFamily="34" charset="0"/>
                <a:ea typeface="Bitter ExtraBold" pitchFamily="34" charset="-122"/>
                <a:cs typeface="Bitter ExtraBold" pitchFamily="34" charset="0"/>
              </a:rPr>
              <a:t>Структура соглашения сооснователей</a:t>
            </a:r>
            <a:endParaRPr lang="en-US" sz="3800" dirty="0"/>
          </a:p>
        </p:txBody>
      </p:sp>
      <p:sp>
        <p:nvSpPr>
          <p:cNvPr id="3" name="Shape 1"/>
          <p:cNvSpPr/>
          <p:nvPr/>
        </p:nvSpPr>
        <p:spPr>
          <a:xfrm>
            <a:off x="457189" y="1160760"/>
            <a:ext cx="5562461" cy="591145"/>
          </a:xfrm>
          <a:prstGeom prst="rect">
            <a:avLst/>
          </a:prstGeom>
          <a:solidFill>
            <a:srgbClr val="FFFFFF"/>
          </a:solidFill>
          <a:ln/>
        </p:spPr>
      </p:sp>
      <p:sp>
        <p:nvSpPr>
          <p:cNvPr id="4" name="Shape 2"/>
          <p:cNvSpPr/>
          <p:nvPr/>
        </p:nvSpPr>
        <p:spPr>
          <a:xfrm>
            <a:off x="457189" y="1160760"/>
            <a:ext cx="5562461" cy="38100"/>
          </a:xfrm>
          <a:prstGeom prst="rect">
            <a:avLst/>
          </a:prstGeom>
          <a:solidFill>
            <a:srgbClr val="14284B"/>
          </a:solidFill>
          <a:ln/>
        </p:spPr>
      </p:sp>
      <p:sp>
        <p:nvSpPr>
          <p:cNvPr id="5" name="Text 3"/>
          <p:cNvSpPr/>
          <p:nvPr/>
        </p:nvSpPr>
        <p:spPr>
          <a:xfrm>
            <a:off x="660383" y="1324868"/>
            <a:ext cx="733704"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1</a:t>
            </a:r>
            <a:endParaRPr lang="en-US" sz="2200" dirty="0"/>
          </a:p>
        </p:txBody>
      </p:sp>
      <p:sp>
        <p:nvSpPr>
          <p:cNvPr id="6" name="Text 4"/>
          <p:cNvSpPr/>
          <p:nvPr/>
        </p:nvSpPr>
        <p:spPr>
          <a:xfrm>
            <a:off x="936899" y="1366582"/>
            <a:ext cx="4879555"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Цель проекта и создание ООО</a:t>
            </a:r>
            <a:endParaRPr lang="en-US" sz="1700" dirty="0"/>
          </a:p>
        </p:txBody>
      </p:sp>
      <p:sp>
        <p:nvSpPr>
          <p:cNvPr id="7" name="Shape 5"/>
          <p:cNvSpPr/>
          <p:nvPr/>
        </p:nvSpPr>
        <p:spPr>
          <a:xfrm>
            <a:off x="6172046" y="1160760"/>
            <a:ext cx="5562461" cy="591145"/>
          </a:xfrm>
          <a:prstGeom prst="rect">
            <a:avLst/>
          </a:prstGeom>
          <a:solidFill>
            <a:srgbClr val="FFFFFF"/>
          </a:solidFill>
          <a:ln/>
        </p:spPr>
      </p:sp>
      <p:sp>
        <p:nvSpPr>
          <p:cNvPr id="8" name="Shape 6"/>
          <p:cNvSpPr/>
          <p:nvPr/>
        </p:nvSpPr>
        <p:spPr>
          <a:xfrm>
            <a:off x="6172046" y="1160760"/>
            <a:ext cx="5562461" cy="38100"/>
          </a:xfrm>
          <a:prstGeom prst="rect">
            <a:avLst/>
          </a:prstGeom>
          <a:solidFill>
            <a:srgbClr val="14284B"/>
          </a:solidFill>
          <a:ln/>
        </p:spPr>
      </p:sp>
      <p:sp>
        <p:nvSpPr>
          <p:cNvPr id="9" name="Text 7"/>
          <p:cNvSpPr/>
          <p:nvPr/>
        </p:nvSpPr>
        <p:spPr>
          <a:xfrm>
            <a:off x="6375241" y="1324868"/>
            <a:ext cx="769422"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2</a:t>
            </a:r>
            <a:endParaRPr lang="en-US" sz="2200" dirty="0"/>
          </a:p>
        </p:txBody>
      </p:sp>
      <p:sp>
        <p:nvSpPr>
          <p:cNvPr id="10" name="Text 8"/>
          <p:cNvSpPr/>
          <p:nvPr/>
        </p:nvSpPr>
        <p:spPr>
          <a:xfrm>
            <a:off x="6687474" y="1366582"/>
            <a:ext cx="4843837"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Доли и финансирование</a:t>
            </a:r>
            <a:endParaRPr lang="en-US" sz="1700" dirty="0"/>
          </a:p>
        </p:txBody>
      </p:sp>
      <p:sp>
        <p:nvSpPr>
          <p:cNvPr id="11" name="Shape 9"/>
          <p:cNvSpPr/>
          <p:nvPr/>
        </p:nvSpPr>
        <p:spPr>
          <a:xfrm>
            <a:off x="457189" y="1904305"/>
            <a:ext cx="5562461" cy="591145"/>
          </a:xfrm>
          <a:prstGeom prst="rect">
            <a:avLst/>
          </a:prstGeom>
          <a:solidFill>
            <a:srgbClr val="FFFFFF"/>
          </a:solidFill>
          <a:ln/>
        </p:spPr>
      </p:sp>
      <p:sp>
        <p:nvSpPr>
          <p:cNvPr id="12" name="Shape 10"/>
          <p:cNvSpPr/>
          <p:nvPr/>
        </p:nvSpPr>
        <p:spPr>
          <a:xfrm>
            <a:off x="457189" y="1904305"/>
            <a:ext cx="5562461" cy="38100"/>
          </a:xfrm>
          <a:prstGeom prst="rect">
            <a:avLst/>
          </a:prstGeom>
          <a:solidFill>
            <a:srgbClr val="14284B"/>
          </a:solidFill>
          <a:ln/>
        </p:spPr>
      </p:sp>
      <p:sp>
        <p:nvSpPr>
          <p:cNvPr id="13" name="Text 11"/>
          <p:cNvSpPr/>
          <p:nvPr/>
        </p:nvSpPr>
        <p:spPr>
          <a:xfrm>
            <a:off x="660383" y="2068413"/>
            <a:ext cx="771406"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3</a:t>
            </a:r>
            <a:endParaRPr lang="en-US" sz="2200" dirty="0"/>
          </a:p>
        </p:txBody>
      </p:sp>
      <p:sp>
        <p:nvSpPr>
          <p:cNvPr id="14" name="Text 12"/>
          <p:cNvSpPr/>
          <p:nvPr/>
        </p:nvSpPr>
        <p:spPr>
          <a:xfrm>
            <a:off x="974601" y="2110127"/>
            <a:ext cx="4841853"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Вклад, задачи и роли</a:t>
            </a:r>
            <a:endParaRPr lang="en-US" sz="1700" dirty="0"/>
          </a:p>
        </p:txBody>
      </p:sp>
      <p:sp>
        <p:nvSpPr>
          <p:cNvPr id="15" name="Shape 13"/>
          <p:cNvSpPr/>
          <p:nvPr/>
        </p:nvSpPr>
        <p:spPr>
          <a:xfrm>
            <a:off x="6172046" y="1904305"/>
            <a:ext cx="5562461" cy="591145"/>
          </a:xfrm>
          <a:prstGeom prst="rect">
            <a:avLst/>
          </a:prstGeom>
          <a:solidFill>
            <a:srgbClr val="FFFFFF"/>
          </a:solidFill>
          <a:ln/>
        </p:spPr>
      </p:sp>
      <p:sp>
        <p:nvSpPr>
          <p:cNvPr id="16" name="Shape 14"/>
          <p:cNvSpPr/>
          <p:nvPr/>
        </p:nvSpPr>
        <p:spPr>
          <a:xfrm>
            <a:off x="6172046" y="1904305"/>
            <a:ext cx="5562461" cy="38100"/>
          </a:xfrm>
          <a:prstGeom prst="rect">
            <a:avLst/>
          </a:prstGeom>
          <a:solidFill>
            <a:srgbClr val="14284B"/>
          </a:solidFill>
          <a:ln/>
        </p:spPr>
      </p:sp>
      <p:sp>
        <p:nvSpPr>
          <p:cNvPr id="17" name="Text 15"/>
          <p:cNvSpPr/>
          <p:nvPr/>
        </p:nvSpPr>
        <p:spPr>
          <a:xfrm>
            <a:off x="6375241" y="2068413"/>
            <a:ext cx="783114"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4</a:t>
            </a:r>
            <a:endParaRPr lang="en-US" sz="2200" dirty="0"/>
          </a:p>
        </p:txBody>
      </p:sp>
      <p:sp>
        <p:nvSpPr>
          <p:cNvPr id="18" name="Text 16"/>
          <p:cNvSpPr/>
          <p:nvPr/>
        </p:nvSpPr>
        <p:spPr>
          <a:xfrm>
            <a:off x="6701166" y="2110127"/>
            <a:ext cx="4830146"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Управление и согласование решений</a:t>
            </a:r>
            <a:endParaRPr lang="en-US" sz="1700" dirty="0"/>
          </a:p>
        </p:txBody>
      </p:sp>
      <p:sp>
        <p:nvSpPr>
          <p:cNvPr id="19" name="Shape 17"/>
          <p:cNvSpPr/>
          <p:nvPr/>
        </p:nvSpPr>
        <p:spPr>
          <a:xfrm>
            <a:off x="457189" y="2647851"/>
            <a:ext cx="5562461" cy="591145"/>
          </a:xfrm>
          <a:prstGeom prst="rect">
            <a:avLst/>
          </a:prstGeom>
          <a:solidFill>
            <a:srgbClr val="FFFFFF"/>
          </a:solidFill>
          <a:ln/>
        </p:spPr>
      </p:sp>
      <p:sp>
        <p:nvSpPr>
          <p:cNvPr id="20" name="Shape 18"/>
          <p:cNvSpPr/>
          <p:nvPr/>
        </p:nvSpPr>
        <p:spPr>
          <a:xfrm>
            <a:off x="457189" y="2647851"/>
            <a:ext cx="5562461" cy="38100"/>
          </a:xfrm>
          <a:prstGeom prst="rect">
            <a:avLst/>
          </a:prstGeom>
          <a:solidFill>
            <a:srgbClr val="14284B"/>
          </a:solidFill>
          <a:ln/>
        </p:spPr>
      </p:sp>
      <p:sp>
        <p:nvSpPr>
          <p:cNvPr id="21" name="Text 19"/>
          <p:cNvSpPr/>
          <p:nvPr/>
        </p:nvSpPr>
        <p:spPr>
          <a:xfrm>
            <a:off x="660383" y="2811959"/>
            <a:ext cx="764164"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5</a:t>
            </a:r>
            <a:endParaRPr lang="en-US" sz="2200" dirty="0"/>
          </a:p>
        </p:txBody>
      </p:sp>
      <p:sp>
        <p:nvSpPr>
          <p:cNvPr id="22" name="Text 20"/>
          <p:cNvSpPr/>
          <p:nvPr/>
        </p:nvSpPr>
        <p:spPr>
          <a:xfrm>
            <a:off x="967359" y="2853673"/>
            <a:ext cx="4849096"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Интеллектуальные права</a:t>
            </a:r>
            <a:endParaRPr lang="en-US" sz="1700" dirty="0"/>
          </a:p>
        </p:txBody>
      </p:sp>
      <p:sp>
        <p:nvSpPr>
          <p:cNvPr id="23" name="Shape 21"/>
          <p:cNvSpPr/>
          <p:nvPr/>
        </p:nvSpPr>
        <p:spPr>
          <a:xfrm>
            <a:off x="6172046" y="2647851"/>
            <a:ext cx="5562461" cy="591145"/>
          </a:xfrm>
          <a:prstGeom prst="rect">
            <a:avLst/>
          </a:prstGeom>
          <a:solidFill>
            <a:srgbClr val="FFFFFF"/>
          </a:solidFill>
          <a:ln/>
        </p:spPr>
      </p:sp>
      <p:sp>
        <p:nvSpPr>
          <p:cNvPr id="24" name="Shape 22"/>
          <p:cNvSpPr/>
          <p:nvPr/>
        </p:nvSpPr>
        <p:spPr>
          <a:xfrm>
            <a:off x="6172046" y="2647851"/>
            <a:ext cx="5562461" cy="38100"/>
          </a:xfrm>
          <a:prstGeom prst="rect">
            <a:avLst/>
          </a:prstGeom>
          <a:solidFill>
            <a:srgbClr val="14284B"/>
          </a:solidFill>
          <a:ln/>
        </p:spPr>
      </p:sp>
      <p:sp>
        <p:nvSpPr>
          <p:cNvPr id="25" name="Text 23"/>
          <p:cNvSpPr/>
          <p:nvPr/>
        </p:nvSpPr>
        <p:spPr>
          <a:xfrm>
            <a:off x="6375241" y="2811959"/>
            <a:ext cx="775574"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6</a:t>
            </a:r>
            <a:endParaRPr lang="en-US" sz="2200" dirty="0"/>
          </a:p>
        </p:txBody>
      </p:sp>
      <p:sp>
        <p:nvSpPr>
          <p:cNvPr id="26" name="Text 24"/>
          <p:cNvSpPr/>
          <p:nvPr/>
        </p:nvSpPr>
        <p:spPr>
          <a:xfrm>
            <a:off x="6693626" y="2853673"/>
            <a:ext cx="4837686"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Конфиденциальность и доступы</a:t>
            </a:r>
            <a:endParaRPr lang="en-US" sz="1700" dirty="0"/>
          </a:p>
        </p:txBody>
      </p:sp>
      <p:sp>
        <p:nvSpPr>
          <p:cNvPr id="27" name="Shape 25"/>
          <p:cNvSpPr/>
          <p:nvPr/>
        </p:nvSpPr>
        <p:spPr>
          <a:xfrm>
            <a:off x="457189" y="3391396"/>
            <a:ext cx="5562461" cy="591145"/>
          </a:xfrm>
          <a:prstGeom prst="rect">
            <a:avLst/>
          </a:prstGeom>
          <a:solidFill>
            <a:srgbClr val="FFFFFF"/>
          </a:solidFill>
          <a:ln/>
        </p:spPr>
      </p:sp>
      <p:sp>
        <p:nvSpPr>
          <p:cNvPr id="28" name="Shape 26"/>
          <p:cNvSpPr/>
          <p:nvPr/>
        </p:nvSpPr>
        <p:spPr>
          <a:xfrm>
            <a:off x="457189" y="3391396"/>
            <a:ext cx="5562461" cy="38100"/>
          </a:xfrm>
          <a:prstGeom prst="rect">
            <a:avLst/>
          </a:prstGeom>
          <a:solidFill>
            <a:srgbClr val="14284B"/>
          </a:solidFill>
          <a:ln/>
        </p:spPr>
      </p:sp>
      <p:sp>
        <p:nvSpPr>
          <p:cNvPr id="29" name="Text 27"/>
          <p:cNvSpPr/>
          <p:nvPr/>
        </p:nvSpPr>
        <p:spPr>
          <a:xfrm>
            <a:off x="660383" y="3555504"/>
            <a:ext cx="764660"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7</a:t>
            </a:r>
            <a:endParaRPr lang="en-US" sz="2200" dirty="0"/>
          </a:p>
        </p:txBody>
      </p:sp>
      <p:sp>
        <p:nvSpPr>
          <p:cNvPr id="30" name="Text 28"/>
          <p:cNvSpPr/>
          <p:nvPr/>
        </p:nvSpPr>
        <p:spPr>
          <a:xfrm>
            <a:off x="967855" y="3597218"/>
            <a:ext cx="4848600"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Передача доли и прекращение работы</a:t>
            </a:r>
            <a:endParaRPr lang="en-US" sz="1700" dirty="0"/>
          </a:p>
        </p:txBody>
      </p:sp>
      <p:sp>
        <p:nvSpPr>
          <p:cNvPr id="31" name="Shape 29"/>
          <p:cNvSpPr/>
          <p:nvPr/>
        </p:nvSpPr>
        <p:spPr>
          <a:xfrm>
            <a:off x="6172046" y="3391396"/>
            <a:ext cx="5562461" cy="591145"/>
          </a:xfrm>
          <a:prstGeom prst="rect">
            <a:avLst/>
          </a:prstGeom>
          <a:solidFill>
            <a:srgbClr val="FFFFFF"/>
          </a:solidFill>
          <a:ln/>
        </p:spPr>
      </p:sp>
      <p:sp>
        <p:nvSpPr>
          <p:cNvPr id="32" name="Shape 30"/>
          <p:cNvSpPr/>
          <p:nvPr/>
        </p:nvSpPr>
        <p:spPr>
          <a:xfrm>
            <a:off x="6172046" y="3391396"/>
            <a:ext cx="5562461" cy="38100"/>
          </a:xfrm>
          <a:prstGeom prst="rect">
            <a:avLst/>
          </a:prstGeom>
          <a:solidFill>
            <a:srgbClr val="14284B"/>
          </a:solidFill>
          <a:ln/>
        </p:spPr>
      </p:sp>
      <p:sp>
        <p:nvSpPr>
          <p:cNvPr id="33" name="Text 31"/>
          <p:cNvSpPr/>
          <p:nvPr/>
        </p:nvSpPr>
        <p:spPr>
          <a:xfrm>
            <a:off x="6375241" y="3555504"/>
            <a:ext cx="777856" cy="279400"/>
          </a:xfrm>
          <a:prstGeom prst="rect">
            <a:avLst/>
          </a:prstGeom>
          <a:noFill/>
          <a:ln/>
        </p:spPr>
        <p:txBody>
          <a:bodyPr wrap="none" lIns="0" tIns="0" rIns="0" bIns="0" rtlCol="0" anchor="t"/>
          <a:lstStyle/>
          <a:p>
            <a:pPr marL="0" indent="0" algn="l">
              <a:lnSpc>
                <a:spcPct val="83000"/>
              </a:lnSpc>
              <a:buNone/>
            </a:pPr>
            <a:r>
              <a:rPr lang="en-US" sz="2200" dirty="0">
                <a:solidFill>
                  <a:srgbClr val="14284B"/>
                </a:solidFill>
                <a:latin typeface="Bitter ExtraBold" pitchFamily="34" charset="0"/>
                <a:ea typeface="Bitter ExtraBold" pitchFamily="34" charset="-122"/>
                <a:cs typeface="Bitter ExtraBold" pitchFamily="34" charset="0"/>
              </a:rPr>
              <a:t>8</a:t>
            </a:r>
            <a:endParaRPr lang="en-US" sz="2200" dirty="0"/>
          </a:p>
        </p:txBody>
      </p:sp>
      <p:sp>
        <p:nvSpPr>
          <p:cNvPr id="34" name="Text 32"/>
          <p:cNvSpPr/>
          <p:nvPr/>
        </p:nvSpPr>
        <p:spPr>
          <a:xfrm>
            <a:off x="6695907" y="3597218"/>
            <a:ext cx="4835404" cy="248245"/>
          </a:xfrm>
          <a:prstGeom prst="rect">
            <a:avLst/>
          </a:prstGeom>
          <a:noFill/>
          <a:ln/>
        </p:spPr>
        <p:txBody>
          <a:bodyPr wrap="none" lIns="0" tIns="0" rIns="0" bIns="0" rtlCol="0" anchor="t"/>
          <a:lstStyle/>
          <a:p>
            <a:pPr marL="0" indent="0" algn="l">
              <a:lnSpc>
                <a:spcPct val="96000"/>
              </a:lnSpc>
              <a:buNone/>
            </a:pPr>
            <a:r>
              <a:rPr lang="en-US" sz="1700" b="1" dirty="0">
                <a:solidFill>
                  <a:srgbClr val="14284B"/>
                </a:solidFill>
                <a:latin typeface="Noto Sans Bold" pitchFamily="34" charset="0"/>
                <a:ea typeface="Noto Sans Bold" pitchFamily="34" charset="-122"/>
                <a:cs typeface="Noto Sans Bold" pitchFamily="34" charset="0"/>
              </a:rPr>
              <a:t>Споры и ответственность</a:t>
            </a:r>
            <a:endParaRPr lang="en-US" sz="1700" dirty="0"/>
          </a:p>
        </p:txBody>
      </p:sp>
      <p:sp>
        <p:nvSpPr>
          <p:cNvPr id="35" name="Text 33"/>
          <p:cNvSpPr/>
          <p:nvPr/>
        </p:nvSpPr>
        <p:spPr>
          <a:xfrm>
            <a:off x="457189" y="4160341"/>
            <a:ext cx="11277318" cy="730250"/>
          </a:xfrm>
          <a:prstGeom prst="rect">
            <a:avLst/>
          </a:prstGeom>
          <a:noFill/>
          <a:ln/>
        </p:spPr>
        <p:txBody>
          <a:bodyPr wrap="square" lIns="0" tIns="0" rIns="0" bIns="0" rtlCol="0" anchor="t"/>
          <a:lstStyle/>
          <a:p>
            <a:pPr marL="0" indent="0" algn="l">
              <a:lnSpc>
                <a:spcPct val="121000"/>
              </a:lnSpc>
              <a:spcAft>
                <a:spcPts val="1350"/>
              </a:spcAft>
              <a:buNone/>
            </a:pPr>
            <a:r>
              <a:rPr lang="en-US" sz="1500" dirty="0">
                <a:solidFill>
                  <a:srgbClr val="14284B"/>
                </a:solidFill>
                <a:latin typeface="Noto Sans" pitchFamily="34" charset="0"/>
                <a:ea typeface="Noto Sans" pitchFamily="34" charset="-122"/>
                <a:cs typeface="Noto Sans" pitchFamily="34" charset="0"/>
              </a:rPr>
              <a:t>До регистрации соглашение регулирует отношения сооснователей; после оформляется корпоративный договор.</a:t>
            </a:r>
            <a:endParaRPr lang="en-US" sz="1500" dirty="0"/>
          </a:p>
          <a:p>
            <a:pPr marL="0" indent="0" algn="l">
              <a:lnSpc>
                <a:spcPct val="121000"/>
              </a:lnSpc>
              <a:buNone/>
            </a:pPr>
            <a:r>
              <a:rPr lang="en-US" sz="1500" b="1" dirty="0">
                <a:solidFill>
                  <a:srgbClr val="14284B"/>
                </a:solidFill>
                <a:latin typeface="Noto Sans Bold" pitchFamily="34" charset="0"/>
                <a:ea typeface="Noto Sans Bold" pitchFamily="34" charset="-122"/>
                <a:cs typeface="Noto Sans Bold" pitchFamily="34" charset="0"/>
              </a:rPr>
              <a:t>Соглашение не заменяет устав и договоры передачи исключительных прав.</a:t>
            </a:r>
            <a:endParaRPr lang="en-US" sz="1500" dirty="0"/>
          </a:p>
        </p:txBody>
      </p:sp>
      <p:sp>
        <p:nvSpPr>
          <p:cNvPr id="36" name="Text 34"/>
          <p:cNvSpPr/>
          <p:nvPr/>
        </p:nvSpPr>
        <p:spPr>
          <a:xfrm>
            <a:off x="457189" y="5079821"/>
            <a:ext cx="11734506" cy="240010"/>
          </a:xfrm>
          <a:prstGeom prst="rect">
            <a:avLst/>
          </a:prstGeom>
          <a:noFill/>
          <a:ln/>
        </p:spPr>
        <p:txBody>
          <a:bodyPr wrap="none" lIns="0" tIns="0" rIns="0" bIns="0" rtlCol="0" anchor="t"/>
          <a:lstStyle/>
          <a:p>
            <a:pPr marL="0" indent="0" algn="l">
              <a:lnSpc>
                <a:spcPct val="112000"/>
              </a:lnSpc>
              <a:buNone/>
            </a:pPr>
            <a:r>
              <a:rPr lang="en-US" sz="1400" dirty="0">
                <a:solidFill>
                  <a:srgbClr val="525E6B"/>
                </a:solidFill>
                <a:latin typeface="Noto Sans" pitchFamily="34" charset="0"/>
                <a:ea typeface="Noto Sans" pitchFamily="34" charset="-122"/>
                <a:cs typeface="Noto Sans" pitchFamily="34" charset="0"/>
              </a:rPr>
              <a:t>Источники: ГК РФ, ст. 67.2, 1234, 1259; 14-ФЗ, ст. 2, 37; 98-ФЗ; 152-ФЗ. Подробности в заметках.</a:t>
            </a:r>
            <a:endParaRPr lang="en-US" sz="1400" dirty="0"/>
          </a:p>
        </p:txBody>
      </p:sp>
      <p:pic>
        <p:nvPicPr>
          <p:cNvPr id="38" name="Рисунок 37">
            <a:extLst>
              <a:ext uri="{FF2B5EF4-FFF2-40B4-BE49-F238E27FC236}">
                <a16:creationId xmlns:a16="http://schemas.microsoft.com/office/drawing/2014/main" id="{2ABBE63F-27E3-99FB-70E5-783702957D05}"/>
              </a:ext>
            </a:extLst>
          </p:cNvPr>
          <p:cNvPicPr>
            <a:picLocks noChangeAspect="1"/>
          </p:cNvPicPr>
          <p:nvPr/>
        </p:nvPicPr>
        <p:blipFill>
          <a:blip r:embed="rId3"/>
          <a:stretch>
            <a:fillRect/>
          </a:stretch>
        </p:blipFill>
        <p:spPr>
          <a:xfrm>
            <a:off x="9562428" y="6473522"/>
            <a:ext cx="2629267" cy="3334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4284B"/>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1841</Words>
  <Application>Microsoft Office PowerPoint</Application>
  <PresentationFormat>Широкоэкранный</PresentationFormat>
  <Paragraphs>155</Paragraphs>
  <Slides>10</Slides>
  <Notes>10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10</vt:i4>
      </vt:variant>
    </vt:vector>
  </HeadingPairs>
  <TitlesOfParts>
    <vt:vector size="17" baseType="lpstr">
      <vt:lpstr>Bitter ExtraBold</vt:lpstr>
      <vt:lpstr>Noto Sans</vt:lpstr>
      <vt:lpstr>Noto Sans SemiBold</vt:lpstr>
      <vt:lpstr>Arial</vt:lpstr>
      <vt:lpstr>Noto Sans Bold</vt:lpstr>
      <vt:lpstr>Bitter 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Levka Flower</cp:lastModifiedBy>
  <cp:revision>1</cp:revision>
  <dcterms:created xsi:type="dcterms:W3CDTF">2026-10-26T10:43:03Z</dcterms:created>
  <dcterms:modified xsi:type="dcterms:W3CDTF">2026-10-26T10:44:55Z</dcterms:modified>
</cp:coreProperties>
</file>