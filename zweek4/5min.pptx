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Barlow" panose="020F0502020204030204" pitchFamily="2" charset="0"/>
      <p:regular r:id="rId13"/>
    </p:embeddedFont>
    <p:embeddedFont>
      <p:font typeface="Barlow Bold" panose="020B0604020202020204" charset="0"/>
      <p:regular r:id="rId14"/>
    </p:embeddedFont>
    <p:embeddedFont>
      <p:font typeface="Barlow Medium" panose="020F0502020204030204" pitchFamily="2" charset="0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64" d="100"/>
          <a:sy n="64" d="100"/>
        </p:scale>
        <p:origin x="724" y="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389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1718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jpe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20012" y="1354832"/>
            <a:ext cx="3174623" cy="312638"/>
          </a:xfrm>
          <a:prstGeom prst="roundRect">
            <a:avLst>
              <a:gd name="adj" fmla="val 22111"/>
            </a:avLst>
          </a:prstGeom>
          <a:solidFill>
            <a:srgbClr val="480405"/>
          </a:solidFill>
          <a:ln/>
        </p:spPr>
      </p:sp>
      <p:sp>
        <p:nvSpPr>
          <p:cNvPr id="4" name="Text 1"/>
          <p:cNvSpPr/>
          <p:nvPr/>
        </p:nvSpPr>
        <p:spPr>
          <a:xfrm>
            <a:off x="843437" y="1416546"/>
            <a:ext cx="3537358" cy="1892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ИНВЕСТОРСКАЯ ПРЕЗЕНТАЦИЯ · 2025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720012" y="1749723"/>
            <a:ext cx="6179784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5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RentZal</a:t>
            </a:r>
            <a:endParaRPr lang="en-US" sz="3550" dirty="0"/>
          </a:p>
        </p:txBody>
      </p:sp>
      <p:sp>
        <p:nvSpPr>
          <p:cNvPr id="6" name="Text 3"/>
          <p:cNvSpPr/>
          <p:nvPr/>
        </p:nvSpPr>
        <p:spPr>
          <a:xfrm>
            <a:off x="720012" y="2629793"/>
            <a:ext cx="6179784" cy="157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95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Найди игру. Собери команду. Играй.</a:t>
            </a:r>
            <a:endParaRPr lang="en-US" sz="4950" dirty="0"/>
          </a:p>
        </p:txBody>
      </p:sp>
      <p:sp>
        <p:nvSpPr>
          <p:cNvPr id="7" name="Text 4"/>
          <p:cNvSpPr/>
          <p:nvPr/>
        </p:nvSpPr>
        <p:spPr>
          <a:xfrm>
            <a:off x="720012" y="4515545"/>
            <a:ext cx="6179784" cy="9876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Цифровая платформа для поиска и бронирования командных спортивных игр — без команды, без хаоса, без отмен.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79512"/>
            <a:ext cx="6700118" cy="677848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91898" y="630436"/>
            <a:ext cx="6179784" cy="482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Поиск игры — это боль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5291898" y="1332309"/>
            <a:ext cx="6179784" cy="5121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Каждый раз одно и то же: нет команды, нет времени, нет гарантий. Игрок тратит часы на переписки, которые ни к чему не приводят.</a:t>
            </a:r>
            <a:endParaRPr lang="en-US" sz="1350" dirty="0"/>
          </a:p>
        </p:txBody>
      </p:sp>
      <p:sp>
        <p:nvSpPr>
          <p:cNvPr id="5" name="Shape 2"/>
          <p:cNvSpPr/>
          <p:nvPr/>
        </p:nvSpPr>
        <p:spPr>
          <a:xfrm>
            <a:off x="5291898" y="2009180"/>
            <a:ext cx="6179784" cy="944761"/>
          </a:xfrm>
          <a:prstGeom prst="roundRect">
            <a:avLst>
              <a:gd name="adj" fmla="val 7717"/>
            </a:avLst>
          </a:prstGeom>
          <a:solidFill>
            <a:srgbClr val="790709"/>
          </a:solidFill>
          <a:ln w="6350">
            <a:solidFill>
              <a:srgbClr val="92202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71777" y="2189063"/>
            <a:ext cx="5820026" cy="2411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Нет команды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71777" y="2517973"/>
            <a:ext cx="5820026" cy="2560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Постоянный состав — редкость. Искать людей каждый раз заново.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291898" y="3100388"/>
            <a:ext cx="6179784" cy="944761"/>
          </a:xfrm>
          <a:prstGeom prst="roundRect">
            <a:avLst>
              <a:gd name="adj" fmla="val 7717"/>
            </a:avLst>
          </a:prstGeom>
          <a:solidFill>
            <a:srgbClr val="790709"/>
          </a:solidFill>
          <a:ln w="6350">
            <a:solidFill>
              <a:srgbClr val="92202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71777" y="3280271"/>
            <a:ext cx="5820026" cy="2411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Telegram / VK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71777" y="3609181"/>
            <a:ext cx="5820026" cy="2560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Разрозненные чаты, группы, каналы. Никакой системы.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291898" y="4191595"/>
            <a:ext cx="6179784" cy="944761"/>
          </a:xfrm>
          <a:prstGeom prst="roundRect">
            <a:avLst>
              <a:gd name="adj" fmla="val 7717"/>
            </a:avLst>
          </a:prstGeom>
          <a:solidFill>
            <a:srgbClr val="790709"/>
          </a:solidFill>
          <a:ln w="6350">
            <a:solidFill>
              <a:srgbClr val="92202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71777" y="4371479"/>
            <a:ext cx="5820026" cy="2411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Долгие переписки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471777" y="4700389"/>
            <a:ext cx="5820026" cy="2560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Часы на координацию. Большинство игр так и не состоятся.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291898" y="5282803"/>
            <a:ext cx="6179784" cy="944761"/>
          </a:xfrm>
          <a:prstGeom prst="roundRect">
            <a:avLst>
              <a:gd name="adj" fmla="val 7717"/>
            </a:avLst>
          </a:prstGeom>
          <a:solidFill>
            <a:srgbClr val="790709"/>
          </a:solidFill>
          <a:ln w="6350">
            <a:solidFill>
              <a:srgbClr val="92202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71777" y="5462687"/>
            <a:ext cx="5820026" cy="2411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Риск отмены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471777" y="5791597"/>
            <a:ext cx="5820026" cy="2560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За день до игры — кто-то вышел. Всё рушится.</a:t>
            </a:r>
            <a:endParaRPr lang="en-US" sz="13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B885BE7-1A76-C94A-1BFF-43DF5A2270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4341" y="6559827"/>
            <a:ext cx="1547659" cy="29817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0012" y="571500"/>
            <a:ext cx="10751670" cy="366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Одно приложение вместо всего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720012" y="1106488"/>
            <a:ext cx="11361255" cy="172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RentZal заменяет чаты, звонки и таблицы — одним нажатием. Весь путь от поиска до выхода на площадку занимает минуты, а не часы.</a:t>
            </a:r>
            <a:endParaRPr lang="en-US" sz="1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12" y="1374378"/>
            <a:ext cx="10751670" cy="46442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85642" y="4875081"/>
            <a:ext cx="1596428" cy="2584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Найти игру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285642" y="5216247"/>
            <a:ext cx="1596428" cy="381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По виду спорта и времени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384858" y="4616622"/>
            <a:ext cx="1596429" cy="5169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Оплатить онлайн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84858" y="5216247"/>
            <a:ext cx="1596429" cy="381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Быстро и безопасно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241122" y="1793444"/>
            <a:ext cx="1596428" cy="5169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Открыть приложение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241122" y="2393069"/>
            <a:ext cx="1596428" cy="190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Запустить RentZal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9368481" y="1793444"/>
            <a:ext cx="1596428" cy="5169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Подтвердить брони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9368481" y="2393069"/>
            <a:ext cx="1596428" cy="572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Получить подтверждение и выйти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360692" y="1793444"/>
            <a:ext cx="1596427" cy="2584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Выбрать слот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360692" y="2134610"/>
            <a:ext cx="1596427" cy="381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Подобрать свободное время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20012" y="6113562"/>
            <a:ext cx="11361255" cy="172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Прозрачный процесс от первого касания до выхода на площадку — без звонков, переписок и неопределённости.</a:t>
            </a:r>
            <a:endParaRPr lang="en-US" sz="10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518864C-7AD3-0AF9-5910-882F9D4AC7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4341" y="6559827"/>
            <a:ext cx="1547659" cy="29817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0012" y="1222375"/>
            <a:ext cx="1075167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5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Как это работает</a:t>
            </a:r>
            <a:endParaRPr lang="en-US" sz="35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12" y="2205335"/>
            <a:ext cx="1447069" cy="144710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20012" y="3909616"/>
            <a:ext cx="24949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1. Выбери спорт и время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720012" y="4604544"/>
            <a:ext cx="2494991" cy="9876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Футбол, баскетбол, волейбол — укажи удобный день и время.</a:t>
            </a:r>
            <a:endParaRPr lang="en-US" sz="16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2173" y="2205335"/>
            <a:ext cx="1447069" cy="144710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472173" y="3909616"/>
            <a:ext cx="24950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2. Найди подходящий слот</a:t>
            </a: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3472173" y="4604544"/>
            <a:ext cx="2495091" cy="9876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Живые слоты от партнёрских площадок с актуальной загрузкой.</a:t>
            </a:r>
            <a:endParaRPr lang="en-US" sz="16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4432" y="2205335"/>
            <a:ext cx="1447069" cy="144710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224432" y="3909616"/>
            <a:ext cx="249499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3. Забронируй место</a:t>
            </a:r>
            <a:endParaRPr lang="en-US" sz="1750" dirty="0"/>
          </a:p>
        </p:txBody>
      </p:sp>
      <p:sp>
        <p:nvSpPr>
          <p:cNvPr id="11" name="Text 6"/>
          <p:cNvSpPr/>
          <p:nvPr/>
        </p:nvSpPr>
        <p:spPr>
          <a:xfrm>
            <a:off x="6224432" y="4318794"/>
            <a:ext cx="2494991" cy="13168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Оплата онлайн, мгновенное подтверждение — место закреплено.</a:t>
            </a:r>
            <a:endParaRPr lang="en-US" sz="16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6592" y="2205335"/>
            <a:ext cx="1447069" cy="144710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976592" y="3909616"/>
            <a:ext cx="249509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4. Играй с командой</a:t>
            </a:r>
            <a:endParaRPr lang="en-US" sz="1750" dirty="0"/>
          </a:p>
        </p:txBody>
      </p:sp>
      <p:sp>
        <p:nvSpPr>
          <p:cNvPr id="14" name="Text 8"/>
          <p:cNvSpPr/>
          <p:nvPr/>
        </p:nvSpPr>
        <p:spPr>
          <a:xfrm>
            <a:off x="8976592" y="4318794"/>
            <a:ext cx="2495091" cy="9876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Приходишь в назначенное время — команда уже собрана.</a:t>
            </a:r>
            <a:endParaRPr lang="en-US" sz="16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128EBA5-DF77-2865-4318-B95CB8F91D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44341" y="6559827"/>
            <a:ext cx="1547659" cy="29817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0012" y="565745"/>
            <a:ext cx="1075167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Старый способ vs RentZal</a:t>
            </a:r>
            <a:endParaRPr lang="en-US" sz="1750" dirty="0"/>
          </a:p>
        </p:txBody>
      </p:sp>
      <p:sp>
        <p:nvSpPr>
          <p:cNvPr id="3" name="Text 1"/>
          <p:cNvSpPr/>
          <p:nvPr/>
        </p:nvSpPr>
        <p:spPr>
          <a:xfrm>
            <a:off x="720012" y="3426520"/>
            <a:ext cx="5250426" cy="370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Сегодня поиск игры — это ручная работа: десятки сообщений, звонки, таблицы в Google Sheets и постоянный риск отмены. RentZal заменяет весь этот хаос единым цифровым процессом — от первого касания до выхода на площадку.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607" y="986433"/>
            <a:ext cx="5250426" cy="52505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0C4B099-1F4D-93AA-34A1-0F61AFDF9B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4341" y="6559827"/>
            <a:ext cx="1547659" cy="29817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0012" y="577949"/>
            <a:ext cx="10751670" cy="5089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Бизнес-модель</a:t>
            </a:r>
            <a:endParaRPr lang="en-US" sz="32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12" y="1515269"/>
            <a:ext cx="5152301" cy="370869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25732" y="1515269"/>
            <a:ext cx="2494595" cy="219769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635882" y="1723827"/>
            <a:ext cx="1975892" cy="2544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12% комиссия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6635882" y="2141438"/>
            <a:ext cx="1975892" cy="1108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40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С каждого бронирования — основной источник выручки платформы.</a:t>
            </a:r>
            <a:endParaRPr lang="en-US" sz="14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3438" y="1515269"/>
            <a:ext cx="2494595" cy="219769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9293588" y="1723827"/>
            <a:ext cx="1975892" cy="508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Партнёрства с залами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9293588" y="2395934"/>
            <a:ext cx="1975892" cy="1108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40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Спортивные площадки платят за поток игроков и управление слотами.</a:t>
            </a:r>
            <a:endParaRPr lang="en-US" sz="14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25732" y="3876080"/>
            <a:ext cx="2494595" cy="2220317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635882" y="4084638"/>
            <a:ext cx="1975892" cy="2544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Премиум-функции</a:t>
            </a:r>
            <a:endParaRPr lang="en-US" sz="1600" dirty="0"/>
          </a:p>
        </p:txBody>
      </p:sp>
      <p:sp>
        <p:nvSpPr>
          <p:cNvPr id="12" name="Text 6"/>
          <p:cNvSpPr/>
          <p:nvPr/>
        </p:nvSpPr>
        <p:spPr>
          <a:xfrm>
            <a:off x="6635882" y="4502249"/>
            <a:ext cx="1975892" cy="1385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40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Расширенные фильтры, приоритетный доступ, статистика игрока.</a:t>
            </a:r>
            <a:endParaRPr lang="en-US" sz="14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83438" y="3876080"/>
            <a:ext cx="2494595" cy="2220317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9293588" y="4084638"/>
            <a:ext cx="1975892" cy="508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Платёжные сервисы</a:t>
            </a:r>
            <a:endParaRPr lang="en-US" sz="1600" dirty="0"/>
          </a:p>
        </p:txBody>
      </p:sp>
      <p:sp>
        <p:nvSpPr>
          <p:cNvPr id="15" name="Text 8"/>
          <p:cNvSpPr/>
          <p:nvPr/>
        </p:nvSpPr>
        <p:spPr>
          <a:xfrm>
            <a:off x="9293588" y="4756745"/>
            <a:ext cx="1975892" cy="1108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40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Дополнительные финансовые инструменты внутри платформы.</a:t>
            </a:r>
            <a:endParaRPr lang="en-US" sz="14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D4B76EC-13C6-2E48-DF9C-94A8CFFF42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44341" y="6559827"/>
            <a:ext cx="1547659" cy="29817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0012" y="626368"/>
            <a:ext cx="10751670" cy="4732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План запуска</a:t>
            </a:r>
            <a:endParaRPr lang="en-US" sz="2950" dirty="0"/>
          </a:p>
        </p:txBody>
      </p:sp>
      <p:sp>
        <p:nvSpPr>
          <p:cNvPr id="3" name="Shape 1"/>
          <p:cNvSpPr/>
          <p:nvPr/>
        </p:nvSpPr>
        <p:spPr>
          <a:xfrm>
            <a:off x="6086323" y="1381820"/>
            <a:ext cx="19050" cy="4088904"/>
          </a:xfrm>
          <a:prstGeom prst="roundRect">
            <a:avLst>
              <a:gd name="adj" fmla="val 49999"/>
            </a:avLst>
          </a:prstGeom>
          <a:solidFill>
            <a:srgbClr val="922022"/>
          </a:solidFill>
          <a:ln/>
        </p:spPr>
      </p:sp>
      <p:sp>
        <p:nvSpPr>
          <p:cNvPr id="4" name="Shape 2"/>
          <p:cNvSpPr/>
          <p:nvPr/>
        </p:nvSpPr>
        <p:spPr>
          <a:xfrm>
            <a:off x="5412198" y="1563886"/>
            <a:ext cx="511063" cy="19050"/>
          </a:xfrm>
          <a:prstGeom prst="roundRect">
            <a:avLst>
              <a:gd name="adj" fmla="val 49999"/>
            </a:avLst>
          </a:prstGeom>
          <a:solidFill>
            <a:srgbClr val="922022"/>
          </a:solidFill>
          <a:ln/>
        </p:spPr>
      </p:sp>
      <p:sp>
        <p:nvSpPr>
          <p:cNvPr id="5" name="Shape 3"/>
          <p:cNvSpPr/>
          <p:nvPr/>
        </p:nvSpPr>
        <p:spPr>
          <a:xfrm>
            <a:off x="5904211" y="1381820"/>
            <a:ext cx="383272" cy="383282"/>
          </a:xfrm>
          <a:prstGeom prst="roundRect">
            <a:avLst>
              <a:gd name="adj" fmla="val 18670"/>
            </a:avLst>
          </a:prstGeom>
          <a:solidFill>
            <a:srgbClr val="790709"/>
          </a:solidFill>
          <a:ln w="6350">
            <a:solidFill>
              <a:srgbClr val="9220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82245" y="1431479"/>
            <a:ext cx="227106" cy="2838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1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20012" y="1440359"/>
            <a:ext cx="4523964" cy="236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Недели 1–2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20012" y="1761629"/>
            <a:ext cx="4523964" cy="498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22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30 глубинных интервью с игроками. Валидация боли и JTBD.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8434" y="2527498"/>
            <a:ext cx="511063" cy="19050"/>
          </a:xfrm>
          <a:prstGeom prst="roundRect">
            <a:avLst>
              <a:gd name="adj" fmla="val 49999"/>
            </a:avLst>
          </a:prstGeom>
          <a:solidFill>
            <a:srgbClr val="922022"/>
          </a:solidFill>
          <a:ln/>
        </p:spPr>
      </p:sp>
      <p:sp>
        <p:nvSpPr>
          <p:cNvPr id="10" name="Shape 8"/>
          <p:cNvSpPr/>
          <p:nvPr/>
        </p:nvSpPr>
        <p:spPr>
          <a:xfrm>
            <a:off x="5904211" y="2345432"/>
            <a:ext cx="383272" cy="383282"/>
          </a:xfrm>
          <a:prstGeom prst="roundRect">
            <a:avLst>
              <a:gd name="adj" fmla="val 18670"/>
            </a:avLst>
          </a:prstGeom>
          <a:solidFill>
            <a:srgbClr val="790709"/>
          </a:solidFill>
          <a:ln w="6350">
            <a:solidFill>
              <a:srgbClr val="9220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82245" y="2395091"/>
            <a:ext cx="227106" cy="2838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2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6947718" y="2403971"/>
            <a:ext cx="4523964" cy="236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Недели 3–4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947718" y="2725241"/>
            <a:ext cx="4523964" cy="498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1–3 партнёрских зала. Первые живые слоты в приложении.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12198" y="3379291"/>
            <a:ext cx="511063" cy="19050"/>
          </a:xfrm>
          <a:prstGeom prst="roundRect">
            <a:avLst>
              <a:gd name="adj" fmla="val 49999"/>
            </a:avLst>
          </a:prstGeom>
          <a:solidFill>
            <a:srgbClr val="922022"/>
          </a:solidFill>
          <a:ln/>
        </p:spPr>
      </p:sp>
      <p:sp>
        <p:nvSpPr>
          <p:cNvPr id="15" name="Shape 13"/>
          <p:cNvSpPr/>
          <p:nvPr/>
        </p:nvSpPr>
        <p:spPr>
          <a:xfrm>
            <a:off x="5904211" y="3197225"/>
            <a:ext cx="383272" cy="383282"/>
          </a:xfrm>
          <a:prstGeom prst="roundRect">
            <a:avLst>
              <a:gd name="adj" fmla="val 18670"/>
            </a:avLst>
          </a:prstGeom>
          <a:solidFill>
            <a:srgbClr val="790709"/>
          </a:solidFill>
          <a:ln w="6350">
            <a:solidFill>
              <a:srgbClr val="9220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2245" y="3246884"/>
            <a:ext cx="227106" cy="2838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3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720012" y="3255764"/>
            <a:ext cx="4523964" cy="236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Недели 5–8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20012" y="3577034"/>
            <a:ext cx="4523964" cy="498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22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Запуск пилота. Первые бронирования и органический рост.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8434" y="4231184"/>
            <a:ext cx="511063" cy="19050"/>
          </a:xfrm>
          <a:prstGeom prst="roundRect">
            <a:avLst>
              <a:gd name="adj" fmla="val 49999"/>
            </a:avLst>
          </a:prstGeom>
          <a:solidFill>
            <a:srgbClr val="922022"/>
          </a:solidFill>
          <a:ln/>
        </p:spPr>
      </p:sp>
      <p:sp>
        <p:nvSpPr>
          <p:cNvPr id="20" name="Shape 18"/>
          <p:cNvSpPr/>
          <p:nvPr/>
        </p:nvSpPr>
        <p:spPr>
          <a:xfrm>
            <a:off x="5904211" y="4049117"/>
            <a:ext cx="383272" cy="383282"/>
          </a:xfrm>
          <a:prstGeom prst="roundRect">
            <a:avLst>
              <a:gd name="adj" fmla="val 18670"/>
            </a:avLst>
          </a:prstGeom>
          <a:solidFill>
            <a:srgbClr val="790709"/>
          </a:solidFill>
          <a:ln w="6350">
            <a:solidFill>
              <a:srgbClr val="9220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82245" y="4098776"/>
            <a:ext cx="227106" cy="2838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4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6947718" y="4107656"/>
            <a:ext cx="4523964" cy="236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Месяц 3+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947718" y="4428927"/>
            <a:ext cx="4523964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Масштабирование: новые города, залы, виды спорта.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20012" y="5629374"/>
            <a:ext cx="10751670" cy="602258"/>
          </a:xfrm>
          <a:prstGeom prst="roundRect">
            <a:avLst>
              <a:gd name="adj" fmla="val 11881"/>
            </a:avLst>
          </a:prstGeom>
          <a:solidFill>
            <a:srgbClr val="790709"/>
          </a:solidFill>
          <a:ln/>
        </p:spPr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367" y="5835352"/>
            <a:ext cx="212918" cy="170359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273639" y="5813028"/>
            <a:ext cx="10637274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Цель пилота: 100 бронирований за первый месяц без платного трафика.</a:t>
            </a:r>
            <a:endParaRPr lang="en-US" sz="13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E5C7673-C2CC-B8D2-A913-EE7C491E8B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4341" y="6559827"/>
            <a:ext cx="1547659" cy="2981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0012" y="571996"/>
            <a:ext cx="10751670" cy="526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Технологический стек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20012" y="1448495"/>
            <a:ext cx="11361255" cy="2916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Современный, надёжный и масштабируемый — архитектура, готовая к росту нагрузки с первого дня.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720012" y="1936750"/>
            <a:ext cx="5288426" cy="2087166"/>
          </a:xfrm>
          <a:prstGeom prst="roundRect">
            <a:avLst>
              <a:gd name="adj" fmla="val 3817"/>
            </a:avLst>
          </a:prstGeom>
          <a:solidFill>
            <a:srgbClr val="790709"/>
          </a:solidFill>
          <a:ln w="6350">
            <a:solidFill>
              <a:srgbClr val="9220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5965" y="2132707"/>
            <a:ext cx="568906" cy="568920"/>
          </a:xfrm>
          <a:prstGeom prst="ellipse">
            <a:avLst/>
          </a:prstGeom>
          <a:solidFill>
            <a:srgbClr val="F65F62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2429" y="2289076"/>
            <a:ext cx="255978" cy="2559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5965" y="2876451"/>
            <a:ext cx="4896521" cy="2634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React + TypeScript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915965" y="3244751"/>
            <a:ext cx="4896521" cy="583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Быстрый отзывчивый интерфейс с типобезопасностью.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183257" y="1936750"/>
            <a:ext cx="5288426" cy="2087166"/>
          </a:xfrm>
          <a:prstGeom prst="roundRect">
            <a:avLst>
              <a:gd name="adj" fmla="val 3817"/>
            </a:avLst>
          </a:prstGeom>
          <a:solidFill>
            <a:srgbClr val="790709"/>
          </a:solidFill>
          <a:ln w="6350">
            <a:solidFill>
              <a:srgbClr val="92202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379209" y="2132707"/>
            <a:ext cx="568906" cy="568920"/>
          </a:xfrm>
          <a:prstGeom prst="ellipse">
            <a:avLst/>
          </a:prstGeom>
          <a:solidFill>
            <a:srgbClr val="F65F62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5673" y="2289076"/>
            <a:ext cx="255978" cy="2559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79209" y="2876451"/>
            <a:ext cx="4896521" cy="2634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Go API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6379209" y="3244751"/>
            <a:ext cx="4896521" cy="583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Высокопроизводительный бэкенд для реального времени.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720012" y="4198739"/>
            <a:ext cx="5288426" cy="2087166"/>
          </a:xfrm>
          <a:prstGeom prst="roundRect">
            <a:avLst>
              <a:gd name="adj" fmla="val 3817"/>
            </a:avLst>
          </a:prstGeom>
          <a:solidFill>
            <a:srgbClr val="790709"/>
          </a:solidFill>
          <a:ln w="6350">
            <a:solidFill>
              <a:srgbClr val="92202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15965" y="4394696"/>
            <a:ext cx="568906" cy="568920"/>
          </a:xfrm>
          <a:prstGeom prst="ellipse">
            <a:avLst/>
          </a:prstGeom>
          <a:solidFill>
            <a:srgbClr val="F65F62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2429" y="4551065"/>
            <a:ext cx="255978" cy="2559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15965" y="5138440"/>
            <a:ext cx="4896521" cy="2634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PostgreSQL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915965" y="5506740"/>
            <a:ext cx="4896521" cy="583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Надёжное хранение данных бронирований и пользователей.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183257" y="4198739"/>
            <a:ext cx="5288426" cy="2087166"/>
          </a:xfrm>
          <a:prstGeom prst="roundRect">
            <a:avLst>
              <a:gd name="adj" fmla="val 3817"/>
            </a:avLst>
          </a:prstGeom>
          <a:solidFill>
            <a:srgbClr val="790709"/>
          </a:solidFill>
          <a:ln w="6350">
            <a:solidFill>
              <a:srgbClr val="922022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379209" y="4394696"/>
            <a:ext cx="568906" cy="568920"/>
          </a:xfrm>
          <a:prstGeom prst="ellipse">
            <a:avLst/>
          </a:prstGeom>
          <a:solidFill>
            <a:srgbClr val="F65F62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35673" y="4551065"/>
            <a:ext cx="255978" cy="2559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379209" y="5138440"/>
            <a:ext cx="4896521" cy="2634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Redis</a:t>
            </a:r>
            <a:endParaRPr lang="en-US" sz="1650" dirty="0"/>
          </a:p>
        </p:txBody>
      </p:sp>
      <p:sp>
        <p:nvSpPr>
          <p:cNvPr id="23" name="Text 17"/>
          <p:cNvSpPr/>
          <p:nvPr/>
        </p:nvSpPr>
        <p:spPr>
          <a:xfrm>
            <a:off x="6379209" y="5506740"/>
            <a:ext cx="4896521" cy="2916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Кэширование и мгновенная обработка слотов.</a:t>
            </a:r>
            <a:endParaRPr lang="en-US" sz="145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CE127F5-8EDD-CCA6-5138-A3DD16BF8D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44341" y="6559827"/>
            <a:ext cx="1547659" cy="2981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0012" y="575072"/>
            <a:ext cx="10751670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Инвестиционный запрос</a:t>
            </a:r>
            <a:endParaRPr lang="en-US" sz="2650" dirty="0"/>
          </a:p>
        </p:txBody>
      </p:sp>
      <p:sp>
        <p:nvSpPr>
          <p:cNvPr id="3" name="Text 1"/>
          <p:cNvSpPr/>
          <p:nvPr/>
        </p:nvSpPr>
        <p:spPr>
          <a:xfrm>
            <a:off x="720012" y="1177230"/>
            <a:ext cx="10751670" cy="5914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F65F62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2 000 000 ₽</a:t>
            </a:r>
            <a:endParaRPr lang="en-US" sz="3700" dirty="0"/>
          </a:p>
        </p:txBody>
      </p:sp>
      <p:sp>
        <p:nvSpPr>
          <p:cNvPr id="4" name="Text 2"/>
          <p:cNvSpPr/>
          <p:nvPr/>
        </p:nvSpPr>
        <p:spPr>
          <a:xfrm>
            <a:off x="720012" y="1942207"/>
            <a:ext cx="11361255" cy="215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Средства позволят запустить MVP, провести пилот с первыми партнёрами и выйти на первые 100 бронирований.</a:t>
            </a:r>
            <a:endParaRPr lang="en-US" sz="1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12" y="2418556"/>
            <a:ext cx="5187622" cy="373409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90411" y="2418556"/>
            <a:ext cx="2535968" cy="1324670"/>
          </a:xfrm>
          <a:prstGeom prst="roundRect">
            <a:avLst>
              <a:gd name="adj" fmla="val 4892"/>
            </a:avLst>
          </a:prstGeom>
          <a:solidFill>
            <a:srgbClr val="191718">
              <a:alpha val="95000"/>
            </a:srgbClr>
          </a:solidFill>
          <a:ln w="19050">
            <a:solidFill>
              <a:srgbClr val="9220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63741" y="2591891"/>
            <a:ext cx="2189306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40% — Разработка MVP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63741" y="2921893"/>
            <a:ext cx="2189306" cy="431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Фронтенд, бэкенд, дизайн-система, тестирование.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942065" y="2418556"/>
            <a:ext cx="2535968" cy="1324670"/>
          </a:xfrm>
          <a:prstGeom prst="roundRect">
            <a:avLst>
              <a:gd name="adj" fmla="val 4892"/>
            </a:avLst>
          </a:prstGeom>
          <a:solidFill>
            <a:srgbClr val="191718">
              <a:alpha val="95000"/>
            </a:srgbClr>
          </a:solidFill>
          <a:ln w="19050">
            <a:solidFill>
              <a:srgbClr val="92202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15395" y="2591891"/>
            <a:ext cx="2189306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30% — Запуск пилота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115395" y="2921893"/>
            <a:ext cx="2189306" cy="647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Партнёрства с залами, маркетинг, первые пользователи.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90411" y="3858915"/>
            <a:ext cx="2535968" cy="1538982"/>
          </a:xfrm>
          <a:prstGeom prst="roundRect">
            <a:avLst>
              <a:gd name="adj" fmla="val 4211"/>
            </a:avLst>
          </a:prstGeom>
          <a:solidFill>
            <a:srgbClr val="191718">
              <a:alpha val="95000"/>
            </a:srgbClr>
          </a:solidFill>
          <a:ln w="19050">
            <a:solidFill>
              <a:srgbClr val="92202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63741" y="4032250"/>
            <a:ext cx="218930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20% — Платежи и поддержка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63741" y="4576564"/>
            <a:ext cx="2189306" cy="647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Интеграция платёжных систем, инфраструктура, саппорт.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942065" y="3858915"/>
            <a:ext cx="2535968" cy="1538982"/>
          </a:xfrm>
          <a:prstGeom prst="roundRect">
            <a:avLst>
              <a:gd name="adj" fmla="val 4211"/>
            </a:avLst>
          </a:prstGeom>
          <a:solidFill>
            <a:srgbClr val="191718">
              <a:alpha val="95000"/>
            </a:srgbClr>
          </a:solidFill>
          <a:ln w="19050">
            <a:solidFill>
              <a:srgbClr val="92202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15395" y="4032250"/>
            <a:ext cx="2189306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10% — Резерв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115395" y="4362252"/>
            <a:ext cx="2189306" cy="431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Буфер на непредвиденные расходы и итерации.</a:t>
            </a:r>
            <a:endParaRPr lang="en-US" sz="12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F0445F4-F612-164C-E8E4-FED22742BE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4341" y="6559827"/>
            <a:ext cx="1547659" cy="29817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0012" y="574278"/>
            <a:ext cx="6179784" cy="419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RentZal — это новый стандарт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720012" y="1160363"/>
            <a:ext cx="6179784" cy="419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50" dirty="0">
                <a:solidFill>
                  <a:srgbClr val="E5E0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Мы превращаем хаотичный поиск игры в простой, предсказуемый и приятный путь. Каждый игрок заслуживает команду — без усилий.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720012" y="1704479"/>
            <a:ext cx="604326" cy="906463"/>
          </a:xfrm>
          <a:prstGeom prst="roundRect">
            <a:avLst>
              <a:gd name="adj" fmla="val 50000"/>
            </a:avLst>
          </a:prstGeom>
          <a:solidFill>
            <a:srgbClr val="790709"/>
          </a:solidFill>
          <a:ln w="6350">
            <a:solidFill>
              <a:srgbClr val="922022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8821" y="2044303"/>
            <a:ext cx="226610" cy="22661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35263" y="1855490"/>
            <a:ext cx="5464534" cy="2098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Нашёл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720012" y="2721868"/>
            <a:ext cx="604326" cy="906463"/>
          </a:xfrm>
          <a:prstGeom prst="roundRect">
            <a:avLst>
              <a:gd name="adj" fmla="val 50000"/>
            </a:avLst>
          </a:prstGeom>
          <a:solidFill>
            <a:srgbClr val="790709"/>
          </a:solidFill>
          <a:ln w="6350">
            <a:solidFill>
              <a:srgbClr val="922022"/>
            </a:solidFill>
            <a:prstDash val="solid"/>
          </a:ln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8821" y="3061692"/>
            <a:ext cx="226610" cy="22661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435263" y="2872879"/>
            <a:ext cx="5464534" cy="2098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Забронировал</a:t>
            </a:r>
            <a:endParaRPr lang="en-US" sz="1300" dirty="0"/>
          </a:p>
        </p:txBody>
      </p:sp>
      <p:sp>
        <p:nvSpPr>
          <p:cNvPr id="11" name="Shape 6"/>
          <p:cNvSpPr/>
          <p:nvPr/>
        </p:nvSpPr>
        <p:spPr>
          <a:xfrm>
            <a:off x="720012" y="3739257"/>
            <a:ext cx="604326" cy="906463"/>
          </a:xfrm>
          <a:prstGeom prst="roundRect">
            <a:avLst>
              <a:gd name="adj" fmla="val 50000"/>
            </a:avLst>
          </a:prstGeom>
          <a:solidFill>
            <a:srgbClr val="790709"/>
          </a:solidFill>
          <a:ln w="6350">
            <a:solidFill>
              <a:srgbClr val="922022"/>
            </a:solidFill>
            <a:prstDash val="solid"/>
          </a:ln>
        </p:spPr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08821" y="4079081"/>
            <a:ext cx="226610" cy="22661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435263" y="3890268"/>
            <a:ext cx="5464534" cy="2098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Оплатил</a:t>
            </a:r>
            <a:endParaRPr lang="en-US" sz="1300" dirty="0"/>
          </a:p>
        </p:txBody>
      </p:sp>
      <p:sp>
        <p:nvSpPr>
          <p:cNvPr id="14" name="Shape 8"/>
          <p:cNvSpPr/>
          <p:nvPr/>
        </p:nvSpPr>
        <p:spPr>
          <a:xfrm>
            <a:off x="720012" y="4756646"/>
            <a:ext cx="604326" cy="906463"/>
          </a:xfrm>
          <a:prstGeom prst="roundRect">
            <a:avLst>
              <a:gd name="adj" fmla="val 50000"/>
            </a:avLst>
          </a:prstGeom>
          <a:solidFill>
            <a:srgbClr val="790709"/>
          </a:solidFill>
          <a:ln w="6350">
            <a:solidFill>
              <a:srgbClr val="922022"/>
            </a:solidFill>
            <a:prstDash val="solid"/>
          </a:ln>
        </p:spPr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08821" y="5096470"/>
            <a:ext cx="226610" cy="226616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435263" y="4907657"/>
            <a:ext cx="5464534" cy="2098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Сыграл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720012" y="5787926"/>
            <a:ext cx="6179784" cy="495796"/>
          </a:xfrm>
          <a:prstGeom prst="roundRect">
            <a:avLst>
              <a:gd name="adj" fmla="val 12799"/>
            </a:avLst>
          </a:prstGeom>
          <a:solidFill>
            <a:srgbClr val="790709"/>
          </a:solidFill>
          <a:ln/>
        </p:spPr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1020" y="5950446"/>
            <a:ext cx="188809" cy="151011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10835" y="5936555"/>
            <a:ext cx="6147539" cy="209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RentZal</a:t>
            </a:r>
            <a:r>
              <a:rPr lang="en-US" sz="115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— найди игру, собери команду, играй.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583</Words>
  <Application>Microsoft Office PowerPoint</Application>
  <PresentationFormat>Widescreen</PresentationFormat>
  <Paragraphs>99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Barlow</vt:lpstr>
      <vt:lpstr>Arial</vt:lpstr>
      <vt:lpstr>Barlow Medium</vt:lpstr>
      <vt:lpstr>Barlow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Гафур Эндибаев</dc:creator>
  <cp:lastModifiedBy>Гафур Эндибаев</cp:lastModifiedBy>
  <cp:revision>2</cp:revision>
  <dcterms:created xsi:type="dcterms:W3CDTF">2026-09-22T12:38:41Z</dcterms:created>
  <dcterms:modified xsi:type="dcterms:W3CDTF">2026-09-22T12:44:47Z</dcterms:modified>
</cp:coreProperties>
</file>