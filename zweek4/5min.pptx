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12192000"/>
  <p:embeddedFontLst>
    <p:embeddedFont>
      <p:font typeface="Barlow" panose="00000500000000000000" pitchFamily="2" charset="0"/>
      <p:regular r:id="rId11"/>
    </p:embeddedFont>
    <p:embeddedFont>
      <p:font typeface="Barlow Bold" panose="00000800000000000000" charset="0"/>
      <p:regular r:id="rId12"/>
    </p:embeddedFont>
    <p:embeddedFont>
      <p:font typeface="Barlow Medium" panose="00000600000000000000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71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38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421" y="0"/>
            <a:ext cx="457188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012" y="1749723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RentZal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20012" y="2629793"/>
            <a:ext cx="6179784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Найди игру. Собери команду. Играй.</a:t>
            </a:r>
            <a:endParaRPr lang="en-US" sz="4950" dirty="0"/>
          </a:p>
        </p:txBody>
      </p:sp>
      <p:sp>
        <p:nvSpPr>
          <p:cNvPr id="7" name="Text 4"/>
          <p:cNvSpPr/>
          <p:nvPr/>
        </p:nvSpPr>
        <p:spPr>
          <a:xfrm>
            <a:off x="720012" y="4515545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Цифровая платформа для поиска и бронирования командных спортивных игр — без команды, без хаоса, без отмен.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91898" y="630436"/>
            <a:ext cx="617978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Поиск игры — это боль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91898" y="1332309"/>
            <a:ext cx="6179784" cy="51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Каждый раз одно и то же: нет команды, нет времени, нет гарантий. Игрок тратит часы на переписки, которые ни к чему не приводят.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91898" y="2009180"/>
            <a:ext cx="6179784" cy="94476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71777" y="2189063"/>
            <a:ext cx="582002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Нет команды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71777" y="2517973"/>
            <a:ext cx="5820026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Постоянный состав — редкость. Искать людей каждый раз заново.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91898" y="3100388"/>
            <a:ext cx="6179784" cy="94476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71777" y="3280271"/>
            <a:ext cx="582002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Telegram / VK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71777" y="3609181"/>
            <a:ext cx="5820026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Разрозненные чаты, группы, каналы. Никакой системы.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91898" y="4191595"/>
            <a:ext cx="6179784" cy="94476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71777" y="4371479"/>
            <a:ext cx="582002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Долгие переписки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71777" y="4700389"/>
            <a:ext cx="5820026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Часы на координацию. Большинство игр так и не состоятся.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91898" y="5282803"/>
            <a:ext cx="6179784" cy="94476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71777" y="5462687"/>
            <a:ext cx="582002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Риск отмены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71777" y="5791597"/>
            <a:ext cx="5820026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 день до игры — кто-то вышел. Всё рушится.</a:t>
            </a: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885BE7-1A76-C94A-1BFF-43DF5A227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  <p:pic>
        <p:nvPicPr>
          <p:cNvPr id="22" name="Рисунок 21" descr="Лионель Месси расплакался после вынужденной замены по ходу финала Копы">
            <a:extLst>
              <a:ext uri="{FF2B5EF4-FFF2-40B4-BE49-F238E27FC236}">
                <a16:creationId xmlns:a16="http://schemas.microsoft.com/office/drawing/2014/main" id="{C9B74D67-0635-1F45-DACE-A336D32DB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29" y="2243882"/>
            <a:ext cx="4803378" cy="36025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1500"/>
            <a:ext cx="1075167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Одно приложение вместо всего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0012" y="1106488"/>
            <a:ext cx="11361255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RentZal заменяет чаты, звонки и таблицы — одним нажатием. Весь путь от поиска до выхода на площадку занимает минуты, а не часы.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374378"/>
            <a:ext cx="10751670" cy="4644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85642" y="4875081"/>
            <a:ext cx="1596428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Найти игру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85642" y="5216247"/>
            <a:ext cx="1596428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 виду спорта и времени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84858" y="4616622"/>
            <a:ext cx="1596429" cy="51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Оплатить онлайн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84858" y="5216247"/>
            <a:ext cx="1596429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Быстро и безопасно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41122" y="1793444"/>
            <a:ext cx="1596428" cy="51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Открыть приложение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41122" y="2393069"/>
            <a:ext cx="1596428" cy="190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Запустить RentZal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368481" y="1793444"/>
            <a:ext cx="1596428" cy="51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Подтвердить брони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68481" y="2393069"/>
            <a:ext cx="1596428" cy="57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Получить подтверждение и выйти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60692" y="1793444"/>
            <a:ext cx="1596427" cy="258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Выбрать слот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60692" y="2134610"/>
            <a:ext cx="1596427" cy="38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Подобрать свободное время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20012" y="6113562"/>
            <a:ext cx="11361255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Прозрачный процесс от первого касания до выхода на площадку — без звонков, переписок и неопределённости.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18864C-7AD3-0AF9-5910-882F9D4AC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Старый способ vs RentZal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845421" y="2399060"/>
            <a:ext cx="5250426" cy="205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Сегодня поиск игры — это ручная работа: десятки сообщений, звонки, таблицы в Google Sheets и постоянный риск отмены. RentZal заменяет весь этот хаос единым цифровым процессом — от первого касания до выхода на площадку.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607" y="986433"/>
            <a:ext cx="5250426" cy="52505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C4B099-1F4D-93AA-34A1-0F61AFDF9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7949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Бизнес-модель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515269"/>
            <a:ext cx="5152301" cy="37086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5732" y="1515269"/>
            <a:ext cx="2494595" cy="2197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35882" y="1723827"/>
            <a:ext cx="1975892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12% комиссия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635882" y="2141438"/>
            <a:ext cx="1975892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 каждого бронирования — основной источник выручки платформы.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3438" y="1515269"/>
            <a:ext cx="2494595" cy="21976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93588" y="1723827"/>
            <a:ext cx="1975892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Партнёрства с залами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293588" y="2395934"/>
            <a:ext cx="1975892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Спортивные площадки платят за поток игроков и управление слотами.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5732" y="3876080"/>
            <a:ext cx="2494595" cy="22203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35882" y="4084638"/>
            <a:ext cx="1975892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Премиум-функции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635882" y="4502249"/>
            <a:ext cx="1975892" cy="138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Расширенные фильтры, приоритетный доступ, статистика игрока.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3438" y="3876080"/>
            <a:ext cx="2494595" cy="22203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93588" y="4084638"/>
            <a:ext cx="1975892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Платёжные сервисы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293588" y="4756745"/>
            <a:ext cx="1975892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Дополнительные финансовые инструменты внутри платформы.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4B76EC-13C6-2E48-DF9C-94A8CFFF4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C6AD311-5F78-004A-7759-BF35EE5DC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26368"/>
            <a:ext cx="10751670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План запуска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86323" y="1381820"/>
            <a:ext cx="19050" cy="4088904"/>
          </a:xfrm>
          <a:prstGeom prst="roundRect">
            <a:avLst>
              <a:gd name="adj" fmla="val 49999"/>
            </a:avLst>
          </a:prstGeom>
          <a:solidFill>
            <a:srgbClr val="922022"/>
          </a:solidFill>
          <a:ln/>
        </p:spPr>
      </p:sp>
      <p:sp>
        <p:nvSpPr>
          <p:cNvPr id="4" name="Shape 2"/>
          <p:cNvSpPr/>
          <p:nvPr/>
        </p:nvSpPr>
        <p:spPr>
          <a:xfrm>
            <a:off x="5412198" y="1563886"/>
            <a:ext cx="511063" cy="19050"/>
          </a:xfrm>
          <a:prstGeom prst="roundRect">
            <a:avLst>
              <a:gd name="adj" fmla="val 49999"/>
            </a:avLst>
          </a:prstGeom>
          <a:solidFill>
            <a:srgbClr val="922022"/>
          </a:solidFill>
          <a:ln/>
        </p:spPr>
      </p:sp>
      <p:sp>
        <p:nvSpPr>
          <p:cNvPr id="5" name="Shape 3"/>
          <p:cNvSpPr/>
          <p:nvPr/>
        </p:nvSpPr>
        <p:spPr>
          <a:xfrm>
            <a:off x="5904211" y="1381820"/>
            <a:ext cx="383272" cy="38328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2245" y="1431479"/>
            <a:ext cx="227106" cy="283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20012" y="1440359"/>
            <a:ext cx="452396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Недели 1–2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20012" y="1761629"/>
            <a:ext cx="452396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 глубинных интервью с игроками. Валидация боли и JTBD.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8434" y="2527498"/>
            <a:ext cx="511063" cy="19050"/>
          </a:xfrm>
          <a:prstGeom prst="roundRect">
            <a:avLst>
              <a:gd name="adj" fmla="val 49999"/>
            </a:avLst>
          </a:prstGeom>
          <a:solidFill>
            <a:srgbClr val="922022"/>
          </a:solidFill>
          <a:ln/>
        </p:spPr>
      </p:sp>
      <p:sp>
        <p:nvSpPr>
          <p:cNvPr id="10" name="Shape 8"/>
          <p:cNvSpPr/>
          <p:nvPr/>
        </p:nvSpPr>
        <p:spPr>
          <a:xfrm>
            <a:off x="5904211" y="2345432"/>
            <a:ext cx="383272" cy="38328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2245" y="2395091"/>
            <a:ext cx="227106" cy="283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947718" y="2403971"/>
            <a:ext cx="452396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Недели 3–4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7718" y="2725241"/>
            <a:ext cx="452396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1–3 партнёрских зала. Первые живые слоты в приложении.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12198" y="3379291"/>
            <a:ext cx="511063" cy="19050"/>
          </a:xfrm>
          <a:prstGeom prst="roundRect">
            <a:avLst>
              <a:gd name="adj" fmla="val 49999"/>
            </a:avLst>
          </a:prstGeom>
          <a:solidFill>
            <a:srgbClr val="922022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4211" y="3197225"/>
            <a:ext cx="383272" cy="38328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2245" y="3246884"/>
            <a:ext cx="227106" cy="283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20012" y="3255764"/>
            <a:ext cx="452396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Недели 5–8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0012" y="3577034"/>
            <a:ext cx="452396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Запуск пилота. Первые бронирования и органический рост.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8434" y="4231184"/>
            <a:ext cx="511063" cy="19050"/>
          </a:xfrm>
          <a:prstGeom prst="roundRect">
            <a:avLst>
              <a:gd name="adj" fmla="val 49999"/>
            </a:avLst>
          </a:prstGeom>
          <a:solidFill>
            <a:srgbClr val="9220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4211" y="4049117"/>
            <a:ext cx="383272" cy="383282"/>
          </a:xfrm>
          <a:prstGeom prst="roundRect">
            <a:avLst>
              <a:gd name="adj" fmla="val 1867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2245" y="4098776"/>
            <a:ext cx="227106" cy="2838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947718" y="4107656"/>
            <a:ext cx="452396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Месяц 3+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7718" y="4428927"/>
            <a:ext cx="452396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Масштабирование: новые города, залы, виды спорта.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0012" y="5629374"/>
            <a:ext cx="10751670" cy="602258"/>
          </a:xfrm>
          <a:prstGeom prst="roundRect">
            <a:avLst>
              <a:gd name="adj" fmla="val 11881"/>
            </a:avLst>
          </a:prstGeom>
          <a:solidFill>
            <a:srgbClr val="790709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67" y="5835352"/>
            <a:ext cx="212918" cy="17035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3639" y="5813028"/>
            <a:ext cx="1063727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Цель пилота: 100 бронирований за первый месяц без платного трафика.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E5C7673-C2CC-B8D2-A913-EE7C491E8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5072"/>
            <a:ext cx="1075167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Инвестиционный запрос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20012" y="1177230"/>
            <a:ext cx="10751670" cy="591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3700" dirty="0">
                <a:solidFill>
                  <a:srgbClr val="F65F62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</a:t>
            </a:r>
            <a:r>
              <a:rPr lang="en-US" sz="3700" dirty="0">
                <a:solidFill>
                  <a:srgbClr val="F65F62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</a:t>
            </a:r>
            <a:r>
              <a:rPr lang="ru-RU" sz="3700" dirty="0">
                <a:solidFill>
                  <a:srgbClr val="F65F62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13</a:t>
            </a:r>
            <a:r>
              <a:rPr lang="en-US" sz="3700" dirty="0">
                <a:solidFill>
                  <a:srgbClr val="F65F62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0 000 ₽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20012" y="1942207"/>
            <a:ext cx="1136125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Средства позволят запустить MVP, провести пилот с первыми партнёрами и выйти на первые 100 бронирований.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142724" y="2663774"/>
            <a:ext cx="2535968" cy="1324670"/>
          </a:xfrm>
          <a:prstGeom prst="roundRect">
            <a:avLst>
              <a:gd name="adj" fmla="val 4892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73700" y="2883654"/>
            <a:ext cx="21893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80.000р</a:t>
            </a: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— </a:t>
            </a: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Доработка сайта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73700" y="3213656"/>
            <a:ext cx="218930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Фронтенд, бэкенд, дизайн-система, тестирование.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024" y="2710319"/>
            <a:ext cx="2535968" cy="1324670"/>
          </a:xfrm>
          <a:prstGeom prst="roundRect">
            <a:avLst>
              <a:gd name="adj" fmla="val 4892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25354" y="2883654"/>
            <a:ext cx="21893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3млн р</a:t>
            </a: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— Запуск пилота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25354" y="3213656"/>
            <a:ext cx="2189306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Партнёрства с залами, маркетинг, первые пользователи.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370" y="4150678"/>
            <a:ext cx="2535968" cy="1538982"/>
          </a:xfrm>
          <a:prstGeom prst="roundRect">
            <a:avLst>
              <a:gd name="adj" fmla="val 4211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73700" y="4324013"/>
            <a:ext cx="21893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30.000</a:t>
            </a: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</a:t>
            </a: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р</a:t>
            </a: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— Платежи и поддержка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73700" y="4868327"/>
            <a:ext cx="2189306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Интеграция платёжных систем, инфраструктура, саппорт.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52024" y="4150678"/>
            <a:ext cx="2535968" cy="1538982"/>
          </a:xfrm>
          <a:prstGeom prst="roundRect">
            <a:avLst>
              <a:gd name="adj" fmla="val 4211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25354" y="4324013"/>
            <a:ext cx="21893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20.000 р</a:t>
            </a: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— Резерв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25354" y="4654015"/>
            <a:ext cx="218930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Буфер на непредвиденные расходы и итерации.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0445F4-F612-164C-E8E4-FED22742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341" y="6559827"/>
            <a:ext cx="1547659" cy="2981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574278"/>
            <a:ext cx="6179784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RentZal — это новый стандарт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20012" y="1160363"/>
            <a:ext cx="6179784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Мы превращаем хаотичный поиск игры в простой, предсказуемый и приятный путь. Каждый игрок заслуживает команду — без усилий.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20012" y="1704479"/>
            <a:ext cx="604326" cy="906463"/>
          </a:xfrm>
          <a:prstGeom prst="roundRect">
            <a:avLst>
              <a:gd name="adj" fmla="val 5000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821" y="2044303"/>
            <a:ext cx="226610" cy="226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5263" y="1855490"/>
            <a:ext cx="546453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Нашёл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20012" y="2721868"/>
            <a:ext cx="604326" cy="906463"/>
          </a:xfrm>
          <a:prstGeom prst="roundRect">
            <a:avLst>
              <a:gd name="adj" fmla="val 5000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821" y="3061692"/>
            <a:ext cx="226610" cy="2266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35263" y="2872879"/>
            <a:ext cx="546453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Забронировал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20012" y="3739257"/>
            <a:ext cx="604326" cy="906463"/>
          </a:xfrm>
          <a:prstGeom prst="roundRect">
            <a:avLst>
              <a:gd name="adj" fmla="val 5000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821" y="4079081"/>
            <a:ext cx="226610" cy="2266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35263" y="3890268"/>
            <a:ext cx="546453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Оплатил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20012" y="4756646"/>
            <a:ext cx="604326" cy="906463"/>
          </a:xfrm>
          <a:prstGeom prst="roundRect">
            <a:avLst>
              <a:gd name="adj" fmla="val 50000"/>
            </a:avLst>
          </a:prstGeom>
          <a:solidFill>
            <a:srgbClr val="790709"/>
          </a:solidFill>
          <a:ln w="6350">
            <a:solidFill>
              <a:srgbClr val="922022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8821" y="5096470"/>
            <a:ext cx="226610" cy="2266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35263" y="4907657"/>
            <a:ext cx="546453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Сыграл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720012" y="5787926"/>
            <a:ext cx="6179784" cy="495796"/>
          </a:xfrm>
          <a:prstGeom prst="roundRect">
            <a:avLst>
              <a:gd name="adj" fmla="val 12799"/>
            </a:avLst>
          </a:prstGeom>
          <a:solidFill>
            <a:srgbClr val="790709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020" y="5950446"/>
            <a:ext cx="188809" cy="1510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10835" y="5936555"/>
            <a:ext cx="6147539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RentZal</a:t>
            </a: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найди игру, собери команду, играй.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465</Words>
  <Application>Microsoft Office PowerPoint</Application>
  <PresentationFormat>Широкоэкранный</PresentationFormat>
  <Paragraphs>77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Barlow</vt:lpstr>
      <vt:lpstr>Barlow Medium</vt:lpstr>
      <vt:lpstr>Barlow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Гафур Эндибаев</dc:creator>
  <cp:lastModifiedBy>Levka Flower</cp:lastModifiedBy>
  <cp:revision>7</cp:revision>
  <dcterms:created xsi:type="dcterms:W3CDTF">2026-09-22T12:38:41Z</dcterms:created>
  <dcterms:modified xsi:type="dcterms:W3CDTF">2026-10-06T12:23:06Z</dcterms:modified>
</cp:coreProperties>
</file>