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ru-RU" sz="1000" b="0" i="0" u="none" strike="noStrike">
                <a:solidFill>
                  <a:srgbClr val="000000"/>
                </a:solidFill>
                <a:latin typeface="Aptos"/>
              </a:rPr>
              <a:t>Рост слотов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ln w="2794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350</c:v>
                </c:pt>
                <c:pt idx="1">
                  <c:v>362</c:v>
                </c:pt>
                <c:pt idx="2">
                  <c:v>375</c:v>
                </c:pt>
                <c:pt idx="3">
                  <c:v>388</c:v>
                </c:pt>
                <c:pt idx="4">
                  <c:v>402</c:v>
                </c:pt>
                <c:pt idx="5">
                  <c:v>416</c:v>
                </c:pt>
                <c:pt idx="6">
                  <c:v>430</c:v>
                </c:pt>
                <c:pt idx="7">
                  <c:v>445</c:v>
                </c:pt>
                <c:pt idx="8">
                  <c:v>461</c:v>
                </c:pt>
                <c:pt idx="9">
                  <c:v>477</c:v>
                </c:pt>
                <c:pt idx="10">
                  <c:v>494</c:v>
                </c:pt>
                <c:pt idx="11">
                  <c:v>511</c:v>
                </c:pt>
                <c:pt idx="12">
                  <c:v>529</c:v>
                </c:pt>
                <c:pt idx="13">
                  <c:v>547</c:v>
                </c:pt>
                <c:pt idx="14">
                  <c:v>567</c:v>
                </c:pt>
                <c:pt idx="15">
                  <c:v>586</c:v>
                </c:pt>
                <c:pt idx="16">
                  <c:v>607</c:v>
                </c:pt>
                <c:pt idx="17">
                  <c:v>628</c:v>
                </c:pt>
                <c:pt idx="18">
                  <c:v>650</c:v>
                </c:pt>
                <c:pt idx="19">
                  <c:v>673</c:v>
                </c:pt>
                <c:pt idx="20">
                  <c:v>696</c:v>
                </c:pt>
                <c:pt idx="21">
                  <c:v>721</c:v>
                </c:pt>
                <c:pt idx="22">
                  <c:v>746</c:v>
                </c:pt>
                <c:pt idx="23">
                  <c:v>772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B6-434F-AF57-C33788F543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794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500</c:v>
                </c:pt>
                <c:pt idx="1">
                  <c:v>530</c:v>
                </c:pt>
                <c:pt idx="2">
                  <c:v>562</c:v>
                </c:pt>
                <c:pt idx="3">
                  <c:v>596</c:v>
                </c:pt>
                <c:pt idx="4">
                  <c:v>631</c:v>
                </c:pt>
                <c:pt idx="5">
                  <c:v>669</c:v>
                </c:pt>
                <c:pt idx="6">
                  <c:v>709</c:v>
                </c:pt>
                <c:pt idx="7">
                  <c:v>752</c:v>
                </c:pt>
                <c:pt idx="8">
                  <c:v>797</c:v>
                </c:pt>
                <c:pt idx="9">
                  <c:v>845</c:v>
                </c:pt>
                <c:pt idx="10">
                  <c:v>895</c:v>
                </c:pt>
                <c:pt idx="11">
                  <c:v>949</c:v>
                </c:pt>
                <c:pt idx="12">
                  <c:v>1006</c:v>
                </c:pt>
                <c:pt idx="13">
                  <c:v>1066</c:v>
                </c:pt>
                <c:pt idx="14">
                  <c:v>1130</c:v>
                </c:pt>
                <c:pt idx="15">
                  <c:v>1198</c:v>
                </c:pt>
                <c:pt idx="16">
                  <c:v>1270</c:v>
                </c:pt>
                <c:pt idx="17">
                  <c:v>1346</c:v>
                </c:pt>
                <c:pt idx="18">
                  <c:v>1427</c:v>
                </c:pt>
                <c:pt idx="19">
                  <c:v>1513</c:v>
                </c:pt>
                <c:pt idx="20">
                  <c:v>1604</c:v>
                </c:pt>
                <c:pt idx="21">
                  <c:v>1700</c:v>
                </c:pt>
                <c:pt idx="22">
                  <c:v>1802</c:v>
                </c:pt>
                <c:pt idx="23">
                  <c:v>1910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B6-434F-AF57-C33788F543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</c:v>
                </c:pt>
              </c:strCache>
            </c:strRef>
          </c:tx>
          <c:spPr>
            <a:ln w="2794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600</c:v>
                </c:pt>
                <c:pt idx="1">
                  <c:v>651</c:v>
                </c:pt>
                <c:pt idx="2">
                  <c:v>706</c:v>
                </c:pt>
                <c:pt idx="3">
                  <c:v>766</c:v>
                </c:pt>
                <c:pt idx="4">
                  <c:v>832</c:v>
                </c:pt>
                <c:pt idx="5">
                  <c:v>902</c:v>
                </c:pt>
                <c:pt idx="6">
                  <c:v>979</c:v>
                </c:pt>
                <c:pt idx="7">
                  <c:v>1062</c:v>
                </c:pt>
                <c:pt idx="8">
                  <c:v>1152</c:v>
                </c:pt>
                <c:pt idx="9">
                  <c:v>1250</c:v>
                </c:pt>
                <c:pt idx="10">
                  <c:v>1357</c:v>
                </c:pt>
                <c:pt idx="11">
                  <c:v>1472</c:v>
                </c:pt>
                <c:pt idx="12">
                  <c:v>1597</c:v>
                </c:pt>
                <c:pt idx="13">
                  <c:v>1733</c:v>
                </c:pt>
                <c:pt idx="14">
                  <c:v>1880</c:v>
                </c:pt>
                <c:pt idx="15">
                  <c:v>2040</c:v>
                </c:pt>
                <c:pt idx="16">
                  <c:v>2213</c:v>
                </c:pt>
                <c:pt idx="17">
                  <c:v>2401</c:v>
                </c:pt>
                <c:pt idx="18">
                  <c:v>2605</c:v>
                </c:pt>
                <c:pt idx="19">
                  <c:v>2827</c:v>
                </c:pt>
                <c:pt idx="20">
                  <c:v>3067</c:v>
                </c:pt>
                <c:pt idx="21">
                  <c:v>3328</c:v>
                </c:pt>
                <c:pt idx="22">
                  <c:v>3611</c:v>
                </c:pt>
                <c:pt idx="23">
                  <c:v>3918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B6-434F-AF57-C33788F543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r>
              <a:rPr lang="ru-RU" sz="1000" b="0" i="0" u="none" strike="noStrike">
                <a:solidFill>
                  <a:srgbClr val="000000"/>
                </a:solidFill>
                <a:latin typeface="Aptos"/>
              </a:rPr>
              <a:t>Диапазон оценки, млн </a:t>
            </a:r>
            <a:r>
              <a:rPr lang="en-US" sz="1000" b="0" i="0" u="none" strike="noStrike">
                <a:solidFill>
                  <a:srgbClr val="000000"/>
                </a:solidFill>
                <a:latin typeface="Aptos"/>
              </a:rPr>
              <a:t>₽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Нижняя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EV/Revenue</c:v>
                </c:pt>
                <c:pt idx="1">
                  <c:v>VC</c:v>
                </c:pt>
                <c:pt idx="2">
                  <c:v>DCF</c:v>
                </c:pt>
                <c:pt idx="3">
                  <c:v>Итог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18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65-41BC-B802-45C5999A0F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Верхняя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EV/Revenue</c:v>
                </c:pt>
                <c:pt idx="1">
                  <c:v>VC</c:v>
                </c:pt>
                <c:pt idx="2">
                  <c:v>DCF</c:v>
                </c:pt>
                <c:pt idx="3">
                  <c:v>Итог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</c:v>
                </c:pt>
                <c:pt idx="1">
                  <c:v>35</c:v>
                </c:pt>
                <c:pt idx="2">
                  <c:v>58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65-41BC-B802-45C5999A0F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00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Мы представляем ZAL — сервис, который объединяет аренду спортивного зала, добор игроков и прозрачную оплату. Цель презентации — показать инвестору, почему проект релевантен на pre-seed стадии, какой оффер мы предлагаем и какие milestones достижимы за инвестиции.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том, что люди не хотят играть. Наоборот, рынок массового спорта большой: по данным ЕМИР/Минспорта, 80,4 млн человек систематически занимаются спортом. Но путь одиночного игрока всё ещё устроен вручную: чат, звонок, перевод капитану и риск, что кто-то не придёт. Мы закрываем не просто бронирование зала, а весь сценарий: игра, добор, оплата и правила.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первый клиент — не абстрактный «все спортсмены», а одиночка, который хочет сыграть в ближайшие 24–72 часа. Это важно для инвестора: мы сужаем стартовый сегмент, не распыляемся и проверяем ценность там, где боль выражена сильнее всего.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продаём просто бронирование. Наша ценность — собрать игру как сервис: показать слот, людей, цену, дедлайн, оплату и правила на случай недобора. Это именно та логика, которую команда уже описала в MVP и user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важно честно объяснить: 80,4 миллиона — внешний факт о систематически занимающихся спортом. А TAM/SAM/SOM — модель команды с допущениями. Мы не говорим, что весь рынок сразу наш. Мы показываем, что рынок достаточно большой, а стартуем с узкого сегмента в крупных городах.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нас нет задачи доказывать, что конкурентов нет. Наоборот: конкуренты показывают, что рынок существует. Но каждый закрывает часть сценария: одни бронируют площадку, другие собирают игроков, третьи работают с командами. Наша ниша — одиночный игрок в командном спорте, которому нужен весь путь в одном продукте.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Важный момент для инвестора — мы считаем не фантазию, а конкретный слот. Ориентир 6 тысяч рублей за час подтверждается реальными площадками. Платформа забирает 12%, но не вся комиссия остаётся нам: платёжная комиссия, УСН, возвраты и поддержка. Поэтому contribution около 603 рублей. Это честнее, чем считать 1080 рублей чистой прибыли.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этой стадии инвестор покупает снижение риска. Мы показываем, что есть MVP и аудитория, но не скрываем главный риск: нужно доказать регулярное заполнение игровых слотов. Поэтому все метрики связаны с реальной ликвидностью: fill rate, повтор, стоимость заявки и рефералы.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 не должен быть списком активностей. У нас три канала, но ядро — партнёрские залы: там уже есть аудитория и свободные слоты. Комьюнити даёт быстрые заявки, а рефералы должны снизить стоимость привлечения. Поэтому деньги инвестора идут не только в рекламу, а в воспроизводимую петлю роста.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Финансовая модель построена снизу вверх: количество проведённых слотов умножается на выручку 1080 рублей с каждого слота. После переменных расходов остаётся около 603 рублей contribution. В базовом сценарии месячная безубыточность достигается на 17-м месяце, а итоговая оценка компании находится в диапазоне 30–60 миллионов рублей.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основной инвестор — ангел или маленький pre-seed фонд, который понимает маркетплейсы и спорт/потребительские сервисы. Но второй логичный тип — стратегический партнёр: сеть спортзалов или платёжный сервис. Для них ценность не только в финансовом росте, но и в доступе к новым клиентам и платежному потоку.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5 млн рублей на 6 месяцев. Это не просто деньги на содержание команды. Мы продаём инвестору понятный эксперимент: доказать, что сервис может стабильно собирать коммерческие слоты, подключать залы и снижать стоимость привлечения через комьюнити и рефералы. Q&amp;A: 1) Почему 5 млн? — это 6 месяцев runway с продуктом, продажами и GTM. 2) Почему инвестор поверит? — есть MVP, сегмент, модель и ранняя аудитория. 3) Главный риск? — ликвидность слотов. 4) Как снижаете риск? — партнёрские залы и fill rate. 5) Почему не просто чаты? — в чатах нет оплаты, правил, max-цены и гарантии. 6) Почему 12% комиссия? — не ломает цену на игрока и даёт contribution около 603 ₽. 7) Когда прибыль? — base-сценарий выходит в месячный плюс около 17-го месяца. 8) Почему оценка 30–60 млн? — согласование EV/Revenue, VC Method и DCF. 9) Что даст стратегический инвестор? — доступ к залам, платежам и пилотам. 10) Что будет через 6 месяцев? — 25 залов, 600–700 коммерческих слотов в месяц, fill rate ≥60%.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9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terior_sports_arena_gymnasium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30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u="sng" dirty="0">
              <a:latin typeface="Bell MT" panose="020205030603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4360" y="1828800"/>
            <a:ext cx="6035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ZAL: marketplace для командных игр в спортзалах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" y="3063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ru-RU" b="1" dirty="0">
                <a:solidFill>
                  <a:schemeClr val="bg1"/>
                </a:solidFill>
                <a:latin typeface="Arial Narrow" panose="020B0606020202030204" pitchFamily="34" charset="0"/>
              </a:rPr>
              <a:t>Команда 3</a:t>
            </a:r>
          </a:p>
          <a:p>
            <a:r>
              <a:rPr lang="ru-RU" dirty="0">
                <a:solidFill>
                  <a:schemeClr val="bg1"/>
                </a:solidFill>
                <a:latin typeface="Arial Narrow" panose="020B0606020202030204" pitchFamily="34" charset="0"/>
              </a:rPr>
              <a:t>Пихтовников Лев • Брикульский Арсений • Мальцов-Лукъяненко Антон • Набиев Гафур • Зарипов Ренат</a:t>
            </a:r>
          </a:p>
        </p:txBody>
      </p:sp>
      <p:sp>
        <p:nvSpPr>
          <p:cNvPr id="8" name="Shape 5"/>
          <p:cNvSpPr/>
          <p:nvPr/>
        </p:nvSpPr>
        <p:spPr>
          <a:xfrm>
            <a:off x="612648" y="3840480"/>
            <a:ext cx="1600200" cy="301752"/>
          </a:xfrm>
          <a:prstGeom prst="roundRect">
            <a:avLst>
              <a:gd name="adj" fmla="val 24242"/>
            </a:avLst>
          </a:prstGeom>
          <a:solidFill>
            <a:srgbClr val="2F7D32">
              <a:alpha val="92000"/>
            </a:srgbClr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4088" y="390448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pre-seed / ранний рост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331720" y="3840480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2F6FB2">
              <a:alpha val="92000"/>
            </a:srgbClr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23160" y="3904488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10 000 пользователей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60520" y="384048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EF7D22">
              <a:alpha val="92000"/>
            </a:srgbClr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51960" y="390448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комиссия 12%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2648" y="62636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4F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Приложение для аренды спортивных залов и добора игроков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Проблема: игра срывается не из-за спорта, а из-за координации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Одиночке сложно быстро попасть в командную игру, а зал теряет выручку на незаполненных слотах.</a:t>
            </a:r>
            <a:endParaRPr lang="en-US" sz="1050" dirty="0">
              <a:latin typeface="Bell MT" panose="02020503060305020303" pitchFamily="18" charset="0"/>
            </a:endParaRPr>
          </a:p>
        </p:txBody>
      </p:sp>
      <p:pic>
        <p:nvPicPr>
          <p:cNvPr id="4" name="Image 0" descr="/mnt/data/a_wide_indoor_scene_in_a_modern_sports_facility_or_batch_3.png"/>
          <p:cNvPicPr>
            <a:picLocks noChangeAspect="1"/>
          </p:cNvPicPr>
          <p:nvPr/>
        </p:nvPicPr>
        <p:blipFill>
          <a:blip r:embed="rId3"/>
          <a:srcRect l="12028" r="12028"/>
          <a:stretch/>
        </p:blipFill>
        <p:spPr>
          <a:xfrm>
            <a:off x="6537960" y="1097280"/>
            <a:ext cx="512064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097280"/>
            <a:ext cx="5120640" cy="3794760"/>
          </a:xfrm>
          <a:prstGeom prst="rect">
            <a:avLst/>
          </a:prstGeom>
          <a:solidFill>
            <a:srgbClr val="071B30">
              <a:alpha val="3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94360" y="12344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8952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“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24712" y="1463040"/>
            <a:ext cx="46634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«Хочу сыграть сегодня/завтра, но не хочу 40 минут искать чат, спорить по оплате и ждать, соберётся ли состав.»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F7D22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52728" y="299008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Разрозненные чаты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52728" y="326440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нет статуса мест, оплаты и дедлайна добора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7240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2410C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52728" y="381304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Непрозрачная цена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52728" y="408736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при недоборе оставшиеся игроки переплачивают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749040" y="2971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F6FB2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🏟️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224528" y="29900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Простой залов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24528" y="326440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администраторы вручную продают свободные окна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749040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F7D32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24528" y="381304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Потеря времени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24528" y="40873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звонки, личные договорённости и отмены в последний момент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903720" y="51663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80,4 млн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903720" y="5660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занимаются физкультурой и спортом систематически в РФ, 2024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89720" y="51663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59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89720" y="56601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универсальных спортзалов в Москве на FindSport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Источники: ЕМИР/Минспорт — 80,4 млн и 60,3%; FindSport — 59 универсальных залов; репозиторий проекта — боли и JTBD сегмента.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2/12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Клиент: одиночка 18–35, который хочет войти в игру за минуты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Beachhead-сегмент выбран из материалов проекта: боль частая, решение принимается быстро, каналы доступа понятны.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Персона: Илья, 26</a:t>
            </a:r>
            <a:endParaRPr lang="en-US" sz="18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194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Работает/учится, играет 1–2 раза в неделю. Своей постоянной команды нет: друзья собираются нерегулярно.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3319272"/>
            <a:ext cx="731520" cy="301752"/>
          </a:xfrm>
          <a:prstGeom prst="roundRect">
            <a:avLst>
              <a:gd name="adj" fmla="val 24242"/>
            </a:avLst>
          </a:prstGeom>
          <a:solidFill>
            <a:srgbClr val="2F7D32">
              <a:alpha val="92000"/>
            </a:srgbClr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футзал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00200" y="3319272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2F6FB2">
              <a:alpha val="92000"/>
            </a:srgbClr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91640" y="33832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волейбол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06040" y="3319272"/>
            <a:ext cx="914400" cy="301752"/>
          </a:xfrm>
          <a:prstGeom prst="roundRect">
            <a:avLst>
              <a:gd name="adj" fmla="val 24242"/>
            </a:avLst>
          </a:prstGeom>
          <a:solidFill>
            <a:srgbClr val="EF7D22">
              <a:alpha val="92000"/>
            </a:srgbClr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97480" y="338328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баскетбол</a:t>
            </a:r>
            <a:endParaRPr lang="en-US" sz="8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JTBD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77640" y="1691640"/>
            <a:ext cx="379476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42232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“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07992" y="1920240"/>
            <a:ext cx="3063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Когда у меня свободный вечер, я хочу быстро присоединиться к игре и заранее знать максимум по цене, чтобы матч состоялся без переписок и споров.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77640" y="37033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F6FB2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53128" y="372160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Критерии выбора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53128" y="3995928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цена/max-цена, локация, вероятность проведения, уровень игроков, возврат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977640" y="4617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F7D22"/>
                </a:solidFill>
                <a:latin typeface="Bell MT" panose="02020503060305020303" pitchFamily="18" charset="0"/>
                <a:ea typeface="Segoe UI Emoji" pitchFamily="34" charset="-122"/>
                <a:cs typeface="Segoe UI Emoji" pitchFamily="34" charset="-120"/>
              </a:rPr>
              <a:t>!</a:t>
            </a:r>
            <a:endParaRPr lang="en-US" sz="1900" dirty="0">
              <a:latin typeface="Bell MT" panose="020205030603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53128" y="463600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Возражение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53128" y="4910328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«А если мне несправедливо начислят долг или игра не наберётся?»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Решение должно снять главный страх — неопределённость</a:t>
            </a:r>
            <a:endParaRPr lang="en-US" sz="1700" dirty="0">
              <a:latin typeface="Bell MT" panose="020205030603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302752" y="2011680"/>
            <a:ext cx="320040" cy="320040"/>
          </a:xfrm>
          <a:prstGeom prst="ellipse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94192" y="208483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>
              <a:latin typeface="Bell MT" panose="020205030603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732520" y="2048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слот рядом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458200" y="2331720"/>
            <a:ext cx="0" cy="411480"/>
          </a:xfrm>
          <a:prstGeom prst="line">
            <a:avLst/>
          </a:prstGeom>
          <a:noFill/>
          <a:ln w="1524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302752" y="2788920"/>
            <a:ext cx="320040" cy="320040"/>
          </a:xfrm>
          <a:prstGeom prst="ellipse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94192" y="28620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732520" y="2825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виден состав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458200" y="3108960"/>
            <a:ext cx="0" cy="411480"/>
          </a:xfrm>
          <a:prstGeom prst="line">
            <a:avLst/>
          </a:prstGeom>
          <a:noFill/>
          <a:ln w="1524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302752" y="3566160"/>
            <a:ext cx="320040" cy="320040"/>
          </a:xfrm>
          <a:prstGeom prst="ellipse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94192" y="363931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>
              <a:latin typeface="Bell MT" panose="020205030603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732520" y="3602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max-цена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58200" y="3886200"/>
            <a:ext cx="0" cy="411480"/>
          </a:xfrm>
          <a:prstGeom prst="line">
            <a:avLst/>
          </a:prstGeom>
          <a:noFill/>
          <a:ln w="1524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302752" y="4343400"/>
            <a:ext cx="320040" cy="320040"/>
          </a:xfrm>
          <a:prstGeom prst="ellipse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94192" y="441655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>
              <a:latin typeface="Bell MT" panose="020205030603050203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32520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оплата/возврат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Основание: week3/idea11-gym-rent-segment — персона, JTBD, гипотезы H1–H3; материалы практик №20 и №24.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3/12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Решение: один поток вместо чатов, звонков и ручных переводов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Каталог слотов + добор игроков + прозрачная max-цена + оплата и возвраты в одном сценарии.</a:t>
            </a:r>
            <a:endParaRPr lang="en-US" sz="1050" dirty="0">
              <a:latin typeface="Bell MT" panose="02020503060305020303" pitchFamily="18" charset="0"/>
            </a:endParaRPr>
          </a:p>
        </p:txBody>
      </p:sp>
      <p:pic>
        <p:nvPicPr>
          <p:cNvPr id="4" name="Image 0" descr="/mnt/data/a_photorealistic_marketing_style_scene_a_floating_batch_2.png"/>
          <p:cNvPicPr>
            <a:picLocks noChangeAspect="1"/>
          </p:cNvPicPr>
          <p:nvPr/>
        </p:nvPicPr>
        <p:blipFill>
          <a:blip r:embed="rId3"/>
          <a:srcRect l="22114" r="22114"/>
          <a:stretch/>
        </p:blipFill>
        <p:spPr>
          <a:xfrm>
            <a:off x="6583680" y="1051560"/>
            <a:ext cx="502920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051560"/>
            <a:ext cx="5029200" cy="5074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14173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41832" y="1581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Каталог слотов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41832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спорт, район, время, доступные места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566160" y="14173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30752" y="1581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Карточка игры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730752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состав, min игроков, дедлайн, max-цена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7240" y="2834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41832" y="2999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Join + оплата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41832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без overbooking, подтверждение места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66160" y="28346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730752" y="2999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Добор и правила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730752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уведомления, перерасчёт, возврат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91840" y="3703320"/>
            <a:ext cx="411480" cy="347472"/>
          </a:xfrm>
          <a:prstGeom prst="chevron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74920" y="3703320"/>
            <a:ext cx="411480" cy="347472"/>
          </a:xfrm>
          <a:prstGeom prst="chevron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7240" y="42519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Первый успех: за 1–2 минуты найти игру и понять максимум по цене</a:t>
            </a:r>
            <a:endParaRPr lang="en-US" sz="1700" dirty="0">
              <a:latin typeface="Bell MT" panose="02020503060305020303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7240" y="4983480"/>
            <a:ext cx="5440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MVP уже спроектирован: core-функции, user stories US-1…US-8, логика оплаты/возвратов и админка для залов.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Основание: week6/Idea_Zal — карта функций MVP и пользовательский сценарий; макет экрана — иллюстрация концепции.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4/12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Рынок: массовый спорт растёт, но сценарий “войти в игру” ещё ручной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Внешние данные дают масштаб; TAM/SAM/SOM — прозрачная модель с командными допущениями.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80,4 млн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7282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систематически занимаются спортом в РФ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54680" y="12344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60,3%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54680" y="17282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населения 3–79 лет, по ЕМИР/Минспорт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94960" y="1234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70%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94960" y="17282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цель Стратегии-2030 по регулярным занятиям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89520" y="12344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59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89520" y="17282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универсальных спортзалов в Москве на FindSport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46920" y="12344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2410C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6 000 ₽/ч</a:t>
            </a:r>
            <a:endParaRPr lang="en-US" sz="2500" dirty="0">
              <a:latin typeface="Bell MT" panose="020205030603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46920" y="17282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ориентир аренды поля/зала в Москве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Market sizing: проверяемый beachhead, а не “весь спорт”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TAM</a:t>
            </a:r>
            <a:endParaRPr lang="en-US" sz="800" dirty="0">
              <a:latin typeface="Bell MT" panose="020205030603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25880" y="3246120"/>
            <a:ext cx="4572000" cy="256032"/>
          </a:xfrm>
          <a:prstGeom prst="rect">
            <a:avLst/>
          </a:prstGeom>
          <a:solidFill>
            <a:srgbClr val="E5EDF5"/>
          </a:solidFill>
          <a:ln w="12700">
            <a:solidFill>
              <a:srgbClr val="E5EDF5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25880" y="3246120"/>
            <a:ext cx="4572000" cy="256032"/>
          </a:xfrm>
          <a:prstGeom prst="rect">
            <a:avLst/>
          </a:prstGeom>
          <a:solidFill>
            <a:srgbClr val="2F7D32"/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32735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139 млрд ₽/год</a:t>
            </a:r>
            <a:endParaRPr lang="en-US" sz="830" dirty="0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3858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SAM</a:t>
            </a:r>
            <a:endParaRPr lang="en-US" sz="800" dirty="0">
              <a:latin typeface="Bell MT" panose="020205030603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325880" y="3813048"/>
            <a:ext cx="4572000" cy="256032"/>
          </a:xfrm>
          <a:prstGeom prst="rect">
            <a:avLst/>
          </a:prstGeom>
          <a:solidFill>
            <a:srgbClr val="E5EDF5"/>
          </a:solidFill>
          <a:ln w="12700">
            <a:solidFill>
              <a:srgbClr val="E5EDF5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25880" y="3813048"/>
            <a:ext cx="529563" cy="256032"/>
          </a:xfrm>
          <a:prstGeom prst="rect">
            <a:avLst/>
          </a:prstGeom>
          <a:solidFill>
            <a:srgbClr val="2F6FB2"/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80760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16,1 млрд ₽/год</a:t>
            </a:r>
            <a:endParaRPr lang="en-US" sz="830" dirty="0">
              <a:latin typeface="Bell MT" panose="020205030603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44256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SOM</a:t>
            </a:r>
            <a:endParaRPr lang="en-US" sz="800" dirty="0">
              <a:latin typeface="Bell MT" panose="020205030603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325880" y="4379976"/>
            <a:ext cx="4572000" cy="256032"/>
          </a:xfrm>
          <a:prstGeom prst="rect">
            <a:avLst/>
          </a:prstGeom>
          <a:solidFill>
            <a:srgbClr val="E5EDF5"/>
          </a:solidFill>
          <a:ln w="12700">
            <a:solidFill>
              <a:srgbClr val="E5EDF5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325880" y="4379976"/>
            <a:ext cx="228600" cy="256032"/>
          </a:xfrm>
          <a:prstGeom prst="rect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80760" y="44074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575 млн ₽ GMV/год</a:t>
            </a:r>
            <a:endParaRPr lang="en-US" sz="830" dirty="0">
              <a:latin typeface="Bell MT" panose="020205030603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51663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Допущения модели: 12% регулярных платящих, 24 игры/год, ARPU 14 400 ₽/год, take-rate 12%.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92440" y="306324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57032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“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22792" y="3291840"/>
            <a:ext cx="2651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Окно возможности — объединить booking, добор игроков и прозрачный split payment в одном сценарии.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Источники: ЕМИР/Минспорт 2024; Стратегия-2030; FindSport; СК «ИГРА»; market sizing — расчёт команды на основе допущений.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5/12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Конкуренция: решения есть, но они закрывают сценарий частями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Наше отличие — полный путь одиночного игрока от поиска слота до оплаты и проведения игры.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078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Фокус на доборе игроков</a:t>
            </a:r>
            <a:endParaRPr lang="en-US" sz="800" dirty="0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95360" y="5669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Фокус на booking площадок</a:t>
            </a:r>
            <a:endParaRPr lang="en-US" sz="800" dirty="0">
              <a:latin typeface="Bell MT" panose="020205030603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5166360"/>
            <a:ext cx="8869680" cy="0"/>
          </a:xfrm>
          <a:prstGeom prst="line">
            <a:avLst/>
          </a:prstGeom>
          <a:noFill/>
          <a:ln w="15240">
            <a:solidFill>
              <a:srgbClr val="D6E1E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5166360"/>
            <a:ext cx="0" cy="0"/>
          </a:xfrm>
          <a:prstGeom prst="line">
            <a:avLst/>
          </a:prstGeom>
          <a:noFill/>
          <a:ln w="15240">
            <a:solidFill>
              <a:srgbClr val="D6E1E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28800" y="4297680"/>
            <a:ext cx="411480" cy="411480"/>
          </a:xfrm>
          <a:prstGeom prst="ellipse">
            <a:avLst/>
          </a:prstGeom>
          <a:solidFill>
            <a:srgbClr val="5B677A">
              <a:alpha val="85000"/>
            </a:srgbClr>
          </a:solidFill>
          <a:ln w="12700">
            <a:solidFill>
              <a:srgbClr val="5B677A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08760" y="47731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Telegram/VK</a:t>
            </a:r>
            <a:endParaRPr lang="en-US" sz="720" dirty="0">
              <a:latin typeface="Bell MT" panose="020205030603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17520" y="2194560"/>
            <a:ext cx="411480" cy="411480"/>
          </a:xfrm>
          <a:prstGeom prst="ellipse">
            <a:avLst/>
          </a:prstGeom>
          <a:solidFill>
            <a:srgbClr val="EF7D22">
              <a:alpha val="85000"/>
            </a:srgbClr>
          </a:solidFill>
          <a:ln w="12700">
            <a:solidFill>
              <a:srgbClr val="EF7D2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97480" y="2670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Omby</a:t>
            </a:r>
            <a:endParaRPr lang="en-US" sz="720" dirty="0">
              <a:latin typeface="Bell MT" panose="020205030603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23360" y="1965960"/>
            <a:ext cx="411480" cy="411480"/>
          </a:xfrm>
          <a:prstGeom prst="ellipse">
            <a:avLst/>
          </a:prstGeom>
          <a:solidFill>
            <a:srgbClr val="EF7D22">
              <a:alpha val="85000"/>
            </a:srgbClr>
          </a:solidFill>
          <a:ln w="12700">
            <a:solidFill>
              <a:srgbClr val="EF7D2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03320" y="24414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OpenSports</a:t>
            </a:r>
            <a:endParaRPr lang="en-US" sz="720" dirty="0">
              <a:latin typeface="Bell MT" panose="020205030603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3291840"/>
            <a:ext cx="411480" cy="411480"/>
          </a:xfrm>
          <a:prstGeom prst="ellipse">
            <a:avLst/>
          </a:prstGeom>
          <a:solidFill>
            <a:srgbClr val="5B677A">
              <a:alpha val="85000"/>
            </a:srgbClr>
          </a:solidFill>
          <a:ln w="12700">
            <a:solidFill>
              <a:srgbClr val="5B677A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43400" y="37673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Spond</a:t>
            </a:r>
            <a:endParaRPr lang="en-US" sz="720" dirty="0">
              <a:latin typeface="Bell MT" panose="020205030603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2743200"/>
            <a:ext cx="411480" cy="411480"/>
          </a:xfrm>
          <a:prstGeom prst="ellipse">
            <a:avLst/>
          </a:prstGeom>
          <a:solidFill>
            <a:srgbClr val="2F6FB2">
              <a:alpha val="85000"/>
            </a:srgbClr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72200" y="32186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Playtomic</a:t>
            </a:r>
            <a:endParaRPr lang="en-US" sz="720" dirty="0">
              <a:latin typeface="Bell MT" panose="020205030603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80960" y="3657600"/>
            <a:ext cx="411480" cy="411480"/>
          </a:xfrm>
          <a:prstGeom prst="ellipse">
            <a:avLst/>
          </a:prstGeom>
          <a:solidFill>
            <a:srgbClr val="2F6FB2">
              <a:alpha val="85000"/>
            </a:srgbClr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60920" y="41330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Sportin</a:t>
            </a:r>
            <a:endParaRPr lang="en-US" sz="720" dirty="0">
              <a:latin typeface="Bell MT" panose="020205030603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2926080"/>
            <a:ext cx="411480" cy="411480"/>
          </a:xfrm>
          <a:prstGeom prst="ellipse">
            <a:avLst/>
          </a:prstGeom>
          <a:solidFill>
            <a:srgbClr val="2F6FB2">
              <a:alpha val="85000"/>
            </a:srgbClr>
          </a:solidFill>
          <a:ln w="12700">
            <a:solidFill>
              <a:srgbClr val="2F6FB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26680" y="34015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CourtPass</a:t>
            </a:r>
            <a:endParaRPr lang="en-US" sz="720" dirty="0">
              <a:latin typeface="Bell MT" panose="020205030603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594360" cy="594360"/>
          </a:xfrm>
          <a:prstGeom prst="ellipse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92440" y="22677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ZAL</a:t>
            </a:r>
            <a:endParaRPr lang="en-US" sz="820" dirty="0">
              <a:latin typeface="Bell MT" panose="020205030603050203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0120" y="57698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Заменители: чаты, звонки администратору, ручной сбор денег. Их сила — привычка; слабость — отсутствие гарантий.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29400" y="5166360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12280" y="53400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Позиционирование ZAL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12280" y="5614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booking + добор + max-цена + split payment + правила недобора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Основание: конкурентный анализ проекта — Sportin, Omby, Playo/CourtPass, Playtomic, OpenSports, Spond и ручные замены.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Бизнес-модель: 12% take-rate с проведённого слота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Экономика считается от GMV бронирований; один слот даёт около 603 ₽ contribution после переменных вычетов.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Юнит-экономика слота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Аренда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23160" y="1920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6 000 ₽/ч × 1,5 ч = 9 000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Выручка сервиса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9 000 × 12% = 1 080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28712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Эквайринг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23160" y="2871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10 080 × 2,8% ≈ −282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" y="33467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УСН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23160" y="3346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1 080 × 6% ≈ −65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382219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Резерв/поддержка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23160" y="3822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−130 ₽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120" y="429768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Contribution</a:t>
            </a:r>
            <a:endParaRPr lang="en-US" sz="860" dirty="0">
              <a:latin typeface="Bell MT" panose="020205030603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423160" y="4297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≈603 ₽/слот</a:t>
            </a:r>
            <a:endParaRPr lang="en-US" sz="950" dirty="0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Дополнительные доходы позже: приоритет в выдаче, премиум-слоты, B2B-аналитика для залов.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20640" y="196596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0352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Игрок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0" y="24871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платит долю</a:t>
            </a:r>
            <a:endParaRPr lang="en-US" sz="750" dirty="0">
              <a:latin typeface="Bell MT" panose="020205030603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03720" y="2286000"/>
            <a:ext cx="320040" cy="320040"/>
          </a:xfrm>
          <a:prstGeom prst="chevron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60920" y="196596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4380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Платформа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43800" y="24871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удерживает 12%</a:t>
            </a:r>
            <a:endParaRPr lang="en-US" sz="750" dirty="0">
              <a:latin typeface="Bell MT" panose="020205030603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0" y="2286000"/>
            <a:ext cx="320040" cy="320040"/>
          </a:xfrm>
          <a:prstGeom prst="chevron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01200" y="196596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84080" y="21762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Зал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784080" y="24871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получает оплату</a:t>
            </a:r>
            <a:endParaRPr lang="en-US" sz="750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0" y="39776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≈1 060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слотов/мес. нужно для операционного break-even при fixed ≈640 тыс. ₽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12480" y="39776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17-й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1248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месяц: base-сценарий выходит на месячную безубыточность с учётом роста Opex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Источники: СК «ИГРА» — ориентир 6 000 ₽/ч; ЮKassa — эквайринг от 2,8%; ФНС — УСН 6%; остальное — расчёт команды.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7/12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Traction / validation: что уже есть и что снижает риск инвестора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Стадия: работающий MVP / ранний рост; основной риск — доказать повторяемую ликвидность слотов.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10 000</a:t>
            </a:r>
            <a:endParaRPr lang="en-US" sz="22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пользователей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внутренние данные проекта</a:t>
            </a:r>
            <a:endParaRPr lang="en-US" sz="680" dirty="0">
              <a:latin typeface="Bell MT" panose="020205030603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74720" y="12344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11880" y="1508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MVP</a:t>
            </a:r>
            <a:endParaRPr lang="en-US" sz="220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11880" y="19476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ядро реализуемо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0" y="22128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каталог, карточка, join, оплата, admin API</a:t>
            </a:r>
            <a:endParaRPr lang="en-US" sz="680" dirty="0">
              <a:latin typeface="Bell MT" panose="020205030603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12344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508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>
              <a:latin typeface="Bell MT" panose="020205030603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19476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канала GTM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46520" y="22128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залы, комьюнити, рефералы</a:t>
            </a:r>
            <a:endParaRPr lang="en-US" sz="680" dirty="0">
              <a:latin typeface="Bell MT" panose="020205030603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52560" y="12344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8FBFE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89720" y="1508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30–60 млн ₽</a:t>
            </a:r>
            <a:endParaRPr lang="en-US" sz="2200" dirty="0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89720" y="194767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диапазон оценки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35440" y="22128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 3 методам из практики №24</a:t>
            </a:r>
            <a:endParaRPr lang="en-US" sz="680" dirty="0"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Текущие проверяемые метрики</a:t>
            </a:r>
            <a:endParaRPr lang="en-US" sz="1600" dirty="0">
              <a:latin typeface="Bell MT" panose="02020503060305020303" pitchFamily="18" charset="0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11880"/>
          <a:ext cx="667512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Метрика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Цель на 6 мес.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Зачем инвестору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Fill rate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≥60%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доказывает, что слоты реально собираются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&lt;250 ₽/заявка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снижает риск дорогого привлечения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Повтор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≥30%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подтверждает retention и LTV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Рефералы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15–20%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уменьшают зависимость от рекламы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001000" y="3429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165592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“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531352" y="3657600"/>
            <a:ext cx="25603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Главная проверка: не просто “пользователи есть”, а “игры собираются, оплачиваются и повторяются”.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138160" y="5120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Команда: 3 fullstack-разработчика + фриланс-дизайн; режим — поддержка и квартальные крупные обновления.</a:t>
            </a:r>
            <a:endParaRPr lang="en-US" sz="870" dirty="0">
              <a:latin typeface="Bell MT" panose="02020503060305020303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Основание: репозиторий SNKI/MVP; практики №20/24; данные 10 000 пользователей — внутренние данные команды.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8/12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GTM: стартуем через партнёрские залы, комьюнити и рефералы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Ядро роста — партнёрства с залами + комьюнити-петля через игроков.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337560" cy="39776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Партнёрские залы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подключить 5–7 залов в первой волне; QR и ссылки на игровые слоты; цель: 150 заявок, CR &gt;20%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4251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зал → слот → игроки → кейс → новые залы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3337560" cy="39776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Комьюнити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2423160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посты в Telegram/VK и вузах; сравнить с платной рекламой; цель: CPL &lt;250 ₽ за заявку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0" y="4251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пост → заявка → игра → отзыв → новый пост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75320" y="1325880"/>
            <a:ext cx="3337560" cy="39776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496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Рефералы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49640" y="2423160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бонус за приглашённого игрока; проверить долю новых участников по приглашениям; цель: 15–20%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49640" y="4251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игрок → друг → игра → бонус → повтор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57607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На 0–3 мес.: доказать канал и unit economics. На 3–12 мес.: масштабировать залы и повторные игры.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Основание: практика №24 — growth loops, AARRR, цели каналов; показатели CR/CPL/referral — целевые ориентиры экспериментов команды.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9/12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Финансы: сценарии зависят от темпа роста проведённых слотов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Выручка = слоты × 1 080 ₽; contribution ≈603 ₽/слот; break-even в base — 17-й месяц.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9692640" cy="1600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Сценарий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M24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Выручка 24 мес.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Опер. результат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Безубыт.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Консервативный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13,9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−9,2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нет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Базовый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1 910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27,4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−3,2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 мес.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Оптимистичный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1 472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3 918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46,4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+3,6 млн ₽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 мес.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85800" y="3154680"/>
          <a:ext cx="5166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446520" y="3154680"/>
          <a:ext cx="4754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Основание: финансовая модель практики №24; исправленная выручка optimistic = 46,4 млн ₽; оценка компании — 30–60 млн ₽ по 3 методам.</a:t>
            </a:r>
            <a:endParaRPr lang="en-US" sz="600" dirty="0"/>
          </a:p>
        </p:txBody>
      </p:sp>
      <p:sp>
        <p:nvSpPr>
          <p:cNvPr id="8" name="Text 3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/>
          </a:p>
        </p:txBody>
      </p:sp>
      <p:sp>
        <p:nvSpPr>
          <p:cNvPr id="9" name="Text 4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10/12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Persona: кто нам нужен и почему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Лучший инвестор — не “любой с деньгами”, а партнёр, который снижает риск каналов и пилотов.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109960" cy="292608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Профиль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Основной: бизнес-ангел / pre-seed фонд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b="1" dirty="0">
                          <a:solidFill>
                            <a:srgbClr val="12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Альтернативный: стратегический партнёр / CVC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Стадия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MVP / ранний рост / первые метрики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пилоты, интеграции, доступ к аудитории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Чек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3–10 млн ₽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ресурсы + деньги / пилотный бюджет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Интересы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marketplace, sport-tech, consumer app, payments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спортзалы, фитнес-сети, платёжные сервисы, proptech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Что хочет видеть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10 000 пользователей, рост слотов, fill rate, unit economics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пилот с залами, операционное снижение рутины, платежи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Почему мы интересны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узкий beachhead + понятная комиссия 12%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40" dirty="0">
                          <a:solidFill>
                            <a:srgbClr val="1F2A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даем новый канал загрузки залов и онлайн-оплату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4434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Критерии shortlist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" y="4864608"/>
            <a:ext cx="1005840" cy="301752"/>
          </a:xfrm>
          <a:prstGeom prst="roundRect">
            <a:avLst>
              <a:gd name="adj" fmla="val 24242"/>
            </a:avLst>
          </a:prstGeom>
          <a:solidFill>
            <a:srgbClr val="2F6FB2">
              <a:alpha val="92000"/>
            </a:srgbClr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" y="4928616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1920240" y="4864608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2F7D32">
              <a:alpha val="92000"/>
            </a:srgbClr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2011680" y="4928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чек 3–10 млн ₽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20440" y="4864608"/>
            <a:ext cx="1645920" cy="301752"/>
          </a:xfrm>
          <a:prstGeom prst="roundRect">
            <a:avLst>
              <a:gd name="adj" fmla="val 24242"/>
            </a:avLst>
          </a:prstGeom>
          <a:solidFill>
            <a:srgbClr val="EF7D22">
              <a:alpha val="92000"/>
            </a:srgbClr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611880" y="492861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спорт / marketplace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" name="Shape 9"/>
          <p:cNvSpPr/>
          <p:nvPr/>
        </p:nvSpPr>
        <p:spPr>
          <a:xfrm>
            <a:off x="5349240" y="4864608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123763">
              <a:alpha val="92000"/>
            </a:srgbClr>
          </a:solidFill>
          <a:ln w="12700">
            <a:solidFill>
              <a:srgbClr val="1237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40680" y="4928616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помогает с B2B-залами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406640" y="4864608"/>
            <a:ext cx="1965960" cy="301752"/>
          </a:xfrm>
          <a:prstGeom prst="roundRect">
            <a:avLst>
              <a:gd name="adj" fmla="val 24242"/>
            </a:avLst>
          </a:prstGeom>
          <a:solidFill>
            <a:srgbClr val="C2410C">
              <a:alpha val="92000"/>
            </a:srgbClr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7498080" y="4928616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понимает риск ликвидности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601200" y="4864608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2F6FB2">
              <a:alpha val="92000"/>
            </a:srgbClr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9692640" y="492861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горизонт 3–5 лет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Основание: Практическое занятие №26 — investor persona, профиль инвестора, оффер и инвестиционный deck.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11/12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Оффер: 5 млн ₽ на 6 месяцев для доказательства масштабируемости</a:t>
            </a:r>
            <a:endParaRPr lang="en-US" sz="27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624" y="72237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Деньги идут не “на разработку вообще”, а на milestones, которые повышают оценку и снижают риск.</a:t>
            </a:r>
            <a:endParaRPr lang="en-US" sz="1050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5 млн ₽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Ask: конвертируемый займ / pre-seed; ориентир оценки 30–60 млн ₽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20440" y="1188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8–14%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2044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ориентир доли при раунде 5 млн ₽ и pre-money 30–60 млн ₽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63640" y="11887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F7D2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 мес.</a:t>
            </a:r>
            <a:endParaRPr lang="en-US" sz="3100" dirty="0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6364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горизонт инвестиционного эксперимента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Use of funds</a:t>
            </a:r>
            <a:endParaRPr lang="en-US" sz="1500" dirty="0">
              <a:latin typeface="Bell MT" panose="020205030603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2926080" cy="502920"/>
          </a:xfrm>
          <a:prstGeom prst="rect">
            <a:avLst/>
          </a:prstGeom>
          <a:solidFill>
            <a:srgbClr val="2F6FB2"/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49040" y="3246120"/>
            <a:ext cx="1609344" cy="502920"/>
          </a:xfrm>
          <a:prstGeom prst="rect">
            <a:avLst/>
          </a:prstGeom>
          <a:solidFill>
            <a:srgbClr val="2F7D32"/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58384" y="3246120"/>
            <a:ext cx="1316736" cy="502920"/>
          </a:xfrm>
          <a:prstGeom prst="rect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75120" y="3246120"/>
            <a:ext cx="585216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60336" y="3246120"/>
            <a:ext cx="438912" cy="502920"/>
          </a:xfrm>
          <a:prstGeom prst="rect">
            <a:avLst/>
          </a:prstGeom>
          <a:solidFill>
            <a:srgbClr val="123763"/>
          </a:solidFill>
          <a:ln w="12700">
            <a:solidFill>
              <a:srgbClr val="1237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99248" y="3246120"/>
            <a:ext cx="438912" cy="502920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8680" y="3977640"/>
            <a:ext cx="164592" cy="164592"/>
          </a:xfrm>
          <a:prstGeom prst="rect">
            <a:avLst/>
          </a:prstGeom>
          <a:solidFill>
            <a:srgbClr val="2F6FB2"/>
          </a:solidFill>
          <a:ln w="12700">
            <a:solidFill>
              <a:srgbClr val="2F6F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5568" y="3959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Продукт/разработка — 2.0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11880" y="3977640"/>
            <a:ext cx="164592" cy="164592"/>
          </a:xfrm>
          <a:prstGeom prst="rect">
            <a:avLst/>
          </a:prstGeom>
          <a:solidFill>
            <a:srgbClr val="2F7D32"/>
          </a:solidFill>
          <a:ln w="12700">
            <a:solidFill>
              <a:srgbClr val="2F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58768" y="3959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B2B-залы — 1.1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55080" y="3977640"/>
            <a:ext cx="164592" cy="164592"/>
          </a:xfrm>
          <a:prstGeom prst="rect">
            <a:avLst/>
          </a:prstGeom>
          <a:solidFill>
            <a:srgbClr val="EF7D22"/>
          </a:solidFill>
          <a:ln w="12700">
            <a:solidFill>
              <a:srgbClr val="EF7D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01968" y="39593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GTM/комьюнити — 0.9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68680" y="4361688"/>
            <a:ext cx="16459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15568" y="4343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Юр./ПДн/безопасность — 0.4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11880" y="4361688"/>
            <a:ext cx="164592" cy="164592"/>
          </a:xfrm>
          <a:prstGeom prst="rect">
            <a:avLst/>
          </a:prstGeom>
          <a:solidFill>
            <a:srgbClr val="123763"/>
          </a:solidFill>
          <a:ln w="12700">
            <a:solidFill>
              <a:srgbClr val="1237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58768" y="4343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Инфра/API — 0.3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4361688"/>
            <a:ext cx="164592" cy="16459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Bell MT" panose="020205030603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01968" y="4343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Резерв — 0.3 млн</a:t>
            </a:r>
            <a:endParaRPr lang="en-US" sz="740" dirty="0">
              <a:latin typeface="Bell MT" panose="020205030603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61120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763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Milestones на инвестиции</a:t>
            </a:r>
            <a:endParaRPr lang="en-US" sz="1500" dirty="0">
              <a:latin typeface="Bell MT" panose="020205030603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0982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25 залов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131552" y="31638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подключены как партнёры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98280" y="3566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600–700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131552" y="35753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коммерческих слотов/мес.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98280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≥60%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131552" y="398678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fill rate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98280" y="4389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&lt;250 ₽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131552" y="43982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стоимость заявки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09828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≥30%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131552" y="48097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повторное участие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098280" y="5212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6FB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15–20%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131552" y="52212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новые игроки через рефералы</a:t>
            </a:r>
            <a:endParaRPr lang="en-US" sz="780" dirty="0">
              <a:latin typeface="Bell MT" panose="02020503060305020303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2960" y="5074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7D32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Investment thesis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" y="54223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F2A37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Растущий массовый спорт + ручная координация игр + доказуемая unit-экономика слота = возможность занять узкую нишу до масштабирования в другие города и сегменты.</a:t>
            </a:r>
            <a:endParaRPr lang="en-US" sz="1060" dirty="0">
              <a:latin typeface="Bell MT" panose="02020503060305020303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864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7180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Источники и основания: Практика №26; финансовая модель №24; ЕМИР/Минспорт; FindSport; СК «ИГРА»; ЮKassa; ФНС; расчёты команды.</a:t>
            </a:r>
            <a:endParaRPr lang="en-US" sz="600" dirty="0">
              <a:latin typeface="Bell MT" panose="02020503060305020303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11480" y="651967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20" dirty="0">
              <a:latin typeface="Bell MT" panose="02020503060305020303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115568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7A8796"/>
                </a:solidFill>
                <a:latin typeface="Bell MT" panose="02020503060305020303" pitchFamily="18" charset="0"/>
                <a:ea typeface="Aptos" pitchFamily="34" charset="-122"/>
                <a:cs typeface="Aptos" pitchFamily="34" charset="-120"/>
              </a:rPr>
              <a:t>12/12</a:t>
            </a:r>
            <a:endParaRPr lang="en-US" sz="65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2508</Words>
  <Application>Microsoft Office PowerPoint</Application>
  <PresentationFormat>Широкоэкранный</PresentationFormat>
  <Paragraphs>308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Narrow</vt:lpstr>
      <vt:lpstr>Bell MT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Zal / Sports Hall Booking Startup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Инвестиционный deck: аренда спортивных залов и добор игроков</dc:title>
  <dc:subject>Практическое занятие №26 — инвестиционный оффер и pitch deck</dc:subject>
  <dc:creator>Команда стартапа</dc:creator>
  <cp:lastModifiedBy>Арсений Б.</cp:lastModifiedBy>
  <cp:revision>4</cp:revision>
  <dcterms:created xsi:type="dcterms:W3CDTF">2026-05-05T10:43:26Z</dcterms:created>
  <dcterms:modified xsi:type="dcterms:W3CDTF">2026-05-05T11:28:48Z</dcterms:modified>
</cp:coreProperties>
</file>