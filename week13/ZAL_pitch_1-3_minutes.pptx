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ru-RU" sz="1000" b="0" i="0" u="none" strike="noStrike">
                <a:solidFill>
                  <a:srgbClr val="000000"/>
                </a:solidFill>
                <a:latin typeface="Aptos"/>
              </a:rPr>
              <a:t>Рост слотов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ln w="2794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350</c:v>
                </c:pt>
                <c:pt idx="1">
                  <c:v>362</c:v>
                </c:pt>
                <c:pt idx="2">
                  <c:v>375</c:v>
                </c:pt>
                <c:pt idx="3">
                  <c:v>388</c:v>
                </c:pt>
                <c:pt idx="4">
                  <c:v>402</c:v>
                </c:pt>
                <c:pt idx="5">
                  <c:v>416</c:v>
                </c:pt>
                <c:pt idx="6">
                  <c:v>430</c:v>
                </c:pt>
                <c:pt idx="7">
                  <c:v>445</c:v>
                </c:pt>
                <c:pt idx="8">
                  <c:v>461</c:v>
                </c:pt>
                <c:pt idx="9">
                  <c:v>477</c:v>
                </c:pt>
                <c:pt idx="10">
                  <c:v>494</c:v>
                </c:pt>
                <c:pt idx="11">
                  <c:v>511</c:v>
                </c:pt>
                <c:pt idx="12">
                  <c:v>529</c:v>
                </c:pt>
                <c:pt idx="13">
                  <c:v>547</c:v>
                </c:pt>
                <c:pt idx="14">
                  <c:v>567</c:v>
                </c:pt>
                <c:pt idx="15">
                  <c:v>586</c:v>
                </c:pt>
                <c:pt idx="16">
                  <c:v>607</c:v>
                </c:pt>
                <c:pt idx="17">
                  <c:v>628</c:v>
                </c:pt>
                <c:pt idx="18">
                  <c:v>650</c:v>
                </c:pt>
                <c:pt idx="19">
                  <c:v>673</c:v>
                </c:pt>
                <c:pt idx="20">
                  <c:v>696</c:v>
                </c:pt>
                <c:pt idx="21">
                  <c:v>721</c:v>
                </c:pt>
                <c:pt idx="22">
                  <c:v>746</c:v>
                </c:pt>
                <c:pt idx="23">
                  <c:v>772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1F-472A-9818-E2654381D5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794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500</c:v>
                </c:pt>
                <c:pt idx="1">
                  <c:v>530</c:v>
                </c:pt>
                <c:pt idx="2">
                  <c:v>562</c:v>
                </c:pt>
                <c:pt idx="3">
                  <c:v>596</c:v>
                </c:pt>
                <c:pt idx="4">
                  <c:v>631</c:v>
                </c:pt>
                <c:pt idx="5">
                  <c:v>669</c:v>
                </c:pt>
                <c:pt idx="6">
                  <c:v>709</c:v>
                </c:pt>
                <c:pt idx="7">
                  <c:v>752</c:v>
                </c:pt>
                <c:pt idx="8">
                  <c:v>797</c:v>
                </c:pt>
                <c:pt idx="9">
                  <c:v>845</c:v>
                </c:pt>
                <c:pt idx="10">
                  <c:v>895</c:v>
                </c:pt>
                <c:pt idx="11">
                  <c:v>949</c:v>
                </c:pt>
                <c:pt idx="12">
                  <c:v>1006</c:v>
                </c:pt>
                <c:pt idx="13">
                  <c:v>1066</c:v>
                </c:pt>
                <c:pt idx="14">
                  <c:v>1130</c:v>
                </c:pt>
                <c:pt idx="15">
                  <c:v>1198</c:v>
                </c:pt>
                <c:pt idx="16">
                  <c:v>1270</c:v>
                </c:pt>
                <c:pt idx="17">
                  <c:v>1346</c:v>
                </c:pt>
                <c:pt idx="18">
                  <c:v>1427</c:v>
                </c:pt>
                <c:pt idx="19">
                  <c:v>1513</c:v>
                </c:pt>
                <c:pt idx="20">
                  <c:v>1604</c:v>
                </c:pt>
                <c:pt idx="21">
                  <c:v>1700</c:v>
                </c:pt>
                <c:pt idx="22">
                  <c:v>1802</c:v>
                </c:pt>
                <c:pt idx="23">
                  <c:v>1910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21F-472A-9818-E2654381D5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</c:v>
                </c:pt>
              </c:strCache>
            </c:strRef>
          </c:tx>
          <c:spPr>
            <a:ln w="2794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600</c:v>
                </c:pt>
                <c:pt idx="1">
                  <c:v>651</c:v>
                </c:pt>
                <c:pt idx="2">
                  <c:v>706</c:v>
                </c:pt>
                <c:pt idx="3">
                  <c:v>766</c:v>
                </c:pt>
                <c:pt idx="4">
                  <c:v>832</c:v>
                </c:pt>
                <c:pt idx="5">
                  <c:v>902</c:v>
                </c:pt>
                <c:pt idx="6">
                  <c:v>979</c:v>
                </c:pt>
                <c:pt idx="7">
                  <c:v>1062</c:v>
                </c:pt>
                <c:pt idx="8">
                  <c:v>1152</c:v>
                </c:pt>
                <c:pt idx="9">
                  <c:v>1250</c:v>
                </c:pt>
                <c:pt idx="10">
                  <c:v>1357</c:v>
                </c:pt>
                <c:pt idx="11">
                  <c:v>1472</c:v>
                </c:pt>
                <c:pt idx="12">
                  <c:v>1597</c:v>
                </c:pt>
                <c:pt idx="13">
                  <c:v>1733</c:v>
                </c:pt>
                <c:pt idx="14">
                  <c:v>1880</c:v>
                </c:pt>
                <c:pt idx="15">
                  <c:v>2040</c:v>
                </c:pt>
                <c:pt idx="16">
                  <c:v>2213</c:v>
                </c:pt>
                <c:pt idx="17">
                  <c:v>2401</c:v>
                </c:pt>
                <c:pt idx="18">
                  <c:v>2605</c:v>
                </c:pt>
                <c:pt idx="19">
                  <c:v>2827</c:v>
                </c:pt>
                <c:pt idx="20">
                  <c:v>3067</c:v>
                </c:pt>
                <c:pt idx="21">
                  <c:v>3328</c:v>
                </c:pt>
                <c:pt idx="22">
                  <c:v>3611</c:v>
                </c:pt>
                <c:pt idx="23">
                  <c:v>3918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21F-472A-9818-E2654381D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ru-RU" sz="1000" b="0" i="0" u="none" strike="noStrike">
                <a:solidFill>
                  <a:srgbClr val="000000"/>
                </a:solidFill>
                <a:latin typeface="Aptos"/>
              </a:rPr>
              <a:t>Диапазон оценки, млн </a:t>
            </a:r>
            <a:r>
              <a:rPr lang="en-US" sz="1000" b="0" i="0" u="none" strike="noStrike">
                <a:solidFill>
                  <a:srgbClr val="000000"/>
                </a:solidFill>
                <a:latin typeface="Aptos"/>
              </a:rPr>
              <a:t>₽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Нижняя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EV/Revenue</c:v>
                </c:pt>
                <c:pt idx="1">
                  <c:v>VC</c:v>
                </c:pt>
                <c:pt idx="2">
                  <c:v>DCF</c:v>
                </c:pt>
                <c:pt idx="3">
                  <c:v>Итог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18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E8-4D9B-82C6-CAAA8743E3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Верхняя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EV/Revenue</c:v>
                </c:pt>
                <c:pt idx="1">
                  <c:v>VC</c:v>
                </c:pt>
                <c:pt idx="2">
                  <c:v>DCF</c:v>
                </c:pt>
                <c:pt idx="3">
                  <c:v>Итог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</c:v>
                </c:pt>
                <c:pt idx="1">
                  <c:v>35</c:v>
                </c:pt>
                <c:pt idx="2">
                  <c:v>58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E8-4D9B-82C6-CAAA8743E3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90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Мы представляем ZAL — сервис, который объединяет аренду спортивного зала, добор игроков и прозрачную оплату. Цель презентации — показать инвестору, почему проект релевантен на pre-seed стадии, какой оффер мы предлагаем и какие milestones достижимы за инвестиции.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том, что люди не хотят играть. Наоборот, рынок массового спорта большой: по данным ЕМИР/Минспорта, 80,4 млн человек систематически занимаются спортом. Но путь одиночного игрока всё ещё устроен вручную: чат, звонок, перевод капитану и риск, что кто-то не придёт. Мы закрываем не просто бронирование зала, а весь сценарий: игра, добор, оплата и правила.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продаём просто бронирование. Наша ценность — собрать игру как сервис: показать слот, людей, цену, дедлайн, оплату и правила на случай недобора. Это именно та логика, которую команда уже описала в MVP и user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Важный момент для инвестора — мы считаем не фантазию, а конкретный слот. Ориентир 6 тысяч рублей за час подтверждается реальными площадками. Платформа забирает 12%, но не вся комиссия остаётся нам: платёжная комиссия, УСН, возвраты и поддержка. Поэтому contribution около 603 рублей. Это честнее, чем считать 1080 рублей чистой прибыли.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Финансовая модель построена снизу вверх: количество проведённых слотов умножается на выручку 1080 рублей с каждого слота. После переменных расходов остаётся около 603 рублей contribution. В базовом сценарии месячная безубыточность достигается на 17-м месяце, а итоговая оценка компании находится в диапазоне 30–60 миллионов рублей.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5 млн рублей на 6 месяцев. Это не просто деньги на содержание команды. Мы продаём инвестору понятный эксперимент: доказать, что сервис может стабильно собирать коммерческие слоты, подключать залы и снижать стоимость привлечения через комьюнити и рефералы. Q&amp;A: 1) Почему 5 млн? — это 6 месяцев runway с продуктом, продажами и GTM. 2) Почему инвестор поверит? — есть MVP, сегмент, модель и ранняя аудитория. 3) Главный риск? — ликвидность слотов. 4) Как снижаете риск? — партнёрские залы и fill rate. 5) Почему не просто чаты? — в чатах нет оплаты, правил, max-цены и гарантии. 6) Почему 12% комиссия? — не ломает цену на игрока и даёт contribution около 603 ₽. 7) Когда прибыль? — base-сценарий выходит в месячный плюс около 17-го месяца. 8) Почему оценка 30–60 млн? — согласование EV/Revenue, VC Method и DCF. 9) Что даст стратегический инвестор? — доступ к залам, платежам и пилотам. 10) Что будет через 6 месяцев? — 25 залов, 600–700 коммерческих слотов в месяц, fill rate ≥60%.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terior_sports_arena_gymnasium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0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u="sng" dirty="0">
              <a:latin typeface="Bell MT" panose="020205030603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4360" y="1828800"/>
            <a:ext cx="6035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ZAL: marketplace для командных игр в спортзалах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" y="3063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ru-RU" b="1" dirty="0">
                <a:solidFill>
                  <a:schemeClr val="bg1"/>
                </a:solidFill>
                <a:latin typeface="Arial Narrow" panose="020B0606020202030204" pitchFamily="34" charset="0"/>
              </a:rPr>
              <a:t>Команда 3</a:t>
            </a:r>
          </a:p>
          <a:p>
            <a:r>
              <a:rPr lang="ru-RU" dirty="0">
                <a:solidFill>
                  <a:schemeClr val="bg1"/>
                </a:solidFill>
                <a:latin typeface="Arial Narrow" panose="020B0606020202030204" pitchFamily="34" charset="0"/>
              </a:rPr>
              <a:t>Пихтовников Лев • Брикульский Арсений • Мальцов-Лукъяненко Антон • Набиев Гафур • Зарипов Ренат</a:t>
            </a:r>
          </a:p>
        </p:txBody>
      </p:sp>
      <p:sp>
        <p:nvSpPr>
          <p:cNvPr id="8" name="Shape 5"/>
          <p:cNvSpPr/>
          <p:nvPr/>
        </p:nvSpPr>
        <p:spPr>
          <a:xfrm>
            <a:off x="612648" y="384048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2F7D32">
              <a:alpha val="92000"/>
            </a:srgbClr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4088" y="390448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pre-seed / ранний рост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331720" y="3840480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2F6FB2">
              <a:alpha val="92000"/>
            </a:srgbClr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23160" y="390448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10 000 пользователей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60520" y="384048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F7D22">
              <a:alpha val="92000"/>
            </a:srgbClr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51960" y="390448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комиссия 12%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2648" y="62636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Приложение для аренды спортивных залов и добора игроков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1/</a:t>
            </a:r>
            <a:r>
              <a:rPr lang="ru-RU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Проблема: игра срывается не из-за спорта, а из-за координации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Одиночке сложно быстро попасть в командную игру, а зал теряет выручку на незаполненных слотах.</a:t>
            </a:r>
            <a:endParaRPr lang="en-US" sz="1050" dirty="0">
              <a:latin typeface="Bell MT" panose="02020503060305020303" pitchFamily="18" charset="0"/>
            </a:endParaRPr>
          </a:p>
        </p:txBody>
      </p:sp>
      <p:pic>
        <p:nvPicPr>
          <p:cNvPr id="4" name="Image 0" descr="/mnt/data/a_wide_indoor_scene_in_a_modern_sports_facility_or_batch_3.png"/>
          <p:cNvPicPr>
            <a:picLocks noChangeAspect="1"/>
          </p:cNvPicPr>
          <p:nvPr/>
        </p:nvPicPr>
        <p:blipFill>
          <a:blip r:embed="rId3"/>
          <a:srcRect l="12028" r="12028"/>
          <a:stretch/>
        </p:blipFill>
        <p:spPr>
          <a:xfrm>
            <a:off x="6537960" y="1097280"/>
            <a:ext cx="512064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097280"/>
            <a:ext cx="5120640" cy="3794760"/>
          </a:xfrm>
          <a:prstGeom prst="rect">
            <a:avLst/>
          </a:prstGeom>
          <a:solidFill>
            <a:srgbClr val="071B30">
              <a:alpha val="3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94360" y="12344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8952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“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24712" y="1463040"/>
            <a:ext cx="46634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«Хочу сыграть сегодня/завтра, но не хочу 40 минут искать чат, спорить по оплате и ждать, соберётся ли состав.»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F7D22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52728" y="299008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Разрозненные чаты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52728" y="326440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нет статуса мест, оплаты и дедлайна добора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7240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2410C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52728" y="381304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Непрозрачная цена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52728" y="408736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при недоборе оставшиеся игроки переплачивают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749040" y="2971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F6FB2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🏟️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24528" y="29900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Простой залов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24528" y="326440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администраторы вручную продают свободные окна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749040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F7D32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24528" y="381304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Потеря времени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24528" y="40873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звонки, личные договорённости и отмены в последний момент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903720" y="5166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80,4 млн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903720" y="5660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занимаются физкультурой и спортом систематически в РФ, 2024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89720" y="51663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59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89720" y="56601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универсальных спортзалов в Москве на FindSport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Источники: ЕМИР/Минспорт — 80,4 млн и 60,3%; FindSport — 59 универсальных залов; репозиторий проекта — боли и JTBD сегмента.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2/6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Решение: один поток вместо чатов, звонков и ручных переводов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Каталог слотов + добор игроков + прозрачная max-цена + оплата и возвраты в одном сценарии.</a:t>
            </a:r>
            <a:endParaRPr lang="en-US" sz="1050" dirty="0">
              <a:latin typeface="Bell MT" panose="02020503060305020303" pitchFamily="18" charset="0"/>
            </a:endParaRPr>
          </a:p>
        </p:txBody>
      </p:sp>
      <p:pic>
        <p:nvPicPr>
          <p:cNvPr id="4" name="Image 0" descr="/mnt/data/a_photorealistic_marketing_style_scene_a_floating_batch_2.png"/>
          <p:cNvPicPr>
            <a:picLocks noChangeAspect="1"/>
          </p:cNvPicPr>
          <p:nvPr/>
        </p:nvPicPr>
        <p:blipFill>
          <a:blip r:embed="rId3"/>
          <a:srcRect l="22114" r="22114"/>
          <a:stretch/>
        </p:blipFill>
        <p:spPr>
          <a:xfrm>
            <a:off x="6583680" y="1051560"/>
            <a:ext cx="502920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051560"/>
            <a:ext cx="5029200" cy="5074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14173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41832" y="1581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Каталог слотов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41832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спорт, район, время, доступные места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566160" y="14173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30752" y="1581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Карточка игры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30752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состав, min игроков, дедлайн, max-цена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7240" y="2834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41832" y="2999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Join + оплата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41832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без overbooking, подтверждение места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66160" y="2834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730752" y="2999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Добор и правила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730752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уведомления, перерасчёт, возврат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91840" y="3703320"/>
            <a:ext cx="411480" cy="347472"/>
          </a:xfrm>
          <a:prstGeom prst="chevron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74920" y="3703320"/>
            <a:ext cx="411480" cy="347472"/>
          </a:xfrm>
          <a:prstGeom prst="chevron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7240" y="42519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Первый успех: за 1–2 минуты найти игру и понять максимум по цене</a:t>
            </a:r>
            <a:endParaRPr lang="en-US" sz="1700" dirty="0">
              <a:latin typeface="Bell MT" panose="0202050306030502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7240" y="4983480"/>
            <a:ext cx="5440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MVP уже спроектирован: core-функции, user stories US-1…US-8, логика оплаты/возвратов и админка для залов.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Основание: week6/Idea_Zal — карта функций MVP и пользовательский сценарий; макет экрана — иллюстрация концепции.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3/6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Бизнес-модель: 12% take-rate с проведённого слота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Экономика считается от GMV бронирований; один слот даёт около 603 ₽ contribution после переменных вычетов.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Юнит-экономика слота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Аренда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23160" y="1920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6 000 ₽/ч × 1,5 ч = 9 000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Выручка сервиса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9 000 × 12% = 1 080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28712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Эквайринг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23160" y="2871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10 080 × 2,8% ≈ −282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33467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УСН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23160" y="3346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1 080 × 6% ≈ −65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382219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Резерв/поддержка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23160" y="3822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−130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120" y="429768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Contribution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23160" y="4297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≈603 ₽/слот</a:t>
            </a:r>
            <a:endParaRPr lang="en-US" sz="950" dirty="0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Дополнительные доходы позже: приоритет в выдаче, премиум-слоты, B2B-аналитика для залов.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20640" y="196596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0352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Игрок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0" y="24871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платит долю</a:t>
            </a:r>
            <a:endParaRPr lang="en-US" sz="750" dirty="0">
              <a:latin typeface="Bell MT" panose="020205030603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03720" y="2286000"/>
            <a:ext cx="320040" cy="320040"/>
          </a:xfrm>
          <a:prstGeom prst="chevron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60920" y="196596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4380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Платформа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43800" y="24871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удерживает 12%</a:t>
            </a:r>
            <a:endParaRPr lang="en-US" sz="750" dirty="0">
              <a:latin typeface="Bell MT" panose="020205030603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0" y="2286000"/>
            <a:ext cx="320040" cy="320040"/>
          </a:xfrm>
          <a:prstGeom prst="chevron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01200" y="196596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8408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Зал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784080" y="24871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получает оплату</a:t>
            </a:r>
            <a:endParaRPr lang="en-US" sz="750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0" y="39776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≈1 060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слотов/мес. нужно для операционного break-even при fixed ≈640 тыс. ₽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12480" y="39776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17-й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1248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месяц: base-сценарий выходит на месячную безубыточность с учётом роста Opex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Источники: СК «ИГРА» — ориентир 6 000 ₽/ч; ЮKassa — эквайринг от 2,8%; ФНС — УСН 6%; остальное — расчёт команды.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4/6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Финансы: сценарии зависят от темпа роста проведённых слотов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Выручка = слоты × 1 080 ₽; contribution ≈603 ₽/слот; break-even в base — 17-й месяц.</a:t>
            </a:r>
            <a:endParaRPr lang="en-US" sz="1050" dirty="0">
              <a:latin typeface="Bell MT" panose="02020503060305020303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603167"/>
              </p:ext>
            </p:extLst>
          </p:nvPr>
        </p:nvGraphicFramePr>
        <p:xfrm>
          <a:off x="594360" y="1097280"/>
          <a:ext cx="9692640" cy="1600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Сценарий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M24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Выручка 24 мес.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Опер. результат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Безубыт.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Консервативный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13,9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−9,2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нет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Базовый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1 910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27,4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−3,2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 мес.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Оптимистичный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1 472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3 918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46,4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+3,6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 мес.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729922175"/>
              </p:ext>
            </p:extLst>
          </p:nvPr>
        </p:nvGraphicFramePr>
        <p:xfrm>
          <a:off x="685800" y="3154680"/>
          <a:ext cx="5166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4028257803"/>
              </p:ext>
            </p:extLst>
          </p:nvPr>
        </p:nvGraphicFramePr>
        <p:xfrm>
          <a:off x="6446520" y="3154680"/>
          <a:ext cx="4754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Основание: финансовая модель практики №24; исправленная выручка optimistic = 46,4 млн ₽; оценка компании — 30–60 млн ₽ по 3 методам.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5/6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Оффер: 5 млн ₽ на 6 месяцев для доказательства масштабируемости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Деньги идут не “на разработку вообще”, а на milestones, которые повышают оценку и снижают риск.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5 млн ₽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Ask: конвертируемый займ / pre-seed; ориентир оценки 30–60 млн ₽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20440" y="1188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8–14%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2044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ориентир доли при раунде 5 млн ₽ и pre-money 30–60 млн ₽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63640" y="1188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 мес.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6364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горизонт инвестиционного эксперимента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Use of funds</a:t>
            </a:r>
            <a:endParaRPr lang="en-US" sz="1500" dirty="0">
              <a:latin typeface="Bell MT" panose="020205030603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2926080" cy="502920"/>
          </a:xfrm>
          <a:prstGeom prst="rect">
            <a:avLst/>
          </a:prstGeom>
          <a:solidFill>
            <a:srgbClr val="2F6FB2"/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49040" y="3246120"/>
            <a:ext cx="1609344" cy="502920"/>
          </a:xfrm>
          <a:prstGeom prst="rect">
            <a:avLst/>
          </a:prstGeom>
          <a:solidFill>
            <a:srgbClr val="2F7D32"/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58384" y="3246120"/>
            <a:ext cx="1316736" cy="502920"/>
          </a:xfrm>
          <a:prstGeom prst="rect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75120" y="3246120"/>
            <a:ext cx="585216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60336" y="3246120"/>
            <a:ext cx="438912" cy="502920"/>
          </a:xfrm>
          <a:prstGeom prst="rect">
            <a:avLst/>
          </a:prstGeom>
          <a:solidFill>
            <a:srgbClr val="123763"/>
          </a:solidFill>
          <a:ln w="12700">
            <a:solidFill>
              <a:srgbClr val="1237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99248" y="3246120"/>
            <a:ext cx="438912" cy="50292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8680" y="3977640"/>
            <a:ext cx="164592" cy="164592"/>
          </a:xfrm>
          <a:prstGeom prst="rect">
            <a:avLst/>
          </a:prstGeom>
          <a:solidFill>
            <a:srgbClr val="2F6FB2"/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5568" y="3959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Продукт/разработка — 2.0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11880" y="3977640"/>
            <a:ext cx="164592" cy="164592"/>
          </a:xfrm>
          <a:prstGeom prst="rect">
            <a:avLst/>
          </a:prstGeom>
          <a:solidFill>
            <a:srgbClr val="2F7D32"/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58768" y="3959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B2B-залы — 1.1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3977640"/>
            <a:ext cx="164592" cy="164592"/>
          </a:xfrm>
          <a:prstGeom prst="rect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01968" y="3959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GTM/комьюнити — 0.9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68680" y="4361688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15568" y="4343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Юр./ПДн/безопасность — 0.4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11880" y="4361688"/>
            <a:ext cx="164592" cy="164592"/>
          </a:xfrm>
          <a:prstGeom prst="rect">
            <a:avLst/>
          </a:prstGeom>
          <a:solidFill>
            <a:srgbClr val="123763"/>
          </a:solidFill>
          <a:ln w="12700">
            <a:solidFill>
              <a:srgbClr val="1237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58768" y="4343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Инфра/API — 0.3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4361688"/>
            <a:ext cx="164592" cy="16459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01968" y="4343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Резерв — 0.3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61120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Milestones на инвестиции</a:t>
            </a:r>
            <a:endParaRPr lang="en-US" sz="1500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0982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25 залов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131552" y="31638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подключены как партнёры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98280" y="3566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600–700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131552" y="35753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коммерческих слотов/мес.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98280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≥60%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131552" y="39867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fill rate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98280" y="4389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&lt;250 ₽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131552" y="43982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стоимость заявки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09828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≥30%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131552" y="48097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повторное участие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098280" y="5212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15–20%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131552" y="52212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новые игроки через рефералы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2960" y="5074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Investment thesis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" y="54223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Растущий массовый спорт + ручная координация игр + доказуемая unit-экономика слота = возможность занять узкую нишу до масштабирования в другие города и сегменты.</a:t>
            </a:r>
            <a:endParaRPr lang="en-US" sz="1060" dirty="0">
              <a:latin typeface="Bell MT" panose="02020503060305020303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Источники и основания: Практика №26; финансовая модель №24; ЕМИР/Минспорт; FindSport; СК «ИГРА»; ЮKassa; ФНС; расчёты команды.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6/6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1274</Words>
  <Application>Microsoft Office PowerPoint</Application>
  <PresentationFormat>Широкоэкранный</PresentationFormat>
  <Paragraphs>150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Arial</vt:lpstr>
      <vt:lpstr>Arial Narrow</vt:lpstr>
      <vt:lpstr>Bell MT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Zal / Sports Hall Booking Startup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Инвестиционный deck: аренда спортивных залов и добор игроков</dc:title>
  <dc:subject>Практическое занятие №26 — инвестиционный оффер и pitch deck</dc:subject>
  <dc:creator>Команда стартапа</dc:creator>
  <cp:lastModifiedBy>Арсений Б.</cp:lastModifiedBy>
  <cp:revision>2</cp:revision>
  <dcterms:created xsi:type="dcterms:W3CDTF">2026-05-05T10:43:25Z</dcterms:created>
  <dcterms:modified xsi:type="dcterms:W3CDTF">2026-05-05T11:32:47Z</dcterms:modified>
</cp:coreProperties>
</file>